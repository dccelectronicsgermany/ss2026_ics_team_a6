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94660"/>
  </p:normalViewPr>
  <p:slideViewPr>
    <p:cSldViewPr snapToGrid="0">
      <p:cViewPr>
        <p:scale>
          <a:sx n="117" d="100"/>
          <a:sy n="117" d="100"/>
        </p:scale>
        <p:origin x="454" y="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Introduce the topic: Ethernet-APL — Advanced Physical Layer Ethernet — and the goal of bringing standard Ethernet directly into hazardous process industries such as chemical and oil &amp; gas plants. Introduce the four authors and Hamm-Lippstadt University of Applied Sciences. One-line hook: for the first time, a single twisted pair can deliver Ethernet speed AND intrinsic safety into explosive zones.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process plants still rely on legacy field communication. 4–20 mA carries only a single value per wire. HART adds digital data but is very slow. PROFIBUS PA is digital but bandwidth-limited. Meanwhile Industry 4.0 demands rich diagnostics, cloud connectivity, predictive maintenance and digital twins — none of which legacy buses can deliver. The bottom strip frames the whole talk: an evolution from analog current loops toward true Ethernet in the field with Ethernet-APL.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audience along six decades of field communication. 1960: the 4–20 mA analog current loop — robust but one value per wire. 1989: HART overlays digital data on that loop, but slowly. 1990s: PROFIBUS PA brings a true digital fieldbus, yet with limited bandwidth. 2022: Ethernet-APL arrives. The key message to land: Ethernet-APL is the first technology that combines full Ethernet speed with intrinsic safety for explosive areas.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anchor slide. Read the architecture top to bottom: business systems in the Cloud, then ERP, then SCADA supervision, down to the Power Switch that feeds the network. The Trunk is the high-power backbone — up to 1000 m at 10 Mbps. From the Field Switch, short Spurs (up to 200 m) reach the actual sensors, valves and transmitters, and these spurs are Zone 0 capable, meaning they can run inside the most hazardous explosive atmospheres. One infrastructure carries both data and power all the way to the field.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Ethernet-APL is defined by the IEEE 802.3cg standard and uses the 10BASE-T1L physical layer. The key ideas: it is Single Pair Ethernet — just one twisted pair instead of four — running at 10 Mbps full-duplex, reaching up to 1000 m, and carrying both power and data on that same pair. So a single cable energises the field device and exchanges Ethernet frames with it. The cross-section image shows that single twisted pair carrying both energy and signal.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plants are classified into hazardous zones by how often an explosive atmosphere exists: Zone 0 is always explosive, Zone 1 sometimes, Zone 2 rarely. Standard office Ethernet simply cannot run there — it carries too much energy, it is not intrinsically safe, and the RJ45 connector is unsuitable for the environment. A single spark could ignite the atmosphere. Ethernet-APL was engineered specifically to solve this: it limits energy on a single pair and is intrinsically safe by design, so it can reach into Zone 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Intrinsic safety is the heart of Ethernet-APL, implemented through 2-WISE — 2-Wire Intrinsically Safe Ethernet — based on the IEC TS 60079-47 specification. The principle is simple but powerful: strictly limit the voltage and current on the wire so the available energy always stays below what is needed to ignite the atmosphere. High energy could create a spark and an explosion; by keeping energy low, operation stays safe even in Zone 0. This is what earns ATEX, IECEx and Zone 0 certification. This concept is exactly what examiners like to probe.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single table communicates roughly half of the paper. Across every dimension Ethernet-APL leads: 10 Mbps versus 1.2 kbps for HART and 31.25 kbps for PROFIBUS PA — that is roughly a thousand-fold jump. It is real Ethernet, where the others are not; it is fully cloud-ready where HART is not and PROFIBUS only partly; and its Industry 4.0 fit is excellent where the legacy buses are poor or medium. If the audience remembers one slide, it should be this one.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Ethernet-APL puts genuine Ethernet at the field device, it directly enables the Industry 4.0 toolbox: high-fidelity Digital Twins fed by live field data; OPC-UA as the common information model from sensor to cloud; richer Asset Management; Predictive Maintenance from continuous diagnostics; Cloud Analytics on plant-wide data; and even AI running at the field device itself. This corresponds to Section VIII of the paper — the move from isolated measurements to a fully connected, intelligent plant.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Ethernet-APL is a foundation, not an endpoint. Four directions to watch: 100BASE-T1L, the next single-pair step at roughly ten times the speed; OPC-UA over TSN, adding deterministic, real-time scheduling on standard Ethernet; the pairing of 5G with Ethernet-APL into hybrid wired-and-wireless plant networks; and Edge AI, pushing intelligence right down to the field device. Together these extend the same single-pair philosophy toward faster, smarter, more autonomous plants.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to close on. First, Ethernet-APL brings standard Ethernet directly into hazardous areas that were previously off-limits to it. Second, it delivers 10 Mbps over up to 1000 m using just one twisted cable pair carrying both power and data. Third, it is a foundation technology for Industry 4.0 and the Industrial IoT — the physical layer that finally connects the field to the cloud safely. Invite questions after this slide.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and Q&amp;A. Likely examiner questions and crisp answers: Q1 Why not Wi-Fi or 5G? Wireless cannot guarantee intrinsic safety, deterministic timing or wired power to field devices, and radio is hard to certify for Zone 0. Q2 Why intrinsic safety? In explosive atmospheres the wiring energy itself must be incapable of igniting gas; 2-WISE caps voltage and current below the ignition threshold. Q3 Difference from standard Ethernet? Single twisted pair at 10 Mbps with power, 1000 m reach, energy-limited and intrinsically safe — not 4-pair RJ45 office Ethernet. Q4 Why is 10 Mbps enough? Process measurements are low-bandwidth; 10 Mbps is orders of magnitude beyond fieldbuses and ample for diagnostics, plus distance and safety matter more than raw speed. Q5 Role of OPC-UA? It is the standard information model and semantic layer carried over Ethernet-APL, giving interoperable field-to-cloud data. Q6 Replace PROFIBUS PA? Technically it is the successor, but migration is gradual; PROFIBUS PA installations will coexist for years before full replacement.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2237209"/>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3.jpg"/><Relationship Id="rId7"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jpg"/><Relationship Id="rId9" Type="http://schemas.openxmlformats.org/officeDocument/2006/relationships/image" Target="../media/image9.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832"/>
        </a:solidFill>
        <a:effectLst/>
      </p:bgPr>
    </p:bg>
    <p:spTree>
      <p:nvGrpSpPr>
        <p:cNvPr id="1" name=""/>
        <p:cNvGrpSpPr/>
        <p:nvPr/>
      </p:nvGrpSpPr>
      <p:grpSpPr>
        <a:xfrm>
          <a:off x="0" y="0"/>
          <a:ext cx="0" cy="0"/>
          <a:chOff x="0" y="0"/>
          <a:chExt cx="0" cy="0"/>
        </a:xfrm>
      </p:grpSpPr>
      <p:pic>
        <p:nvPicPr>
          <p:cNvPr id="2" name="Image 0" descr="/agent/turn1/workspace/images/image-4469c97634286f3efb0f93b748130f9a.jpg"/>
          <p:cNvPicPr>
            <a:picLocks noChangeAspect="1"/>
          </p:cNvPicPr>
          <p:nvPr/>
        </p:nvPicPr>
        <p:blipFill>
          <a:blip r:embed="rId3"/>
          <a:srcRect t="7813" b="7813"/>
          <a:stretch/>
        </p:blipFill>
        <p:spPr>
          <a:xfrm>
            <a:off x="0" y="0"/>
            <a:ext cx="9144000" cy="5143500"/>
          </a:xfrm>
          <a:prstGeom prst="rect">
            <a:avLst/>
          </a:prstGeom>
        </p:spPr>
      </p:pic>
      <p:sp>
        <p:nvSpPr>
          <p:cNvPr id="3" name="Shape 0"/>
          <p:cNvSpPr/>
          <p:nvPr/>
        </p:nvSpPr>
        <p:spPr>
          <a:xfrm>
            <a:off x="-32657" y="-150223"/>
            <a:ext cx="5943600" cy="5143500"/>
          </a:xfrm>
          <a:prstGeom prst="rect">
            <a:avLst/>
          </a:prstGeom>
          <a:solidFill>
            <a:srgbClr val="07122A">
              <a:alpha val="78000"/>
            </a:srgbClr>
          </a:solidFill>
          <a:ln/>
        </p:spPr>
        <p:txBody>
          <a:bodyPr/>
          <a:lstStyle/>
          <a:p>
            <a:endParaRPr lang="en-DE"/>
          </a:p>
        </p:txBody>
      </p:sp>
      <p:sp>
        <p:nvSpPr>
          <p:cNvPr id="4" name="Shape 1"/>
          <p:cNvSpPr/>
          <p:nvPr/>
        </p:nvSpPr>
        <p:spPr>
          <a:xfrm>
            <a:off x="0" y="0"/>
            <a:ext cx="3108960" cy="5143500"/>
          </a:xfrm>
          <a:prstGeom prst="rect">
            <a:avLst/>
          </a:prstGeom>
          <a:solidFill>
            <a:srgbClr val="07122A">
              <a:alpha val="95000"/>
            </a:srgbClr>
          </a:solidFill>
          <a:ln/>
        </p:spPr>
        <p:txBody>
          <a:bodyPr/>
          <a:lstStyle/>
          <a:p>
            <a:endParaRPr lang="en-DE"/>
          </a:p>
        </p:txBody>
      </p:sp>
      <p:sp>
        <p:nvSpPr>
          <p:cNvPr id="5" name="Shape 2"/>
          <p:cNvSpPr/>
          <p:nvPr/>
        </p:nvSpPr>
        <p:spPr>
          <a:xfrm>
            <a:off x="548640" y="566928"/>
            <a:ext cx="2697480" cy="384048"/>
          </a:xfrm>
          <a:prstGeom prst="roundRect">
            <a:avLst>
              <a:gd name="adj" fmla="val 50000"/>
            </a:avLst>
          </a:prstGeom>
          <a:solidFill>
            <a:srgbClr val="22D3EE"/>
          </a:solidFill>
          <a:ln/>
        </p:spPr>
        <p:txBody>
          <a:bodyPr/>
          <a:lstStyle/>
          <a:p>
            <a:endParaRPr lang="en-DE"/>
          </a:p>
        </p:txBody>
      </p:sp>
      <p:sp>
        <p:nvSpPr>
          <p:cNvPr id="6" name="Text 3"/>
          <p:cNvSpPr/>
          <p:nvPr/>
        </p:nvSpPr>
        <p:spPr>
          <a:xfrm>
            <a:off x="548640" y="566928"/>
            <a:ext cx="2697480" cy="384048"/>
          </a:xfrm>
          <a:prstGeom prst="rect">
            <a:avLst/>
          </a:prstGeom>
          <a:noFill/>
          <a:ln/>
        </p:spPr>
        <p:txBody>
          <a:bodyPr wrap="square" rtlCol="0" anchor="ctr"/>
          <a:lstStyle/>
          <a:p>
            <a:pPr marL="0" indent="0" algn="ctr">
              <a:buNone/>
            </a:pPr>
            <a:r>
              <a:rPr lang="en-US" sz="1150" b="1" kern="0" spc="100" dirty="0">
                <a:solidFill>
                  <a:srgbClr val="07122A"/>
                </a:solidFill>
                <a:latin typeface="Trebuchet MS" pitchFamily="34" charset="0"/>
                <a:ea typeface="Trebuchet MS" pitchFamily="34" charset="-122"/>
                <a:cs typeface="Trebuchet MS" pitchFamily="34" charset="-120"/>
              </a:rPr>
              <a:t>IEEE 802.3cg  ·  10BASE-T1L</a:t>
            </a:r>
            <a:endParaRPr lang="en-US" sz="1150" dirty="0"/>
          </a:p>
        </p:txBody>
      </p:sp>
      <p:sp>
        <p:nvSpPr>
          <p:cNvPr id="7" name="Text 4"/>
          <p:cNvSpPr/>
          <p:nvPr/>
        </p:nvSpPr>
        <p:spPr>
          <a:xfrm>
            <a:off x="548640" y="1143000"/>
            <a:ext cx="7863840" cy="1417320"/>
          </a:xfrm>
          <a:prstGeom prst="rect">
            <a:avLst/>
          </a:prstGeom>
          <a:noFill/>
          <a:ln/>
        </p:spPr>
        <p:txBody>
          <a:bodyPr wrap="square" rtlCol="0" anchor="t"/>
          <a:lstStyle/>
          <a:p>
            <a:pPr marL="0" indent="0" algn="l">
              <a:lnSpc>
                <a:spcPct val="100000"/>
              </a:lnSpc>
              <a:buNone/>
            </a:pPr>
            <a:r>
              <a:rPr lang="en-US" sz="3300" b="1" dirty="0">
                <a:solidFill>
                  <a:srgbClr val="EAF4FF"/>
                </a:solidFill>
                <a:latin typeface="Trebuchet MS" pitchFamily="34" charset="0"/>
                <a:ea typeface="Trebuchet MS" pitchFamily="34" charset="-122"/>
                <a:cs typeface="Trebuchet MS" pitchFamily="34" charset="-120"/>
              </a:rPr>
              <a:t>Advanced Physical Layer Ethernet</a:t>
            </a:r>
            <a:endParaRPr lang="en-US" sz="3300" dirty="0"/>
          </a:p>
          <a:p>
            <a:pPr marL="0" indent="0" algn="l">
              <a:lnSpc>
                <a:spcPct val="100000"/>
              </a:lnSpc>
              <a:buNone/>
            </a:pPr>
            <a:r>
              <a:rPr lang="en-US" sz="4000" b="1" dirty="0">
                <a:solidFill>
                  <a:srgbClr val="22D3EE"/>
                </a:solidFill>
                <a:latin typeface="Trebuchet MS" pitchFamily="34" charset="0"/>
                <a:ea typeface="Trebuchet MS" pitchFamily="34" charset="-122"/>
                <a:cs typeface="Trebuchet MS" pitchFamily="34" charset="-120"/>
              </a:rPr>
              <a:t>Ethernet-APL</a:t>
            </a:r>
            <a:endParaRPr lang="en-US" sz="3300" dirty="0"/>
          </a:p>
        </p:txBody>
      </p:sp>
      <p:sp>
        <p:nvSpPr>
          <p:cNvPr id="8" name="Text 5"/>
          <p:cNvSpPr/>
          <p:nvPr/>
        </p:nvSpPr>
        <p:spPr>
          <a:xfrm>
            <a:off x="566928" y="2542032"/>
            <a:ext cx="6949440" cy="457200"/>
          </a:xfrm>
          <a:prstGeom prst="rect">
            <a:avLst/>
          </a:prstGeom>
          <a:noFill/>
          <a:ln/>
        </p:spPr>
        <p:txBody>
          <a:bodyPr wrap="square" rtlCol="0" anchor="ctr"/>
          <a:lstStyle/>
          <a:p>
            <a:pPr marL="0" indent="0" algn="l">
              <a:buNone/>
            </a:pPr>
            <a:r>
              <a:rPr lang="en-US" sz="1600" i="1" dirty="0">
                <a:solidFill>
                  <a:srgbClr val="CFE6FF"/>
                </a:solidFill>
                <a:latin typeface="Calibri" pitchFamily="34" charset="0"/>
                <a:ea typeface="Calibri" pitchFamily="34" charset="-122"/>
                <a:cs typeface="Calibri" pitchFamily="34" charset="-120"/>
              </a:rPr>
              <a:t>Bringing Ethernet into Hazardous Process Industries</a:t>
            </a:r>
            <a:endParaRPr lang="en-US" sz="1600" dirty="0"/>
          </a:p>
        </p:txBody>
      </p:sp>
      <p:sp>
        <p:nvSpPr>
          <p:cNvPr id="9" name="Shape 6"/>
          <p:cNvSpPr/>
          <p:nvPr/>
        </p:nvSpPr>
        <p:spPr>
          <a:xfrm>
            <a:off x="566928" y="3200400"/>
            <a:ext cx="548640" cy="27432"/>
          </a:xfrm>
          <a:prstGeom prst="rect">
            <a:avLst/>
          </a:prstGeom>
          <a:solidFill>
            <a:srgbClr val="22D3EE"/>
          </a:solidFill>
          <a:ln/>
        </p:spPr>
        <p:txBody>
          <a:bodyPr/>
          <a:lstStyle/>
          <a:p>
            <a:endParaRPr lang="en-DE"/>
          </a:p>
        </p:txBody>
      </p:sp>
      <p:sp>
        <p:nvSpPr>
          <p:cNvPr id="10" name="Text 7"/>
          <p:cNvSpPr/>
          <p:nvPr/>
        </p:nvSpPr>
        <p:spPr>
          <a:xfrm>
            <a:off x="566928" y="3346704"/>
            <a:ext cx="4937760" cy="1051560"/>
          </a:xfrm>
          <a:prstGeom prst="rect">
            <a:avLst/>
          </a:prstGeom>
          <a:noFill/>
          <a:ln/>
        </p:spPr>
        <p:txBody>
          <a:bodyPr wrap="square" rtlCol="0" anchor="ctr"/>
          <a:lstStyle/>
          <a:p>
            <a:pPr marL="0" indent="0" algn="l">
              <a:lnSpc>
                <a:spcPct val="105000"/>
              </a:lnSpc>
              <a:buNone/>
            </a:pPr>
            <a:r>
              <a:rPr lang="en-US" sz="1350" dirty="0">
                <a:solidFill>
                  <a:srgbClr val="EAF4FF"/>
                </a:solidFill>
                <a:latin typeface="Calibri" pitchFamily="34" charset="0"/>
                <a:ea typeface="Calibri" pitchFamily="34" charset="-122"/>
                <a:cs typeface="Calibri" pitchFamily="34" charset="-120"/>
              </a:rPr>
              <a:t>Daniel Chidi Chimezie (1230515)</a:t>
            </a:r>
            <a:endParaRPr lang="en-US" sz="1350" dirty="0"/>
          </a:p>
          <a:p>
            <a:pPr marL="0" indent="0" algn="l">
              <a:lnSpc>
                <a:spcPct val="105000"/>
              </a:lnSpc>
              <a:buNone/>
            </a:pPr>
            <a:r>
              <a:rPr lang="en-US" sz="1350" dirty="0">
                <a:solidFill>
                  <a:srgbClr val="EAF4FF"/>
                </a:solidFill>
                <a:latin typeface="Calibri" pitchFamily="34" charset="0"/>
                <a:ea typeface="Calibri" pitchFamily="34" charset="-122"/>
                <a:cs typeface="Calibri" pitchFamily="34" charset="-120"/>
              </a:rPr>
              <a:t>Bertrand </a:t>
            </a:r>
            <a:r>
              <a:rPr lang="en-US" sz="1350" dirty="0" err="1">
                <a:solidFill>
                  <a:srgbClr val="EAF4FF"/>
                </a:solidFill>
                <a:latin typeface="Calibri" pitchFamily="34" charset="0"/>
                <a:ea typeface="Calibri" pitchFamily="34" charset="-122"/>
                <a:cs typeface="Calibri" pitchFamily="34" charset="-120"/>
              </a:rPr>
              <a:t>Mungu</a:t>
            </a:r>
            <a:r>
              <a:rPr lang="en-US" sz="1350" dirty="0">
                <a:solidFill>
                  <a:srgbClr val="EAF4FF"/>
                </a:solidFill>
                <a:latin typeface="Calibri" pitchFamily="34" charset="0"/>
                <a:ea typeface="Calibri" pitchFamily="34" charset="-122"/>
                <a:cs typeface="Calibri" pitchFamily="34" charset="-120"/>
              </a:rPr>
              <a:t> Cho (2220052)</a:t>
            </a:r>
            <a:endParaRPr lang="en-US" sz="1350" dirty="0"/>
          </a:p>
          <a:p>
            <a:pPr marL="0" indent="0" algn="l">
              <a:lnSpc>
                <a:spcPct val="105000"/>
              </a:lnSpc>
              <a:buNone/>
            </a:pPr>
            <a:r>
              <a:rPr lang="en-US" sz="1350" dirty="0">
                <a:solidFill>
                  <a:srgbClr val="EAF4FF"/>
                </a:solidFill>
                <a:latin typeface="Calibri" pitchFamily="34" charset="0"/>
                <a:ea typeface="Calibri" pitchFamily="34" charset="-122"/>
                <a:cs typeface="Calibri" pitchFamily="34" charset="-120"/>
              </a:rPr>
              <a:t>Stephen Uzochi </a:t>
            </a:r>
            <a:r>
              <a:rPr lang="en-US" sz="1350" dirty="0" err="1">
                <a:solidFill>
                  <a:srgbClr val="EAF4FF"/>
                </a:solidFill>
                <a:latin typeface="Calibri" pitchFamily="34" charset="0"/>
                <a:ea typeface="Calibri" pitchFamily="34" charset="-122"/>
                <a:cs typeface="Calibri" pitchFamily="34" charset="-120"/>
              </a:rPr>
              <a:t>Obuh</a:t>
            </a:r>
            <a:r>
              <a:rPr lang="en-US" sz="1350" dirty="0">
                <a:solidFill>
                  <a:srgbClr val="EAF4FF"/>
                </a:solidFill>
                <a:latin typeface="Calibri" pitchFamily="34" charset="0"/>
                <a:ea typeface="Calibri" pitchFamily="34" charset="-122"/>
                <a:cs typeface="Calibri" pitchFamily="34" charset="-120"/>
              </a:rPr>
              <a:t> (2210044)</a:t>
            </a:r>
            <a:endParaRPr lang="en-US" sz="1350" dirty="0"/>
          </a:p>
          <a:p>
            <a:pPr marL="0" indent="0" algn="l">
              <a:lnSpc>
                <a:spcPct val="105000"/>
              </a:lnSpc>
              <a:buNone/>
            </a:pPr>
            <a:r>
              <a:rPr lang="en-US" sz="1350" dirty="0">
                <a:solidFill>
                  <a:srgbClr val="EAF4FF"/>
                </a:solidFill>
                <a:latin typeface="Calibri" pitchFamily="34" charset="0"/>
                <a:ea typeface="Calibri" pitchFamily="34" charset="-122"/>
                <a:cs typeface="Calibri" pitchFamily="34" charset="-120"/>
              </a:rPr>
              <a:t>Riwaj Ghimire (1232171)</a:t>
            </a:r>
            <a:endParaRPr lang="en-US" sz="1350" dirty="0"/>
          </a:p>
        </p:txBody>
      </p:sp>
      <p:sp>
        <p:nvSpPr>
          <p:cNvPr id="11" name="Text 8"/>
          <p:cNvSpPr/>
          <p:nvPr/>
        </p:nvSpPr>
        <p:spPr>
          <a:xfrm>
            <a:off x="566928" y="4526280"/>
            <a:ext cx="5943600" cy="365760"/>
          </a:xfrm>
          <a:prstGeom prst="rect">
            <a:avLst/>
          </a:prstGeom>
          <a:noFill/>
          <a:ln/>
        </p:spPr>
        <p:txBody>
          <a:bodyPr wrap="square" rtlCol="0" anchor="ctr"/>
          <a:lstStyle/>
          <a:p>
            <a:pPr marL="0" indent="0" algn="l">
              <a:buNone/>
            </a:pPr>
            <a:r>
              <a:rPr lang="en-US" sz="1250" b="1" dirty="0">
                <a:solidFill>
                  <a:srgbClr val="22D3EE"/>
                </a:solidFill>
                <a:latin typeface="Trebuchet MS" pitchFamily="34" charset="0"/>
                <a:ea typeface="Trebuchet MS" pitchFamily="34" charset="-122"/>
                <a:cs typeface="Trebuchet MS" pitchFamily="34" charset="-120"/>
              </a:rPr>
              <a:t>Hamm-Lippstadt University of Applied Sciences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832"/>
        </a:solidFill>
        <a:effectLst/>
      </p:bgPr>
    </p:bg>
    <p:spTree>
      <p:nvGrpSpPr>
        <p:cNvPr id="1" name=""/>
        <p:cNvGrpSpPr/>
        <p:nvPr/>
      </p:nvGrpSpPr>
      <p:grpSpPr>
        <a:xfrm>
          <a:off x="0" y="0"/>
          <a:ext cx="0" cy="0"/>
          <a:chOff x="0" y="0"/>
          <a:chExt cx="0" cy="0"/>
        </a:xfrm>
      </p:grpSpPr>
      <p:sp>
        <p:nvSpPr>
          <p:cNvPr id="2" name="Shape 0"/>
          <p:cNvSpPr/>
          <p:nvPr/>
        </p:nvSpPr>
        <p:spPr>
          <a:xfrm>
            <a:off x="502920" y="384048"/>
            <a:ext cx="146304" cy="457200"/>
          </a:xfrm>
          <a:prstGeom prst="rect">
            <a:avLst/>
          </a:prstGeom>
          <a:solidFill>
            <a:srgbClr val="22D3EE"/>
          </a:solidFill>
          <a:ln/>
        </p:spPr>
        <p:txBody>
          <a:bodyPr/>
          <a:lstStyle/>
          <a:p>
            <a:endParaRPr lang="en-DE"/>
          </a:p>
        </p:txBody>
      </p:sp>
      <p:sp>
        <p:nvSpPr>
          <p:cNvPr id="3" name="Text 1"/>
          <p:cNvSpPr/>
          <p:nvPr/>
        </p:nvSpPr>
        <p:spPr>
          <a:xfrm>
            <a:off x="777240" y="310896"/>
            <a:ext cx="7863840" cy="640080"/>
          </a:xfrm>
          <a:prstGeom prst="rect">
            <a:avLst/>
          </a:prstGeom>
          <a:noFill/>
          <a:ln/>
        </p:spPr>
        <p:txBody>
          <a:bodyPr wrap="square" lIns="0" tIns="0" rIns="0" bIns="0" rtlCol="0" anchor="ctr"/>
          <a:lstStyle/>
          <a:p>
            <a:pPr marL="0" indent="0" algn="l">
              <a:buNone/>
            </a:pPr>
            <a:r>
              <a:rPr lang="en-US" sz="2700" b="1" dirty="0">
                <a:solidFill>
                  <a:srgbClr val="EAF4FF"/>
                </a:solidFill>
                <a:latin typeface="Trebuchet MS" pitchFamily="34" charset="0"/>
                <a:ea typeface="Trebuchet MS" pitchFamily="34" charset="-122"/>
                <a:cs typeface="Trebuchet MS" pitchFamily="34" charset="-120"/>
              </a:rPr>
              <a:t>Why Do We Need Ethernet-APL?</a:t>
            </a:r>
            <a:endParaRPr lang="en-US" sz="2700" dirty="0"/>
          </a:p>
        </p:txBody>
      </p:sp>
      <p:sp>
        <p:nvSpPr>
          <p:cNvPr id="4" name="Text 2"/>
          <p:cNvSpPr/>
          <p:nvPr/>
        </p:nvSpPr>
        <p:spPr>
          <a:xfrm>
            <a:off x="8321040" y="384048"/>
            <a:ext cx="548640" cy="457200"/>
          </a:xfrm>
          <a:prstGeom prst="rect">
            <a:avLst/>
          </a:prstGeom>
          <a:noFill/>
          <a:ln/>
        </p:spPr>
        <p:txBody>
          <a:bodyPr wrap="square" rtlCol="0" anchor="ctr"/>
          <a:lstStyle/>
          <a:p>
            <a:pPr marL="0" indent="0" algn="r">
              <a:buNone/>
            </a:pPr>
            <a:r>
              <a:rPr lang="en-US" sz="1200" b="1" dirty="0">
                <a:solidFill>
                  <a:srgbClr val="22D3EE"/>
                </a:solidFill>
                <a:latin typeface="Trebuchet MS" pitchFamily="34" charset="0"/>
                <a:ea typeface="Trebuchet MS" pitchFamily="34" charset="-122"/>
                <a:cs typeface="Trebuchet MS" pitchFamily="34" charset="-120"/>
              </a:rPr>
              <a:t>02</a:t>
            </a:r>
            <a:endParaRPr lang="en-US" sz="1200" dirty="0"/>
          </a:p>
        </p:txBody>
      </p:sp>
      <p:sp>
        <p:nvSpPr>
          <p:cNvPr id="5" name="Text 3"/>
          <p:cNvSpPr/>
          <p:nvPr/>
        </p:nvSpPr>
        <p:spPr>
          <a:xfrm>
            <a:off x="502920" y="1078992"/>
            <a:ext cx="4206240" cy="320040"/>
          </a:xfrm>
          <a:prstGeom prst="rect">
            <a:avLst/>
          </a:prstGeom>
          <a:noFill/>
          <a:ln/>
        </p:spPr>
        <p:txBody>
          <a:bodyPr wrap="square" rtlCol="0" anchor="ctr"/>
          <a:lstStyle/>
          <a:p>
            <a:pPr marL="0" indent="0">
              <a:buNone/>
            </a:pPr>
            <a:r>
              <a:rPr lang="en-US" sz="1300" b="1" kern="0" spc="100" dirty="0">
                <a:solidFill>
                  <a:srgbClr val="22D3EE"/>
                </a:solidFill>
                <a:latin typeface="Trebuchet MS" pitchFamily="34" charset="0"/>
                <a:ea typeface="Trebuchet MS" pitchFamily="34" charset="-122"/>
                <a:cs typeface="Trebuchet MS" pitchFamily="34" charset="-120"/>
              </a:rPr>
              <a:t>THE PROBLEM — legacy field communication</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444752"/>
          <a:ext cx="4160520" cy="2112264"/>
        </p:xfrm>
        <a:graphic>
          <a:graphicData uri="http://schemas.openxmlformats.org/drawingml/2006/table">
            <a:tbl>
              <a:tblPr/>
              <a:tblGrid>
                <a:gridCol w="17830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tblGrid>
              <a:tr h="411480">
                <a:tc>
                  <a:txBody>
                    <a:bodyPr/>
                    <a:lstStyle/>
                    <a:p>
                      <a:pPr marL="0" indent="0" algn="l">
                        <a:buNone/>
                      </a:pPr>
                      <a:r>
                        <a:rPr lang="en-US" sz="1350" b="1" dirty="0">
                          <a:solidFill>
                            <a:srgbClr val="07122A"/>
                          </a:solidFill>
                          <a:latin typeface="Trebuchet MS" pitchFamily="34" charset="0"/>
                          <a:ea typeface="Trebuchet MS" pitchFamily="34" charset="-122"/>
                          <a:cs typeface="Trebuchet MS" pitchFamily="34" charset="-120"/>
                        </a:rPr>
                        <a:t>Technology</a:t>
                      </a:r>
                      <a:endParaRPr lang="en-US" sz="1350" dirty="0">
                        <a:latin typeface="Trebuchet MS" charset="0"/>
                        <a:ea typeface="Trebuchet MS" charset="0"/>
                        <a:cs typeface="Trebuchet MS" charset="0"/>
                      </a:endParaRPr>
                    </a:p>
                  </a:txBody>
                  <a:tcPr anchor="ctr">
                    <a:lnL w="12700" cap="flat" cmpd="sng" algn="ctr">
                      <a:solidFill>
                        <a:srgbClr val="0A1832"/>
                      </a:solidFill>
                      <a:prstDash val="solid"/>
                      <a:round/>
                      <a:headEnd type="none" w="med" len="med"/>
                      <a:tailEnd type="none" w="med" len="med"/>
                    </a:lnL>
                    <a:lnR w="12700" cap="flat" cmpd="sng" algn="ctr">
                      <a:solidFill>
                        <a:srgbClr val="0A1832"/>
                      </a:solidFill>
                      <a:prstDash val="solid"/>
                      <a:round/>
                      <a:headEnd type="none" w="med" len="med"/>
                      <a:tailEnd type="none" w="med" len="med"/>
                    </a:lnR>
                    <a:lnT w="12700" cap="flat" cmpd="sng" algn="ctr">
                      <a:solidFill>
                        <a:srgbClr val="0A1832"/>
                      </a:solidFill>
                      <a:prstDash val="solid"/>
                      <a:round/>
                      <a:headEnd type="none" w="med" len="med"/>
                      <a:tailEnd type="none" w="med" len="med"/>
                    </a:lnT>
                    <a:lnB w="12700" cap="flat" cmpd="sng" algn="ctr">
                      <a:solidFill>
                        <a:srgbClr val="0A1832"/>
                      </a:solidFill>
                      <a:prstDash val="solid"/>
                      <a:round/>
                      <a:headEnd type="none" w="med" len="med"/>
                      <a:tailEnd type="none" w="med" len="med"/>
                    </a:lnB>
                    <a:solidFill>
                      <a:srgbClr val="22D3EE"/>
                    </a:solidFill>
                  </a:tcPr>
                </a:tc>
                <a:tc>
                  <a:txBody>
                    <a:bodyPr/>
                    <a:lstStyle/>
                    <a:p>
                      <a:pPr marL="0" indent="0" algn="l">
                        <a:buNone/>
                      </a:pPr>
                      <a:r>
                        <a:rPr lang="en-US" sz="1350" b="1" dirty="0">
                          <a:solidFill>
                            <a:srgbClr val="07122A"/>
                          </a:solidFill>
                          <a:latin typeface="Trebuchet MS" pitchFamily="34" charset="0"/>
                          <a:ea typeface="Trebuchet MS" pitchFamily="34" charset="-122"/>
                          <a:cs typeface="Trebuchet MS" pitchFamily="34" charset="-120"/>
                        </a:rPr>
                        <a:t>Limitation</a:t>
                      </a:r>
                      <a:endParaRPr lang="en-US" sz="1350" dirty="0">
                        <a:latin typeface="Trebuchet MS" charset="0"/>
                        <a:ea typeface="Trebuchet MS" charset="0"/>
                        <a:cs typeface="Trebuchet MS" charset="0"/>
                      </a:endParaRPr>
                    </a:p>
                  </a:txBody>
                  <a:tcPr anchor="ctr">
                    <a:lnL w="12700" cap="flat" cmpd="sng" algn="ctr">
                      <a:solidFill>
                        <a:srgbClr val="0A1832"/>
                      </a:solidFill>
                      <a:prstDash val="solid"/>
                      <a:round/>
                      <a:headEnd type="none" w="med" len="med"/>
                      <a:tailEnd type="none" w="med" len="med"/>
                    </a:lnL>
                    <a:lnR w="12700" cap="flat" cmpd="sng" algn="ctr">
                      <a:solidFill>
                        <a:srgbClr val="0A1832"/>
                      </a:solidFill>
                      <a:prstDash val="solid"/>
                      <a:round/>
                      <a:headEnd type="none" w="med" len="med"/>
                      <a:tailEnd type="none" w="med" len="med"/>
                    </a:lnR>
                    <a:lnT w="12700" cap="flat" cmpd="sng" algn="ctr">
                      <a:solidFill>
                        <a:srgbClr val="0A1832"/>
                      </a:solidFill>
                      <a:prstDash val="solid"/>
                      <a:round/>
                      <a:headEnd type="none" w="med" len="med"/>
                      <a:tailEnd type="none" w="med" len="med"/>
                    </a:lnT>
                    <a:lnB w="12700" cap="flat" cmpd="sng" algn="ctr">
                      <a:solidFill>
                        <a:srgbClr val="0A1832"/>
                      </a:solidFill>
                      <a:prstDash val="solid"/>
                      <a:round/>
                      <a:headEnd type="none" w="med" len="med"/>
                      <a:tailEnd type="none" w="med" len="med"/>
                    </a:lnB>
                    <a:solidFill>
                      <a:srgbClr val="22D3EE"/>
                    </a:solidFill>
                  </a:tcPr>
                </a:tc>
                <a:extLst>
                  <a:ext uri="{0D108BD9-81ED-4DB2-BD59-A6C34878D82A}">
                    <a16:rowId xmlns:a16="http://schemas.microsoft.com/office/drawing/2014/main" val="10000"/>
                  </a:ext>
                </a:extLst>
              </a:tr>
              <a:tr h="566928">
                <a:tc>
                  <a:txBody>
                    <a:bodyPr/>
                    <a:lstStyle/>
                    <a:p>
                      <a:pPr marL="0" indent="0">
                        <a:buNone/>
                      </a:pPr>
                      <a:r>
                        <a:rPr lang="en-US" sz="1350" b="1" dirty="0">
                          <a:solidFill>
                            <a:srgbClr val="EAF4FF"/>
                          </a:solidFill>
                          <a:latin typeface="Calibri" pitchFamily="34" charset="0"/>
                          <a:ea typeface="Calibri" pitchFamily="34" charset="-122"/>
                          <a:cs typeface="Calibri" pitchFamily="34" charset="-120"/>
                        </a:rPr>
                        <a:t>4–20 mA</a:t>
                      </a:r>
                      <a:endParaRPr lang="en-US" sz="1350" dirty="0">
                        <a:latin typeface="Calibri" charset="0"/>
                        <a:ea typeface="Calibri" charset="0"/>
                        <a:cs typeface="Calibri" charset="0"/>
                      </a:endParaRPr>
                    </a:p>
                  </a:txBody>
                  <a:tcPr anchor="ctr">
                    <a:lnL w="12700" cap="flat" cmpd="sng" algn="ctr">
                      <a:solidFill>
                        <a:srgbClr val="0A1832"/>
                      </a:solidFill>
                      <a:prstDash val="solid"/>
                      <a:round/>
                      <a:headEnd type="none" w="med" len="med"/>
                      <a:tailEnd type="none" w="med" len="med"/>
                    </a:lnL>
                    <a:lnR w="12700" cap="flat" cmpd="sng" algn="ctr">
                      <a:solidFill>
                        <a:srgbClr val="0A1832"/>
                      </a:solidFill>
                      <a:prstDash val="solid"/>
                      <a:round/>
                      <a:headEnd type="none" w="med" len="med"/>
                      <a:tailEnd type="none" w="med" len="med"/>
                    </a:lnR>
                    <a:lnT w="12700" cap="flat" cmpd="sng" algn="ctr">
                      <a:solidFill>
                        <a:srgbClr val="0A1832"/>
                      </a:solidFill>
                      <a:prstDash val="solid"/>
                      <a:round/>
                      <a:headEnd type="none" w="med" len="med"/>
                      <a:tailEnd type="none" w="med" len="med"/>
                    </a:lnT>
                    <a:lnB w="12700" cap="flat" cmpd="sng" algn="ctr">
                      <a:solidFill>
                        <a:srgbClr val="0A1832"/>
                      </a:solidFill>
                      <a:prstDash val="solid"/>
                      <a:round/>
                      <a:headEnd type="none" w="med" len="med"/>
                      <a:tailEnd type="none" w="med" len="med"/>
                    </a:lnB>
                    <a:solidFill>
                      <a:srgbClr val="13294F"/>
                    </a:solidFill>
                  </a:tcPr>
                </a:tc>
                <a:tc>
                  <a:txBody>
                    <a:bodyPr/>
                    <a:lstStyle/>
                    <a:p>
                      <a:pPr marL="0" indent="0">
                        <a:buNone/>
                      </a:pPr>
                      <a:r>
                        <a:rPr lang="en-US" sz="1350" dirty="0">
                          <a:solidFill>
                            <a:srgbClr val="9FB6D6"/>
                          </a:solidFill>
                          <a:latin typeface="Calibri" pitchFamily="34" charset="0"/>
                          <a:ea typeface="Calibri" pitchFamily="34" charset="-122"/>
                          <a:cs typeface="Calibri" pitchFamily="34" charset="-120"/>
                        </a:rPr>
                        <a:t>One value only</a:t>
                      </a:r>
                      <a:endParaRPr lang="en-US" sz="1350" dirty="0">
                        <a:latin typeface="Calibri" charset="0"/>
                        <a:ea typeface="Calibri" charset="0"/>
                        <a:cs typeface="Calibri" charset="0"/>
                      </a:endParaRPr>
                    </a:p>
                  </a:txBody>
                  <a:tcPr anchor="ctr">
                    <a:lnL w="12700" cap="flat" cmpd="sng" algn="ctr">
                      <a:solidFill>
                        <a:srgbClr val="0A1832"/>
                      </a:solidFill>
                      <a:prstDash val="solid"/>
                      <a:round/>
                      <a:headEnd type="none" w="med" len="med"/>
                      <a:tailEnd type="none" w="med" len="med"/>
                    </a:lnL>
                    <a:lnR w="12700" cap="flat" cmpd="sng" algn="ctr">
                      <a:solidFill>
                        <a:srgbClr val="0A1832"/>
                      </a:solidFill>
                      <a:prstDash val="solid"/>
                      <a:round/>
                      <a:headEnd type="none" w="med" len="med"/>
                      <a:tailEnd type="none" w="med" len="med"/>
                    </a:lnR>
                    <a:lnT w="12700" cap="flat" cmpd="sng" algn="ctr">
                      <a:solidFill>
                        <a:srgbClr val="0A1832"/>
                      </a:solidFill>
                      <a:prstDash val="solid"/>
                      <a:round/>
                      <a:headEnd type="none" w="med" len="med"/>
                      <a:tailEnd type="none" w="med" len="med"/>
                    </a:lnT>
                    <a:lnB w="12700" cap="flat" cmpd="sng" algn="ctr">
                      <a:solidFill>
                        <a:srgbClr val="0A1832"/>
                      </a:solidFill>
                      <a:prstDash val="solid"/>
                      <a:round/>
                      <a:headEnd type="none" w="med" len="med"/>
                      <a:tailEnd type="none" w="med" len="med"/>
                    </a:lnB>
                    <a:solidFill>
                      <a:srgbClr val="13294F"/>
                    </a:solidFill>
                  </a:tcPr>
                </a:tc>
                <a:extLst>
                  <a:ext uri="{0D108BD9-81ED-4DB2-BD59-A6C34878D82A}">
                    <a16:rowId xmlns:a16="http://schemas.microsoft.com/office/drawing/2014/main" val="10001"/>
                  </a:ext>
                </a:extLst>
              </a:tr>
              <a:tr h="566928">
                <a:tc>
                  <a:txBody>
                    <a:bodyPr/>
                    <a:lstStyle/>
                    <a:p>
                      <a:pPr marL="0" indent="0">
                        <a:buNone/>
                      </a:pPr>
                      <a:r>
                        <a:rPr lang="en-US" sz="1350" b="1" dirty="0">
                          <a:solidFill>
                            <a:srgbClr val="EAF4FF"/>
                          </a:solidFill>
                          <a:latin typeface="Calibri" pitchFamily="34" charset="0"/>
                          <a:ea typeface="Calibri" pitchFamily="34" charset="-122"/>
                          <a:cs typeface="Calibri" pitchFamily="34" charset="-120"/>
                        </a:rPr>
                        <a:t>HART</a:t>
                      </a:r>
                      <a:endParaRPr lang="en-US" sz="1350" dirty="0">
                        <a:latin typeface="Calibri" charset="0"/>
                        <a:ea typeface="Calibri" charset="0"/>
                        <a:cs typeface="Calibri" charset="0"/>
                      </a:endParaRPr>
                    </a:p>
                  </a:txBody>
                  <a:tcPr anchor="ctr">
                    <a:lnL w="12700" cap="flat" cmpd="sng" algn="ctr">
                      <a:solidFill>
                        <a:srgbClr val="0A1832"/>
                      </a:solidFill>
                      <a:prstDash val="solid"/>
                      <a:round/>
                      <a:headEnd type="none" w="med" len="med"/>
                      <a:tailEnd type="none" w="med" len="med"/>
                    </a:lnL>
                    <a:lnR w="12700" cap="flat" cmpd="sng" algn="ctr">
                      <a:solidFill>
                        <a:srgbClr val="0A1832"/>
                      </a:solidFill>
                      <a:prstDash val="solid"/>
                      <a:round/>
                      <a:headEnd type="none" w="med" len="med"/>
                      <a:tailEnd type="none" w="med" len="med"/>
                    </a:lnR>
                    <a:lnT w="12700" cap="flat" cmpd="sng" algn="ctr">
                      <a:solidFill>
                        <a:srgbClr val="0A1832"/>
                      </a:solidFill>
                      <a:prstDash val="solid"/>
                      <a:round/>
                      <a:headEnd type="none" w="med" len="med"/>
                      <a:tailEnd type="none" w="med" len="med"/>
                    </a:lnT>
                    <a:lnB w="12700" cap="flat" cmpd="sng" algn="ctr">
                      <a:solidFill>
                        <a:srgbClr val="0A1832"/>
                      </a:solidFill>
                      <a:prstDash val="solid"/>
                      <a:round/>
                      <a:headEnd type="none" w="med" len="med"/>
                      <a:tailEnd type="none" w="med" len="med"/>
                    </a:lnB>
                    <a:solidFill>
                      <a:srgbClr val="13294F"/>
                    </a:solidFill>
                  </a:tcPr>
                </a:tc>
                <a:tc>
                  <a:txBody>
                    <a:bodyPr/>
                    <a:lstStyle/>
                    <a:p>
                      <a:pPr marL="0" indent="0">
                        <a:buNone/>
                      </a:pPr>
                      <a:r>
                        <a:rPr lang="en-US" sz="1350" dirty="0">
                          <a:solidFill>
                            <a:srgbClr val="9FB6D6"/>
                          </a:solidFill>
                          <a:latin typeface="Calibri" pitchFamily="34" charset="0"/>
                          <a:ea typeface="Calibri" pitchFamily="34" charset="-122"/>
                          <a:cs typeface="Calibri" pitchFamily="34" charset="-120"/>
                        </a:rPr>
                        <a:t>Very slow</a:t>
                      </a:r>
                      <a:endParaRPr lang="en-US" sz="1350" dirty="0">
                        <a:latin typeface="Calibri" charset="0"/>
                        <a:ea typeface="Calibri" charset="0"/>
                        <a:cs typeface="Calibri" charset="0"/>
                      </a:endParaRPr>
                    </a:p>
                  </a:txBody>
                  <a:tcPr anchor="ctr">
                    <a:lnL w="12700" cap="flat" cmpd="sng" algn="ctr">
                      <a:solidFill>
                        <a:srgbClr val="0A1832"/>
                      </a:solidFill>
                      <a:prstDash val="solid"/>
                      <a:round/>
                      <a:headEnd type="none" w="med" len="med"/>
                      <a:tailEnd type="none" w="med" len="med"/>
                    </a:lnL>
                    <a:lnR w="12700" cap="flat" cmpd="sng" algn="ctr">
                      <a:solidFill>
                        <a:srgbClr val="0A1832"/>
                      </a:solidFill>
                      <a:prstDash val="solid"/>
                      <a:round/>
                      <a:headEnd type="none" w="med" len="med"/>
                      <a:tailEnd type="none" w="med" len="med"/>
                    </a:lnR>
                    <a:lnT w="12700" cap="flat" cmpd="sng" algn="ctr">
                      <a:solidFill>
                        <a:srgbClr val="0A1832"/>
                      </a:solidFill>
                      <a:prstDash val="solid"/>
                      <a:round/>
                      <a:headEnd type="none" w="med" len="med"/>
                      <a:tailEnd type="none" w="med" len="med"/>
                    </a:lnT>
                    <a:lnB w="12700" cap="flat" cmpd="sng" algn="ctr">
                      <a:solidFill>
                        <a:srgbClr val="0A1832"/>
                      </a:solidFill>
                      <a:prstDash val="solid"/>
                      <a:round/>
                      <a:headEnd type="none" w="med" len="med"/>
                      <a:tailEnd type="none" w="med" len="med"/>
                    </a:lnB>
                    <a:solidFill>
                      <a:srgbClr val="13294F"/>
                    </a:solidFill>
                  </a:tcPr>
                </a:tc>
                <a:extLst>
                  <a:ext uri="{0D108BD9-81ED-4DB2-BD59-A6C34878D82A}">
                    <a16:rowId xmlns:a16="http://schemas.microsoft.com/office/drawing/2014/main" val="10002"/>
                  </a:ext>
                </a:extLst>
              </a:tr>
              <a:tr h="566928">
                <a:tc>
                  <a:txBody>
                    <a:bodyPr/>
                    <a:lstStyle/>
                    <a:p>
                      <a:pPr marL="0" indent="0">
                        <a:buNone/>
                      </a:pPr>
                      <a:r>
                        <a:rPr lang="en-US" sz="1350" b="1" dirty="0">
                          <a:solidFill>
                            <a:srgbClr val="EAF4FF"/>
                          </a:solidFill>
                          <a:latin typeface="Calibri" pitchFamily="34" charset="0"/>
                          <a:ea typeface="Calibri" pitchFamily="34" charset="-122"/>
                          <a:cs typeface="Calibri" pitchFamily="34" charset="-120"/>
                        </a:rPr>
                        <a:t>PROFIBUS PA</a:t>
                      </a:r>
                      <a:endParaRPr lang="en-US" sz="1350" dirty="0">
                        <a:latin typeface="Calibri" charset="0"/>
                        <a:ea typeface="Calibri" charset="0"/>
                        <a:cs typeface="Calibri" charset="0"/>
                      </a:endParaRPr>
                    </a:p>
                  </a:txBody>
                  <a:tcPr anchor="ctr">
                    <a:lnL w="12700" cap="flat" cmpd="sng" algn="ctr">
                      <a:solidFill>
                        <a:srgbClr val="0A1832"/>
                      </a:solidFill>
                      <a:prstDash val="solid"/>
                      <a:round/>
                      <a:headEnd type="none" w="med" len="med"/>
                      <a:tailEnd type="none" w="med" len="med"/>
                    </a:lnL>
                    <a:lnR w="12700" cap="flat" cmpd="sng" algn="ctr">
                      <a:solidFill>
                        <a:srgbClr val="0A1832"/>
                      </a:solidFill>
                      <a:prstDash val="solid"/>
                      <a:round/>
                      <a:headEnd type="none" w="med" len="med"/>
                      <a:tailEnd type="none" w="med" len="med"/>
                    </a:lnR>
                    <a:lnT w="12700" cap="flat" cmpd="sng" algn="ctr">
                      <a:solidFill>
                        <a:srgbClr val="0A1832"/>
                      </a:solidFill>
                      <a:prstDash val="solid"/>
                      <a:round/>
                      <a:headEnd type="none" w="med" len="med"/>
                      <a:tailEnd type="none" w="med" len="med"/>
                    </a:lnT>
                    <a:lnB w="12700" cap="flat" cmpd="sng" algn="ctr">
                      <a:solidFill>
                        <a:srgbClr val="0A1832"/>
                      </a:solidFill>
                      <a:prstDash val="solid"/>
                      <a:round/>
                      <a:headEnd type="none" w="med" len="med"/>
                      <a:tailEnd type="none" w="med" len="med"/>
                    </a:lnB>
                    <a:solidFill>
                      <a:srgbClr val="13294F"/>
                    </a:solidFill>
                  </a:tcPr>
                </a:tc>
                <a:tc>
                  <a:txBody>
                    <a:bodyPr/>
                    <a:lstStyle/>
                    <a:p>
                      <a:pPr marL="0" indent="0">
                        <a:buNone/>
                      </a:pPr>
                      <a:r>
                        <a:rPr lang="en-US" sz="1350" dirty="0">
                          <a:solidFill>
                            <a:srgbClr val="9FB6D6"/>
                          </a:solidFill>
                          <a:latin typeface="Calibri" pitchFamily="34" charset="0"/>
                          <a:ea typeface="Calibri" pitchFamily="34" charset="-122"/>
                          <a:cs typeface="Calibri" pitchFamily="34" charset="-120"/>
                        </a:rPr>
                        <a:t>Limited bandwidth</a:t>
                      </a:r>
                      <a:endParaRPr lang="en-US" sz="1350" dirty="0">
                        <a:latin typeface="Calibri" charset="0"/>
                        <a:ea typeface="Calibri" charset="0"/>
                        <a:cs typeface="Calibri" charset="0"/>
                      </a:endParaRPr>
                    </a:p>
                  </a:txBody>
                  <a:tcPr anchor="ctr">
                    <a:lnL w="12700" cap="flat" cmpd="sng" algn="ctr">
                      <a:solidFill>
                        <a:srgbClr val="0A1832"/>
                      </a:solidFill>
                      <a:prstDash val="solid"/>
                      <a:round/>
                      <a:headEnd type="none" w="med" len="med"/>
                      <a:tailEnd type="none" w="med" len="med"/>
                    </a:lnL>
                    <a:lnR w="12700" cap="flat" cmpd="sng" algn="ctr">
                      <a:solidFill>
                        <a:srgbClr val="0A1832"/>
                      </a:solidFill>
                      <a:prstDash val="solid"/>
                      <a:round/>
                      <a:headEnd type="none" w="med" len="med"/>
                      <a:tailEnd type="none" w="med" len="med"/>
                    </a:lnR>
                    <a:lnT w="12700" cap="flat" cmpd="sng" algn="ctr">
                      <a:solidFill>
                        <a:srgbClr val="0A1832"/>
                      </a:solidFill>
                      <a:prstDash val="solid"/>
                      <a:round/>
                      <a:headEnd type="none" w="med" len="med"/>
                      <a:tailEnd type="none" w="med" len="med"/>
                    </a:lnT>
                    <a:lnB w="12700" cap="flat" cmpd="sng" algn="ctr">
                      <a:solidFill>
                        <a:srgbClr val="0A1832"/>
                      </a:solidFill>
                      <a:prstDash val="solid"/>
                      <a:round/>
                      <a:headEnd type="none" w="med" len="med"/>
                      <a:tailEnd type="none" w="med" len="med"/>
                    </a:lnB>
                    <a:solidFill>
                      <a:srgbClr val="13294F"/>
                    </a:solidFill>
                  </a:tcPr>
                </a:tc>
                <a:extLst>
                  <a:ext uri="{0D108BD9-81ED-4DB2-BD59-A6C34878D82A}">
                    <a16:rowId xmlns:a16="http://schemas.microsoft.com/office/drawing/2014/main" val="10003"/>
                  </a:ext>
                </a:extLst>
              </a:tr>
            </a:tbl>
          </a:graphicData>
        </a:graphic>
      </p:graphicFrame>
      <p:sp>
        <p:nvSpPr>
          <p:cNvPr id="7" name="Shape 4"/>
          <p:cNvSpPr/>
          <p:nvPr/>
        </p:nvSpPr>
        <p:spPr>
          <a:xfrm>
            <a:off x="4937760" y="1078992"/>
            <a:ext cx="3703320" cy="2788920"/>
          </a:xfrm>
          <a:prstGeom prst="roundRect">
            <a:avLst>
              <a:gd name="adj" fmla="val 2623"/>
            </a:avLst>
          </a:prstGeom>
          <a:solidFill>
            <a:srgbClr val="0F2042"/>
          </a:solidFill>
          <a:ln w="12700">
            <a:solidFill>
              <a:srgbClr val="23457F"/>
            </a:solidFill>
            <a:prstDash val="solid"/>
          </a:ln>
          <a:effectLst>
            <a:outerShdw blurRad="114300" dist="38100" dir="5400000" algn="bl" rotWithShape="0">
              <a:srgbClr val="020912">
                <a:alpha val="45000"/>
              </a:srgbClr>
            </a:outerShdw>
          </a:effectLst>
        </p:spPr>
        <p:txBody>
          <a:bodyPr/>
          <a:lstStyle/>
          <a:p>
            <a:endParaRPr lang="en-DE"/>
          </a:p>
        </p:txBody>
      </p:sp>
      <p:sp>
        <p:nvSpPr>
          <p:cNvPr id="8" name="Text 5"/>
          <p:cNvSpPr/>
          <p:nvPr/>
        </p:nvSpPr>
        <p:spPr>
          <a:xfrm>
            <a:off x="5166360" y="1280160"/>
            <a:ext cx="3291840" cy="365760"/>
          </a:xfrm>
          <a:prstGeom prst="rect">
            <a:avLst/>
          </a:prstGeom>
          <a:noFill/>
          <a:ln/>
        </p:spPr>
        <p:txBody>
          <a:bodyPr wrap="square" rtlCol="0" anchor="ctr"/>
          <a:lstStyle/>
          <a:p>
            <a:pPr marL="0" indent="0">
              <a:buNone/>
            </a:pPr>
            <a:r>
              <a:rPr lang="en-US" sz="1300" b="1" kern="0" spc="100" dirty="0">
                <a:solidFill>
                  <a:srgbClr val="22D3EE"/>
                </a:solidFill>
                <a:latin typeface="Trebuchet MS" pitchFamily="34" charset="0"/>
                <a:ea typeface="Trebuchet MS" pitchFamily="34" charset="-122"/>
                <a:cs typeface="Trebuchet MS" pitchFamily="34" charset="-120"/>
              </a:rPr>
              <a:t>INDUSTRY 4.0 REQUIRES</a:t>
            </a:r>
            <a:endParaRPr lang="en-US" sz="1300" dirty="0"/>
          </a:p>
        </p:txBody>
      </p:sp>
      <p:sp>
        <p:nvSpPr>
          <p:cNvPr id="9" name="Text 6"/>
          <p:cNvSpPr/>
          <p:nvPr/>
        </p:nvSpPr>
        <p:spPr>
          <a:xfrm>
            <a:off x="5212080" y="1755648"/>
            <a:ext cx="3246120" cy="457200"/>
          </a:xfrm>
          <a:prstGeom prst="rect">
            <a:avLst/>
          </a:prstGeom>
          <a:noFill/>
          <a:ln/>
        </p:spPr>
        <p:txBody>
          <a:bodyPr wrap="square" rtlCol="0" anchor="ctr"/>
          <a:lstStyle/>
          <a:p>
            <a:pPr marL="0" indent="0" algn="l">
              <a:buNone/>
            </a:pPr>
            <a:r>
              <a:rPr lang="en-US" sz="1500" b="1" dirty="0">
                <a:solidFill>
                  <a:srgbClr val="33D9A6"/>
                </a:solidFill>
                <a:latin typeface="Calibri" pitchFamily="34" charset="0"/>
                <a:ea typeface="Calibri" pitchFamily="34" charset="-122"/>
                <a:cs typeface="Calibri" pitchFamily="34" charset="-120"/>
              </a:rPr>
              <a:t>✓  </a:t>
            </a:r>
            <a:r>
              <a:rPr lang="en-US" sz="1500" dirty="0">
                <a:solidFill>
                  <a:srgbClr val="EAF4FF"/>
                </a:solidFill>
                <a:latin typeface="Calibri" pitchFamily="34" charset="0"/>
                <a:ea typeface="Calibri" pitchFamily="34" charset="-122"/>
                <a:cs typeface="Calibri" pitchFamily="34" charset="-120"/>
              </a:rPr>
              <a:t>Diagnostics</a:t>
            </a:r>
            <a:endParaRPr lang="en-US" sz="1500" dirty="0"/>
          </a:p>
        </p:txBody>
      </p:sp>
      <p:sp>
        <p:nvSpPr>
          <p:cNvPr id="10" name="Text 7"/>
          <p:cNvSpPr/>
          <p:nvPr/>
        </p:nvSpPr>
        <p:spPr>
          <a:xfrm>
            <a:off x="5212080" y="2267712"/>
            <a:ext cx="3246120" cy="457200"/>
          </a:xfrm>
          <a:prstGeom prst="rect">
            <a:avLst/>
          </a:prstGeom>
          <a:noFill/>
          <a:ln/>
        </p:spPr>
        <p:txBody>
          <a:bodyPr wrap="square" rtlCol="0" anchor="ctr"/>
          <a:lstStyle/>
          <a:p>
            <a:pPr marL="0" indent="0" algn="l">
              <a:buNone/>
            </a:pPr>
            <a:r>
              <a:rPr lang="en-US" sz="1500" b="1" dirty="0">
                <a:solidFill>
                  <a:srgbClr val="33D9A6"/>
                </a:solidFill>
                <a:latin typeface="Calibri" pitchFamily="34" charset="0"/>
                <a:ea typeface="Calibri" pitchFamily="34" charset="-122"/>
                <a:cs typeface="Calibri" pitchFamily="34" charset="-120"/>
              </a:rPr>
              <a:t>✓  </a:t>
            </a:r>
            <a:r>
              <a:rPr lang="en-US" sz="1500" dirty="0">
                <a:solidFill>
                  <a:srgbClr val="EAF4FF"/>
                </a:solidFill>
                <a:latin typeface="Calibri" pitchFamily="34" charset="0"/>
                <a:ea typeface="Calibri" pitchFamily="34" charset="-122"/>
                <a:cs typeface="Calibri" pitchFamily="34" charset="-120"/>
              </a:rPr>
              <a:t>Cloud connectivity</a:t>
            </a:r>
            <a:endParaRPr lang="en-US" sz="1500" dirty="0"/>
          </a:p>
        </p:txBody>
      </p:sp>
      <p:sp>
        <p:nvSpPr>
          <p:cNvPr id="11" name="Text 8"/>
          <p:cNvSpPr/>
          <p:nvPr/>
        </p:nvSpPr>
        <p:spPr>
          <a:xfrm>
            <a:off x="5212080" y="2779776"/>
            <a:ext cx="3246120" cy="457200"/>
          </a:xfrm>
          <a:prstGeom prst="rect">
            <a:avLst/>
          </a:prstGeom>
          <a:noFill/>
          <a:ln/>
        </p:spPr>
        <p:txBody>
          <a:bodyPr wrap="square" rtlCol="0" anchor="ctr"/>
          <a:lstStyle/>
          <a:p>
            <a:pPr marL="0" indent="0" algn="l">
              <a:buNone/>
            </a:pPr>
            <a:r>
              <a:rPr lang="en-US" sz="1500" b="1" dirty="0">
                <a:solidFill>
                  <a:srgbClr val="33D9A6"/>
                </a:solidFill>
                <a:latin typeface="Calibri" pitchFamily="34" charset="0"/>
                <a:ea typeface="Calibri" pitchFamily="34" charset="-122"/>
                <a:cs typeface="Calibri" pitchFamily="34" charset="-120"/>
              </a:rPr>
              <a:t>✓  </a:t>
            </a:r>
            <a:r>
              <a:rPr lang="en-US" sz="1500" dirty="0">
                <a:solidFill>
                  <a:srgbClr val="EAF4FF"/>
                </a:solidFill>
                <a:latin typeface="Calibri" pitchFamily="34" charset="0"/>
                <a:ea typeface="Calibri" pitchFamily="34" charset="-122"/>
                <a:cs typeface="Calibri" pitchFamily="34" charset="-120"/>
              </a:rPr>
              <a:t>Predictive maintenance</a:t>
            </a:r>
            <a:endParaRPr lang="en-US" sz="1500" dirty="0"/>
          </a:p>
        </p:txBody>
      </p:sp>
      <p:sp>
        <p:nvSpPr>
          <p:cNvPr id="12" name="Text 9"/>
          <p:cNvSpPr/>
          <p:nvPr/>
        </p:nvSpPr>
        <p:spPr>
          <a:xfrm>
            <a:off x="5212080" y="3291840"/>
            <a:ext cx="3246120" cy="457200"/>
          </a:xfrm>
          <a:prstGeom prst="rect">
            <a:avLst/>
          </a:prstGeom>
          <a:noFill/>
          <a:ln/>
        </p:spPr>
        <p:txBody>
          <a:bodyPr wrap="square" rtlCol="0" anchor="ctr"/>
          <a:lstStyle/>
          <a:p>
            <a:pPr marL="0" indent="0" algn="l">
              <a:buNone/>
            </a:pPr>
            <a:r>
              <a:rPr lang="en-US" sz="1500" b="1" dirty="0">
                <a:solidFill>
                  <a:srgbClr val="33D9A6"/>
                </a:solidFill>
                <a:latin typeface="Calibri" pitchFamily="34" charset="0"/>
                <a:ea typeface="Calibri" pitchFamily="34" charset="-122"/>
                <a:cs typeface="Calibri" pitchFamily="34" charset="-120"/>
              </a:rPr>
              <a:t>✓  </a:t>
            </a:r>
            <a:r>
              <a:rPr lang="en-US" sz="1500" dirty="0">
                <a:solidFill>
                  <a:srgbClr val="EAF4FF"/>
                </a:solidFill>
                <a:latin typeface="Calibri" pitchFamily="34" charset="0"/>
                <a:ea typeface="Calibri" pitchFamily="34" charset="-122"/>
                <a:cs typeface="Calibri" pitchFamily="34" charset="-120"/>
              </a:rPr>
              <a:t>Digital twins</a:t>
            </a:r>
            <a:endParaRPr lang="en-US" sz="1500" dirty="0"/>
          </a:p>
        </p:txBody>
      </p:sp>
      <p:sp>
        <p:nvSpPr>
          <p:cNvPr id="13" name="Shape 10"/>
          <p:cNvSpPr/>
          <p:nvPr/>
        </p:nvSpPr>
        <p:spPr>
          <a:xfrm>
            <a:off x="502920" y="4160520"/>
            <a:ext cx="1691640" cy="566928"/>
          </a:xfrm>
          <a:prstGeom prst="roundRect">
            <a:avLst>
              <a:gd name="adj" fmla="val 9677"/>
            </a:avLst>
          </a:prstGeom>
          <a:solidFill>
            <a:srgbClr val="13294F"/>
          </a:solidFill>
          <a:ln w="12700">
            <a:solidFill>
              <a:srgbClr val="23457F"/>
            </a:solidFill>
            <a:prstDash val="solid"/>
          </a:ln>
          <a:effectLst>
            <a:outerShdw blurRad="114300" dist="38100" dir="5400000" algn="bl" rotWithShape="0">
              <a:srgbClr val="020912">
                <a:alpha val="45000"/>
              </a:srgbClr>
            </a:outerShdw>
          </a:effectLst>
        </p:spPr>
        <p:txBody>
          <a:bodyPr/>
          <a:lstStyle/>
          <a:p>
            <a:endParaRPr lang="en-DE"/>
          </a:p>
        </p:txBody>
      </p:sp>
      <p:sp>
        <p:nvSpPr>
          <p:cNvPr id="14" name="Text 11"/>
          <p:cNvSpPr/>
          <p:nvPr/>
        </p:nvSpPr>
        <p:spPr>
          <a:xfrm>
            <a:off x="548640" y="4160520"/>
            <a:ext cx="1600200" cy="566928"/>
          </a:xfrm>
          <a:prstGeom prst="rect">
            <a:avLst/>
          </a:prstGeom>
          <a:noFill/>
          <a:ln/>
        </p:spPr>
        <p:txBody>
          <a:bodyPr wrap="square" lIns="0" tIns="0" rIns="0" bIns="0" rtlCol="0" anchor="ctr"/>
          <a:lstStyle/>
          <a:p>
            <a:pPr marL="0" indent="0" algn="ctr">
              <a:buNone/>
            </a:pPr>
            <a:r>
              <a:rPr lang="en-US" sz="1300" b="1" dirty="0">
                <a:solidFill>
                  <a:srgbClr val="EAF4FF"/>
                </a:solidFill>
                <a:latin typeface="Trebuchet MS" pitchFamily="34" charset="0"/>
                <a:ea typeface="Trebuchet MS" pitchFamily="34" charset="-122"/>
                <a:cs typeface="Trebuchet MS" pitchFamily="34" charset="-120"/>
              </a:rPr>
              <a:t>4–20 mA</a:t>
            </a:r>
            <a:endParaRPr lang="en-US" sz="1300" dirty="0"/>
          </a:p>
        </p:txBody>
      </p:sp>
      <p:sp>
        <p:nvSpPr>
          <p:cNvPr id="15" name="Text 12"/>
          <p:cNvSpPr/>
          <p:nvPr/>
        </p:nvSpPr>
        <p:spPr>
          <a:xfrm>
            <a:off x="2176272" y="4160520"/>
            <a:ext cx="420624" cy="566928"/>
          </a:xfrm>
          <a:prstGeom prst="rect">
            <a:avLst/>
          </a:prstGeom>
          <a:noFill/>
          <a:ln/>
        </p:spPr>
        <p:txBody>
          <a:bodyPr wrap="square" rtlCol="0" anchor="ctr"/>
          <a:lstStyle/>
          <a:p>
            <a:pPr marL="0" indent="0" algn="ctr">
              <a:buNone/>
            </a:pPr>
            <a:r>
              <a:rPr lang="en-US" sz="1800" b="1" dirty="0">
                <a:solidFill>
                  <a:srgbClr val="22D3EE"/>
                </a:solidFill>
                <a:latin typeface="Trebuchet MS" pitchFamily="34" charset="0"/>
                <a:ea typeface="Trebuchet MS" pitchFamily="34" charset="-122"/>
                <a:cs typeface="Trebuchet MS" pitchFamily="34" charset="-120"/>
              </a:rPr>
              <a:t>→</a:t>
            </a:r>
            <a:endParaRPr lang="en-US" sz="1800" dirty="0"/>
          </a:p>
        </p:txBody>
      </p:sp>
      <p:sp>
        <p:nvSpPr>
          <p:cNvPr id="16" name="Shape 13"/>
          <p:cNvSpPr/>
          <p:nvPr/>
        </p:nvSpPr>
        <p:spPr>
          <a:xfrm>
            <a:off x="2578608" y="4160520"/>
            <a:ext cx="1691640" cy="566928"/>
          </a:xfrm>
          <a:prstGeom prst="roundRect">
            <a:avLst>
              <a:gd name="adj" fmla="val 9677"/>
            </a:avLst>
          </a:prstGeom>
          <a:solidFill>
            <a:srgbClr val="13294F"/>
          </a:solidFill>
          <a:ln w="12700">
            <a:solidFill>
              <a:srgbClr val="23457F"/>
            </a:solidFill>
            <a:prstDash val="solid"/>
          </a:ln>
          <a:effectLst>
            <a:outerShdw blurRad="114300" dist="38100" dir="5400000" algn="bl" rotWithShape="0">
              <a:srgbClr val="020912">
                <a:alpha val="45000"/>
              </a:srgbClr>
            </a:outerShdw>
          </a:effectLst>
        </p:spPr>
        <p:txBody>
          <a:bodyPr/>
          <a:lstStyle/>
          <a:p>
            <a:endParaRPr lang="en-DE"/>
          </a:p>
        </p:txBody>
      </p:sp>
      <p:sp>
        <p:nvSpPr>
          <p:cNvPr id="17" name="Text 14"/>
          <p:cNvSpPr/>
          <p:nvPr/>
        </p:nvSpPr>
        <p:spPr>
          <a:xfrm>
            <a:off x="2624328" y="4160520"/>
            <a:ext cx="1600200" cy="566928"/>
          </a:xfrm>
          <a:prstGeom prst="rect">
            <a:avLst/>
          </a:prstGeom>
          <a:noFill/>
          <a:ln/>
        </p:spPr>
        <p:txBody>
          <a:bodyPr wrap="square" lIns="0" tIns="0" rIns="0" bIns="0" rtlCol="0" anchor="ctr"/>
          <a:lstStyle/>
          <a:p>
            <a:pPr marL="0" indent="0" algn="ctr">
              <a:buNone/>
            </a:pPr>
            <a:r>
              <a:rPr lang="en-US" sz="1300" b="1" dirty="0">
                <a:solidFill>
                  <a:srgbClr val="EAF4FF"/>
                </a:solidFill>
                <a:latin typeface="Trebuchet MS" pitchFamily="34" charset="0"/>
                <a:ea typeface="Trebuchet MS" pitchFamily="34" charset="-122"/>
                <a:cs typeface="Trebuchet MS" pitchFamily="34" charset="-120"/>
              </a:rPr>
              <a:t>HART</a:t>
            </a:r>
            <a:endParaRPr lang="en-US" sz="1300" dirty="0"/>
          </a:p>
        </p:txBody>
      </p:sp>
      <p:sp>
        <p:nvSpPr>
          <p:cNvPr id="18" name="Text 15"/>
          <p:cNvSpPr/>
          <p:nvPr/>
        </p:nvSpPr>
        <p:spPr>
          <a:xfrm>
            <a:off x="4251960" y="4160520"/>
            <a:ext cx="420624" cy="566928"/>
          </a:xfrm>
          <a:prstGeom prst="rect">
            <a:avLst/>
          </a:prstGeom>
          <a:noFill/>
          <a:ln/>
        </p:spPr>
        <p:txBody>
          <a:bodyPr wrap="square" rtlCol="0" anchor="ctr"/>
          <a:lstStyle/>
          <a:p>
            <a:pPr marL="0" indent="0" algn="ctr">
              <a:buNone/>
            </a:pPr>
            <a:r>
              <a:rPr lang="en-US" sz="1800" b="1" dirty="0">
                <a:solidFill>
                  <a:srgbClr val="22D3EE"/>
                </a:solidFill>
                <a:latin typeface="Trebuchet MS" pitchFamily="34" charset="0"/>
                <a:ea typeface="Trebuchet MS" pitchFamily="34" charset="-122"/>
                <a:cs typeface="Trebuchet MS" pitchFamily="34" charset="-120"/>
              </a:rPr>
              <a:t>→</a:t>
            </a:r>
            <a:endParaRPr lang="en-US" sz="1800" dirty="0"/>
          </a:p>
        </p:txBody>
      </p:sp>
      <p:sp>
        <p:nvSpPr>
          <p:cNvPr id="19" name="Shape 16"/>
          <p:cNvSpPr/>
          <p:nvPr/>
        </p:nvSpPr>
        <p:spPr>
          <a:xfrm>
            <a:off x="4654296" y="4160520"/>
            <a:ext cx="1691640" cy="566928"/>
          </a:xfrm>
          <a:prstGeom prst="roundRect">
            <a:avLst>
              <a:gd name="adj" fmla="val 9677"/>
            </a:avLst>
          </a:prstGeom>
          <a:solidFill>
            <a:srgbClr val="13294F"/>
          </a:solidFill>
          <a:ln w="12700">
            <a:solidFill>
              <a:srgbClr val="23457F"/>
            </a:solidFill>
            <a:prstDash val="solid"/>
          </a:ln>
          <a:effectLst>
            <a:outerShdw blurRad="114300" dist="38100" dir="5400000" algn="bl" rotWithShape="0">
              <a:srgbClr val="020912">
                <a:alpha val="45000"/>
              </a:srgbClr>
            </a:outerShdw>
          </a:effectLst>
        </p:spPr>
        <p:txBody>
          <a:bodyPr/>
          <a:lstStyle/>
          <a:p>
            <a:endParaRPr lang="en-DE"/>
          </a:p>
        </p:txBody>
      </p:sp>
      <p:sp>
        <p:nvSpPr>
          <p:cNvPr id="20" name="Text 17"/>
          <p:cNvSpPr/>
          <p:nvPr/>
        </p:nvSpPr>
        <p:spPr>
          <a:xfrm>
            <a:off x="4700016" y="4160520"/>
            <a:ext cx="1600200" cy="566928"/>
          </a:xfrm>
          <a:prstGeom prst="rect">
            <a:avLst/>
          </a:prstGeom>
          <a:noFill/>
          <a:ln/>
        </p:spPr>
        <p:txBody>
          <a:bodyPr wrap="square" lIns="0" tIns="0" rIns="0" bIns="0" rtlCol="0" anchor="ctr"/>
          <a:lstStyle/>
          <a:p>
            <a:pPr marL="0" indent="0" algn="ctr">
              <a:buNone/>
            </a:pPr>
            <a:r>
              <a:rPr lang="en-US" sz="1300" b="1" dirty="0">
                <a:solidFill>
                  <a:srgbClr val="EAF4FF"/>
                </a:solidFill>
                <a:latin typeface="Trebuchet MS" pitchFamily="34" charset="0"/>
                <a:ea typeface="Trebuchet MS" pitchFamily="34" charset="-122"/>
                <a:cs typeface="Trebuchet MS" pitchFamily="34" charset="-120"/>
              </a:rPr>
              <a:t>PROFIBUS PA</a:t>
            </a:r>
            <a:endParaRPr lang="en-US" sz="1300" dirty="0"/>
          </a:p>
        </p:txBody>
      </p:sp>
      <p:sp>
        <p:nvSpPr>
          <p:cNvPr id="21" name="Text 18"/>
          <p:cNvSpPr/>
          <p:nvPr/>
        </p:nvSpPr>
        <p:spPr>
          <a:xfrm>
            <a:off x="6327648" y="4160520"/>
            <a:ext cx="420624" cy="566928"/>
          </a:xfrm>
          <a:prstGeom prst="rect">
            <a:avLst/>
          </a:prstGeom>
          <a:noFill/>
          <a:ln/>
        </p:spPr>
        <p:txBody>
          <a:bodyPr wrap="square" rtlCol="0" anchor="ctr"/>
          <a:lstStyle/>
          <a:p>
            <a:pPr marL="0" indent="0" algn="ctr">
              <a:buNone/>
            </a:pPr>
            <a:r>
              <a:rPr lang="en-US" sz="1800" b="1" dirty="0">
                <a:solidFill>
                  <a:srgbClr val="22D3EE"/>
                </a:solidFill>
                <a:latin typeface="Trebuchet MS" pitchFamily="34" charset="0"/>
                <a:ea typeface="Trebuchet MS" pitchFamily="34" charset="-122"/>
                <a:cs typeface="Trebuchet MS" pitchFamily="34" charset="-120"/>
              </a:rPr>
              <a:t>→</a:t>
            </a:r>
            <a:endParaRPr lang="en-US" sz="1800" dirty="0"/>
          </a:p>
        </p:txBody>
      </p:sp>
      <p:sp>
        <p:nvSpPr>
          <p:cNvPr id="22" name="Shape 19"/>
          <p:cNvSpPr/>
          <p:nvPr/>
        </p:nvSpPr>
        <p:spPr>
          <a:xfrm>
            <a:off x="6949440" y="4187952"/>
            <a:ext cx="1691640" cy="566928"/>
          </a:xfrm>
          <a:prstGeom prst="roundRect">
            <a:avLst>
              <a:gd name="adj" fmla="val 9677"/>
            </a:avLst>
          </a:prstGeom>
          <a:solidFill>
            <a:srgbClr val="22D3EE"/>
          </a:solidFill>
          <a:ln w="12700">
            <a:solidFill>
              <a:srgbClr val="22D3EE"/>
            </a:solidFill>
            <a:prstDash val="solid"/>
          </a:ln>
          <a:effectLst>
            <a:outerShdw blurRad="114300" dist="38100" dir="5400000" algn="bl" rotWithShape="0">
              <a:srgbClr val="020912">
                <a:alpha val="45000"/>
              </a:srgbClr>
            </a:outerShdw>
          </a:effectLst>
        </p:spPr>
        <p:txBody>
          <a:bodyPr/>
          <a:lstStyle/>
          <a:p>
            <a:endParaRPr lang="en-DE"/>
          </a:p>
        </p:txBody>
      </p:sp>
      <p:sp>
        <p:nvSpPr>
          <p:cNvPr id="23" name="Text 20"/>
          <p:cNvSpPr/>
          <p:nvPr/>
        </p:nvSpPr>
        <p:spPr>
          <a:xfrm>
            <a:off x="6775704" y="4160520"/>
            <a:ext cx="1600200" cy="566928"/>
          </a:xfrm>
          <a:prstGeom prst="rect">
            <a:avLst/>
          </a:prstGeom>
          <a:noFill/>
          <a:ln/>
        </p:spPr>
        <p:txBody>
          <a:bodyPr wrap="square" lIns="0" tIns="0" rIns="0" bIns="0" rtlCol="0" anchor="ctr"/>
          <a:lstStyle/>
          <a:p>
            <a:pPr marL="0" indent="0" algn="ctr">
              <a:buNone/>
            </a:pPr>
            <a:r>
              <a:rPr lang="en-US" sz="1300" b="1" dirty="0">
                <a:solidFill>
                  <a:srgbClr val="07122A"/>
                </a:solidFill>
                <a:latin typeface="Trebuchet MS" pitchFamily="34" charset="0"/>
                <a:ea typeface="Trebuchet MS" pitchFamily="34" charset="-122"/>
                <a:cs typeface="Trebuchet MS" pitchFamily="34" charset="-120"/>
              </a:rPr>
              <a:t>Ethernet-APL</a:t>
            </a:r>
            <a:endParaRPr lang="en-US" sz="1300" dirty="0"/>
          </a:p>
        </p:txBody>
      </p:sp>
      <p:sp>
        <p:nvSpPr>
          <p:cNvPr id="24" name="Text 21"/>
          <p:cNvSpPr/>
          <p:nvPr/>
        </p:nvSpPr>
        <p:spPr>
          <a:xfrm>
            <a:off x="502920" y="4754880"/>
            <a:ext cx="8229600" cy="274320"/>
          </a:xfrm>
          <a:prstGeom prst="rect">
            <a:avLst/>
          </a:prstGeom>
          <a:noFill/>
          <a:ln/>
        </p:spPr>
        <p:txBody>
          <a:bodyPr wrap="square" rtlCol="0" anchor="ctr"/>
          <a:lstStyle/>
          <a:p>
            <a:pPr marL="0" indent="0" algn="l">
              <a:buNone/>
            </a:pPr>
            <a:r>
              <a:rPr lang="en-US" sz="1050" i="1" dirty="0">
                <a:solidFill>
                  <a:srgbClr val="9FB6D6"/>
                </a:solidFill>
                <a:latin typeface="Calibri" pitchFamily="34" charset="0"/>
                <a:ea typeface="Calibri" pitchFamily="34" charset="-122"/>
                <a:cs typeface="Calibri" pitchFamily="34" charset="-120"/>
              </a:rPr>
              <a:t>evolution toward Ethernet in the field</a:t>
            </a:r>
            <a:endParaRPr lang="en-US" sz="1050" dirty="0"/>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832"/>
        </a:solidFill>
        <a:effectLst/>
      </p:bgPr>
    </p:bg>
    <p:spTree>
      <p:nvGrpSpPr>
        <p:cNvPr id="1" name=""/>
        <p:cNvGrpSpPr/>
        <p:nvPr/>
      </p:nvGrpSpPr>
      <p:grpSpPr>
        <a:xfrm>
          <a:off x="0" y="0"/>
          <a:ext cx="0" cy="0"/>
          <a:chOff x="0" y="0"/>
          <a:chExt cx="0" cy="0"/>
        </a:xfrm>
      </p:grpSpPr>
      <p:sp>
        <p:nvSpPr>
          <p:cNvPr id="2" name="Shape 0"/>
          <p:cNvSpPr/>
          <p:nvPr/>
        </p:nvSpPr>
        <p:spPr>
          <a:xfrm>
            <a:off x="502920" y="384048"/>
            <a:ext cx="146304" cy="457200"/>
          </a:xfrm>
          <a:prstGeom prst="rect">
            <a:avLst/>
          </a:prstGeom>
          <a:solidFill>
            <a:srgbClr val="22D3EE"/>
          </a:solidFill>
          <a:ln/>
        </p:spPr>
        <p:txBody>
          <a:bodyPr/>
          <a:lstStyle/>
          <a:p>
            <a:endParaRPr lang="en-DE"/>
          </a:p>
        </p:txBody>
      </p:sp>
      <p:sp>
        <p:nvSpPr>
          <p:cNvPr id="3" name="Text 1"/>
          <p:cNvSpPr/>
          <p:nvPr/>
        </p:nvSpPr>
        <p:spPr>
          <a:xfrm>
            <a:off x="777240" y="310896"/>
            <a:ext cx="7863840" cy="640080"/>
          </a:xfrm>
          <a:prstGeom prst="rect">
            <a:avLst/>
          </a:prstGeom>
          <a:noFill/>
          <a:ln/>
        </p:spPr>
        <p:txBody>
          <a:bodyPr wrap="square" lIns="0" tIns="0" rIns="0" bIns="0" rtlCol="0" anchor="ctr"/>
          <a:lstStyle/>
          <a:p>
            <a:pPr marL="0" indent="0" algn="l">
              <a:buNone/>
            </a:pPr>
            <a:r>
              <a:rPr lang="en-US" sz="2700" b="1" dirty="0">
                <a:solidFill>
                  <a:srgbClr val="EAF4FF"/>
                </a:solidFill>
                <a:latin typeface="Trebuchet MS" pitchFamily="34" charset="0"/>
                <a:ea typeface="Trebuchet MS" pitchFamily="34" charset="-122"/>
                <a:cs typeface="Trebuchet MS" pitchFamily="34" charset="-120"/>
              </a:rPr>
              <a:t>Evolution of Industrial Communication</a:t>
            </a:r>
            <a:endParaRPr lang="en-US" sz="2700" dirty="0"/>
          </a:p>
        </p:txBody>
      </p:sp>
      <p:sp>
        <p:nvSpPr>
          <p:cNvPr id="4" name="Text 2"/>
          <p:cNvSpPr/>
          <p:nvPr/>
        </p:nvSpPr>
        <p:spPr>
          <a:xfrm>
            <a:off x="8321040" y="384048"/>
            <a:ext cx="548640" cy="457200"/>
          </a:xfrm>
          <a:prstGeom prst="rect">
            <a:avLst/>
          </a:prstGeom>
          <a:noFill/>
          <a:ln/>
        </p:spPr>
        <p:txBody>
          <a:bodyPr wrap="square" rtlCol="0" anchor="ctr"/>
          <a:lstStyle/>
          <a:p>
            <a:pPr marL="0" indent="0" algn="r">
              <a:buNone/>
            </a:pPr>
            <a:r>
              <a:rPr lang="en-US" sz="1200" b="1" dirty="0">
                <a:solidFill>
                  <a:srgbClr val="22D3EE"/>
                </a:solidFill>
                <a:latin typeface="Trebuchet MS" pitchFamily="34" charset="0"/>
                <a:ea typeface="Trebuchet MS" pitchFamily="34" charset="-122"/>
                <a:cs typeface="Trebuchet MS" pitchFamily="34" charset="-120"/>
              </a:rPr>
              <a:t>03</a:t>
            </a:r>
            <a:endParaRPr lang="en-US" sz="1200" dirty="0"/>
          </a:p>
        </p:txBody>
      </p:sp>
      <p:sp>
        <p:nvSpPr>
          <p:cNvPr id="5" name="Shape 3"/>
          <p:cNvSpPr/>
          <p:nvPr/>
        </p:nvSpPr>
        <p:spPr>
          <a:xfrm>
            <a:off x="914400" y="1783080"/>
            <a:ext cx="7076803" cy="18288"/>
          </a:xfrm>
          <a:prstGeom prst="line">
            <a:avLst/>
          </a:prstGeom>
          <a:noFill/>
          <a:ln w="31750">
            <a:solidFill>
              <a:srgbClr val="23457F"/>
            </a:solidFill>
            <a:prstDash val="solid"/>
          </a:ln>
        </p:spPr>
        <p:txBody>
          <a:bodyPr/>
          <a:lstStyle/>
          <a:p>
            <a:endParaRPr lang="en-DE"/>
          </a:p>
        </p:txBody>
      </p:sp>
      <p:sp>
        <p:nvSpPr>
          <p:cNvPr id="6" name="Text 4"/>
          <p:cNvSpPr/>
          <p:nvPr/>
        </p:nvSpPr>
        <p:spPr>
          <a:xfrm>
            <a:off x="502920" y="1078992"/>
            <a:ext cx="1645920" cy="365760"/>
          </a:xfrm>
          <a:prstGeom prst="rect">
            <a:avLst/>
          </a:prstGeom>
          <a:noFill/>
          <a:ln/>
        </p:spPr>
        <p:txBody>
          <a:bodyPr wrap="square" rtlCol="0" anchor="ctr"/>
          <a:lstStyle/>
          <a:p>
            <a:pPr marL="0" indent="0" algn="ctr">
              <a:buNone/>
            </a:pPr>
            <a:r>
              <a:rPr lang="en-US" sz="1600" b="1" dirty="0">
                <a:solidFill>
                  <a:srgbClr val="9FB6D6"/>
                </a:solidFill>
                <a:latin typeface="Trebuchet MS" pitchFamily="34" charset="0"/>
                <a:ea typeface="Trebuchet MS" pitchFamily="34" charset="-122"/>
                <a:cs typeface="Trebuchet MS" pitchFamily="34" charset="-120"/>
              </a:rPr>
              <a:t>1960</a:t>
            </a:r>
            <a:endParaRPr lang="en-US" sz="1600" dirty="0"/>
          </a:p>
        </p:txBody>
      </p:sp>
      <p:sp>
        <p:nvSpPr>
          <p:cNvPr id="7" name="Shape 5"/>
          <p:cNvSpPr/>
          <p:nvPr/>
        </p:nvSpPr>
        <p:spPr>
          <a:xfrm>
            <a:off x="1179576" y="1636776"/>
            <a:ext cx="292608" cy="292608"/>
          </a:xfrm>
          <a:prstGeom prst="ellipse">
            <a:avLst/>
          </a:prstGeom>
          <a:solidFill>
            <a:srgbClr val="0A1832"/>
          </a:solidFill>
          <a:ln w="31750">
            <a:solidFill>
              <a:srgbClr val="22D3EE"/>
            </a:solidFill>
            <a:prstDash val="solid"/>
          </a:ln>
        </p:spPr>
        <p:txBody>
          <a:bodyPr/>
          <a:lstStyle/>
          <a:p>
            <a:endParaRPr lang="en-DE"/>
          </a:p>
        </p:txBody>
      </p:sp>
      <p:sp>
        <p:nvSpPr>
          <p:cNvPr id="8" name="Shape 6"/>
          <p:cNvSpPr/>
          <p:nvPr/>
        </p:nvSpPr>
        <p:spPr>
          <a:xfrm>
            <a:off x="502920" y="2276856"/>
            <a:ext cx="1920240" cy="1600200"/>
          </a:xfrm>
          <a:prstGeom prst="roundRect">
            <a:avLst>
              <a:gd name="adj" fmla="val 4571"/>
            </a:avLst>
          </a:prstGeom>
          <a:solidFill>
            <a:srgbClr val="13294F"/>
          </a:solidFill>
          <a:ln w="12700">
            <a:solidFill>
              <a:srgbClr val="23457F"/>
            </a:solidFill>
            <a:prstDash val="solid"/>
          </a:ln>
          <a:effectLst>
            <a:outerShdw blurRad="114300" dist="38100" dir="5400000" algn="bl" rotWithShape="0">
              <a:srgbClr val="020912">
                <a:alpha val="45000"/>
              </a:srgbClr>
            </a:outerShdw>
          </a:effectLst>
        </p:spPr>
        <p:txBody>
          <a:bodyPr/>
          <a:lstStyle/>
          <a:p>
            <a:endParaRPr lang="en-DE"/>
          </a:p>
        </p:txBody>
      </p:sp>
      <p:sp>
        <p:nvSpPr>
          <p:cNvPr id="9" name="Shape 7"/>
          <p:cNvSpPr/>
          <p:nvPr/>
        </p:nvSpPr>
        <p:spPr>
          <a:xfrm>
            <a:off x="1325880" y="1929384"/>
            <a:ext cx="0" cy="310896"/>
          </a:xfrm>
          <a:prstGeom prst="line">
            <a:avLst/>
          </a:prstGeom>
          <a:noFill/>
          <a:ln w="25400">
            <a:solidFill>
              <a:srgbClr val="22D3EE"/>
            </a:solidFill>
            <a:prstDash val="solid"/>
          </a:ln>
        </p:spPr>
        <p:txBody>
          <a:bodyPr/>
          <a:lstStyle/>
          <a:p>
            <a:endParaRPr lang="en-DE"/>
          </a:p>
        </p:txBody>
      </p:sp>
      <p:sp>
        <p:nvSpPr>
          <p:cNvPr id="10" name="Text 8"/>
          <p:cNvSpPr/>
          <p:nvPr/>
        </p:nvSpPr>
        <p:spPr>
          <a:xfrm>
            <a:off x="457200" y="2395728"/>
            <a:ext cx="1737360" cy="457200"/>
          </a:xfrm>
          <a:prstGeom prst="rect">
            <a:avLst/>
          </a:prstGeom>
          <a:noFill/>
          <a:ln/>
        </p:spPr>
        <p:txBody>
          <a:bodyPr wrap="square" rtlCol="0" anchor="ctr"/>
          <a:lstStyle/>
          <a:p>
            <a:pPr marL="0" indent="0" algn="ctr">
              <a:buNone/>
            </a:pPr>
            <a:r>
              <a:rPr lang="en-US" sz="1500" b="1" dirty="0">
                <a:solidFill>
                  <a:srgbClr val="EAF4FF"/>
                </a:solidFill>
                <a:latin typeface="Trebuchet MS" pitchFamily="34" charset="0"/>
                <a:ea typeface="Trebuchet MS" pitchFamily="34" charset="-122"/>
                <a:cs typeface="Trebuchet MS" pitchFamily="34" charset="-120"/>
              </a:rPr>
              <a:t>4–20 mA</a:t>
            </a:r>
            <a:endParaRPr lang="en-US" sz="1500" dirty="0"/>
          </a:p>
        </p:txBody>
      </p:sp>
      <p:sp>
        <p:nvSpPr>
          <p:cNvPr id="11" name="Text 9"/>
          <p:cNvSpPr/>
          <p:nvPr/>
        </p:nvSpPr>
        <p:spPr>
          <a:xfrm>
            <a:off x="493776" y="2852928"/>
            <a:ext cx="1664208" cy="960120"/>
          </a:xfrm>
          <a:prstGeom prst="rect">
            <a:avLst/>
          </a:prstGeom>
          <a:noFill/>
          <a:ln/>
        </p:spPr>
        <p:txBody>
          <a:bodyPr wrap="square" rtlCol="0" anchor="t"/>
          <a:lstStyle/>
          <a:p>
            <a:pPr marL="0" indent="0" algn="ctr">
              <a:buNone/>
            </a:pPr>
            <a:r>
              <a:rPr lang="en-US" sz="1150" dirty="0">
                <a:solidFill>
                  <a:srgbClr val="9FB6D6"/>
                </a:solidFill>
                <a:latin typeface="Calibri" pitchFamily="34" charset="0"/>
                <a:ea typeface="Calibri" pitchFamily="34" charset="-122"/>
                <a:cs typeface="Calibri" pitchFamily="34" charset="-120"/>
              </a:rPr>
              <a:t>Analog current loop — one value per wire.</a:t>
            </a:r>
            <a:endParaRPr lang="en-US" sz="1150" dirty="0"/>
          </a:p>
        </p:txBody>
      </p:sp>
      <p:sp>
        <p:nvSpPr>
          <p:cNvPr id="12" name="Text 10"/>
          <p:cNvSpPr/>
          <p:nvPr/>
        </p:nvSpPr>
        <p:spPr>
          <a:xfrm>
            <a:off x="2788920" y="1078992"/>
            <a:ext cx="1645920" cy="365760"/>
          </a:xfrm>
          <a:prstGeom prst="rect">
            <a:avLst/>
          </a:prstGeom>
          <a:noFill/>
          <a:ln/>
        </p:spPr>
        <p:txBody>
          <a:bodyPr wrap="square" rtlCol="0" anchor="ctr"/>
          <a:lstStyle/>
          <a:p>
            <a:pPr marL="0" indent="0" algn="ctr">
              <a:buNone/>
            </a:pPr>
            <a:r>
              <a:rPr lang="en-US" sz="1600" b="1" dirty="0">
                <a:solidFill>
                  <a:srgbClr val="9FB6D6"/>
                </a:solidFill>
                <a:latin typeface="Trebuchet MS" pitchFamily="34" charset="0"/>
                <a:ea typeface="Trebuchet MS" pitchFamily="34" charset="-122"/>
                <a:cs typeface="Trebuchet MS" pitchFamily="34" charset="-120"/>
              </a:rPr>
              <a:t>1989</a:t>
            </a:r>
            <a:endParaRPr lang="en-US" sz="1600" dirty="0"/>
          </a:p>
        </p:txBody>
      </p:sp>
      <p:sp>
        <p:nvSpPr>
          <p:cNvPr id="13" name="Shape 11"/>
          <p:cNvSpPr/>
          <p:nvPr/>
        </p:nvSpPr>
        <p:spPr>
          <a:xfrm>
            <a:off x="3465576" y="1636776"/>
            <a:ext cx="292608" cy="292608"/>
          </a:xfrm>
          <a:prstGeom prst="ellipse">
            <a:avLst/>
          </a:prstGeom>
          <a:solidFill>
            <a:srgbClr val="0A1832"/>
          </a:solidFill>
          <a:ln w="31750">
            <a:solidFill>
              <a:srgbClr val="22D3EE"/>
            </a:solidFill>
            <a:prstDash val="solid"/>
          </a:ln>
        </p:spPr>
        <p:txBody>
          <a:bodyPr/>
          <a:lstStyle/>
          <a:p>
            <a:endParaRPr lang="en-DE"/>
          </a:p>
        </p:txBody>
      </p:sp>
      <p:sp>
        <p:nvSpPr>
          <p:cNvPr id="14" name="Shape 12"/>
          <p:cNvSpPr/>
          <p:nvPr/>
        </p:nvSpPr>
        <p:spPr>
          <a:xfrm>
            <a:off x="2651760" y="2286000"/>
            <a:ext cx="1920240" cy="1600200"/>
          </a:xfrm>
          <a:prstGeom prst="roundRect">
            <a:avLst>
              <a:gd name="adj" fmla="val 4571"/>
            </a:avLst>
          </a:prstGeom>
          <a:solidFill>
            <a:srgbClr val="13294F"/>
          </a:solidFill>
          <a:ln w="12700">
            <a:solidFill>
              <a:srgbClr val="23457F"/>
            </a:solidFill>
            <a:prstDash val="solid"/>
          </a:ln>
          <a:effectLst>
            <a:outerShdw blurRad="114300" dist="38100" dir="5400000" algn="bl" rotWithShape="0">
              <a:srgbClr val="020912">
                <a:alpha val="45000"/>
              </a:srgbClr>
            </a:outerShdw>
          </a:effectLst>
        </p:spPr>
        <p:txBody>
          <a:bodyPr/>
          <a:lstStyle/>
          <a:p>
            <a:endParaRPr lang="en-DE"/>
          </a:p>
        </p:txBody>
      </p:sp>
      <p:sp>
        <p:nvSpPr>
          <p:cNvPr id="15" name="Shape 13"/>
          <p:cNvSpPr/>
          <p:nvPr/>
        </p:nvSpPr>
        <p:spPr>
          <a:xfrm>
            <a:off x="3611880" y="1929384"/>
            <a:ext cx="0" cy="310896"/>
          </a:xfrm>
          <a:prstGeom prst="line">
            <a:avLst/>
          </a:prstGeom>
          <a:noFill/>
          <a:ln w="25400">
            <a:solidFill>
              <a:srgbClr val="22D3EE"/>
            </a:solidFill>
            <a:prstDash val="solid"/>
          </a:ln>
        </p:spPr>
        <p:txBody>
          <a:bodyPr/>
          <a:lstStyle/>
          <a:p>
            <a:endParaRPr lang="en-DE"/>
          </a:p>
        </p:txBody>
      </p:sp>
      <p:sp>
        <p:nvSpPr>
          <p:cNvPr id="16" name="Text 14"/>
          <p:cNvSpPr/>
          <p:nvPr/>
        </p:nvSpPr>
        <p:spPr>
          <a:xfrm>
            <a:off x="2743200" y="2395728"/>
            <a:ext cx="1737360" cy="457200"/>
          </a:xfrm>
          <a:prstGeom prst="rect">
            <a:avLst/>
          </a:prstGeom>
          <a:noFill/>
          <a:ln/>
        </p:spPr>
        <p:txBody>
          <a:bodyPr wrap="square" rtlCol="0" anchor="ctr"/>
          <a:lstStyle/>
          <a:p>
            <a:pPr marL="0" indent="0" algn="ctr">
              <a:buNone/>
            </a:pPr>
            <a:r>
              <a:rPr lang="en-US" sz="1500" b="1" dirty="0">
                <a:solidFill>
                  <a:srgbClr val="EAF4FF"/>
                </a:solidFill>
                <a:latin typeface="Trebuchet MS" pitchFamily="34" charset="0"/>
                <a:ea typeface="Trebuchet MS" pitchFamily="34" charset="-122"/>
                <a:cs typeface="Trebuchet MS" pitchFamily="34" charset="-120"/>
              </a:rPr>
              <a:t>HART</a:t>
            </a:r>
            <a:endParaRPr lang="en-US" sz="1500" dirty="0"/>
          </a:p>
        </p:txBody>
      </p:sp>
      <p:sp>
        <p:nvSpPr>
          <p:cNvPr id="17" name="Text 15"/>
          <p:cNvSpPr/>
          <p:nvPr/>
        </p:nvSpPr>
        <p:spPr>
          <a:xfrm>
            <a:off x="2779776" y="2852928"/>
            <a:ext cx="1664208" cy="960120"/>
          </a:xfrm>
          <a:prstGeom prst="rect">
            <a:avLst/>
          </a:prstGeom>
          <a:noFill/>
          <a:ln/>
        </p:spPr>
        <p:txBody>
          <a:bodyPr wrap="square" rtlCol="0" anchor="t"/>
          <a:lstStyle/>
          <a:p>
            <a:pPr marL="0" indent="0" algn="ctr">
              <a:buNone/>
            </a:pPr>
            <a:r>
              <a:rPr lang="en-US" sz="1150" dirty="0">
                <a:solidFill>
                  <a:srgbClr val="9FB6D6"/>
                </a:solidFill>
                <a:latin typeface="Calibri" pitchFamily="34" charset="0"/>
                <a:ea typeface="Calibri" pitchFamily="34" charset="-122"/>
                <a:cs typeface="Calibri" pitchFamily="34" charset="-120"/>
              </a:rPr>
              <a:t>Digital data over the analog loop; slow.</a:t>
            </a:r>
            <a:endParaRPr lang="en-US" sz="1150" dirty="0"/>
          </a:p>
        </p:txBody>
      </p:sp>
      <p:sp>
        <p:nvSpPr>
          <p:cNvPr id="18" name="Text 16"/>
          <p:cNvSpPr/>
          <p:nvPr/>
        </p:nvSpPr>
        <p:spPr>
          <a:xfrm>
            <a:off x="5074920" y="1078992"/>
            <a:ext cx="1645920" cy="365760"/>
          </a:xfrm>
          <a:prstGeom prst="rect">
            <a:avLst/>
          </a:prstGeom>
          <a:noFill/>
          <a:ln/>
        </p:spPr>
        <p:txBody>
          <a:bodyPr wrap="square" rtlCol="0" anchor="ctr"/>
          <a:lstStyle/>
          <a:p>
            <a:pPr marL="0" indent="0" algn="ctr">
              <a:buNone/>
            </a:pPr>
            <a:r>
              <a:rPr lang="en-US" sz="1600" b="1" dirty="0">
                <a:solidFill>
                  <a:srgbClr val="9FB6D6"/>
                </a:solidFill>
                <a:latin typeface="Trebuchet MS" pitchFamily="34" charset="0"/>
                <a:ea typeface="Trebuchet MS" pitchFamily="34" charset="-122"/>
                <a:cs typeface="Trebuchet MS" pitchFamily="34" charset="-120"/>
              </a:rPr>
              <a:t>1990s</a:t>
            </a:r>
            <a:endParaRPr lang="en-US" sz="1600" dirty="0"/>
          </a:p>
        </p:txBody>
      </p:sp>
      <p:sp>
        <p:nvSpPr>
          <p:cNvPr id="19" name="Shape 17"/>
          <p:cNvSpPr/>
          <p:nvPr/>
        </p:nvSpPr>
        <p:spPr>
          <a:xfrm>
            <a:off x="5751576" y="1636776"/>
            <a:ext cx="292608" cy="292608"/>
          </a:xfrm>
          <a:prstGeom prst="ellipse">
            <a:avLst/>
          </a:prstGeom>
          <a:solidFill>
            <a:srgbClr val="0A1832"/>
          </a:solidFill>
          <a:ln w="31750">
            <a:solidFill>
              <a:srgbClr val="22D3EE"/>
            </a:solidFill>
            <a:prstDash val="solid"/>
          </a:ln>
        </p:spPr>
        <p:txBody>
          <a:bodyPr/>
          <a:lstStyle/>
          <a:p>
            <a:endParaRPr lang="en-DE"/>
          </a:p>
        </p:txBody>
      </p:sp>
      <p:sp>
        <p:nvSpPr>
          <p:cNvPr id="20" name="Shape 18"/>
          <p:cNvSpPr/>
          <p:nvPr/>
        </p:nvSpPr>
        <p:spPr>
          <a:xfrm>
            <a:off x="4937760" y="2276856"/>
            <a:ext cx="1920240" cy="1600200"/>
          </a:xfrm>
          <a:prstGeom prst="roundRect">
            <a:avLst>
              <a:gd name="adj" fmla="val 4571"/>
            </a:avLst>
          </a:prstGeom>
          <a:solidFill>
            <a:srgbClr val="13294F"/>
          </a:solidFill>
          <a:ln w="12700">
            <a:solidFill>
              <a:srgbClr val="23457F"/>
            </a:solidFill>
            <a:prstDash val="solid"/>
          </a:ln>
          <a:effectLst>
            <a:outerShdw blurRad="114300" dist="38100" dir="5400000" algn="bl" rotWithShape="0">
              <a:srgbClr val="020912">
                <a:alpha val="45000"/>
              </a:srgbClr>
            </a:outerShdw>
          </a:effectLst>
        </p:spPr>
        <p:txBody>
          <a:bodyPr/>
          <a:lstStyle/>
          <a:p>
            <a:endParaRPr lang="en-DE"/>
          </a:p>
        </p:txBody>
      </p:sp>
      <p:sp>
        <p:nvSpPr>
          <p:cNvPr id="21" name="Shape 19"/>
          <p:cNvSpPr/>
          <p:nvPr/>
        </p:nvSpPr>
        <p:spPr>
          <a:xfrm>
            <a:off x="5897880" y="1929384"/>
            <a:ext cx="0" cy="310896"/>
          </a:xfrm>
          <a:prstGeom prst="line">
            <a:avLst/>
          </a:prstGeom>
          <a:noFill/>
          <a:ln w="25400">
            <a:solidFill>
              <a:srgbClr val="22D3EE"/>
            </a:solidFill>
            <a:prstDash val="solid"/>
          </a:ln>
        </p:spPr>
        <p:txBody>
          <a:bodyPr/>
          <a:lstStyle/>
          <a:p>
            <a:endParaRPr lang="en-DE"/>
          </a:p>
        </p:txBody>
      </p:sp>
      <p:sp>
        <p:nvSpPr>
          <p:cNvPr id="22" name="Text 20"/>
          <p:cNvSpPr/>
          <p:nvPr/>
        </p:nvSpPr>
        <p:spPr>
          <a:xfrm>
            <a:off x="5029200" y="2395728"/>
            <a:ext cx="1737360" cy="457200"/>
          </a:xfrm>
          <a:prstGeom prst="rect">
            <a:avLst/>
          </a:prstGeom>
          <a:noFill/>
          <a:ln/>
        </p:spPr>
        <p:txBody>
          <a:bodyPr wrap="square" rtlCol="0" anchor="ctr"/>
          <a:lstStyle/>
          <a:p>
            <a:pPr marL="0" indent="0" algn="ctr">
              <a:buNone/>
            </a:pPr>
            <a:r>
              <a:rPr lang="en-US" sz="1500" b="1" dirty="0">
                <a:solidFill>
                  <a:srgbClr val="EAF4FF"/>
                </a:solidFill>
                <a:latin typeface="Trebuchet MS" pitchFamily="34" charset="0"/>
                <a:ea typeface="Trebuchet MS" pitchFamily="34" charset="-122"/>
                <a:cs typeface="Trebuchet MS" pitchFamily="34" charset="-120"/>
              </a:rPr>
              <a:t>PROFIBUS PA</a:t>
            </a:r>
            <a:endParaRPr lang="en-US" sz="1500" dirty="0"/>
          </a:p>
        </p:txBody>
      </p:sp>
      <p:sp>
        <p:nvSpPr>
          <p:cNvPr id="23" name="Text 21"/>
          <p:cNvSpPr/>
          <p:nvPr/>
        </p:nvSpPr>
        <p:spPr>
          <a:xfrm>
            <a:off x="5065776" y="2852928"/>
            <a:ext cx="1664208" cy="960120"/>
          </a:xfrm>
          <a:prstGeom prst="rect">
            <a:avLst/>
          </a:prstGeom>
          <a:noFill/>
          <a:ln/>
        </p:spPr>
        <p:txBody>
          <a:bodyPr wrap="square" rtlCol="0" anchor="t"/>
          <a:lstStyle/>
          <a:p>
            <a:pPr marL="0" indent="0" algn="ctr">
              <a:buNone/>
            </a:pPr>
            <a:r>
              <a:rPr lang="en-US" sz="1150" dirty="0">
                <a:solidFill>
                  <a:srgbClr val="9FB6D6"/>
                </a:solidFill>
                <a:latin typeface="Calibri" pitchFamily="34" charset="0"/>
                <a:ea typeface="Calibri" pitchFamily="34" charset="-122"/>
                <a:cs typeface="Calibri" pitchFamily="34" charset="-120"/>
              </a:rPr>
              <a:t>Digital fieldbus; limited bandwidth.</a:t>
            </a:r>
            <a:endParaRPr lang="en-US" sz="1150" dirty="0"/>
          </a:p>
        </p:txBody>
      </p:sp>
      <p:sp>
        <p:nvSpPr>
          <p:cNvPr id="24" name="Text 22"/>
          <p:cNvSpPr/>
          <p:nvPr/>
        </p:nvSpPr>
        <p:spPr>
          <a:xfrm>
            <a:off x="7360920" y="1078992"/>
            <a:ext cx="1645920" cy="365760"/>
          </a:xfrm>
          <a:prstGeom prst="rect">
            <a:avLst/>
          </a:prstGeom>
          <a:noFill/>
          <a:ln/>
        </p:spPr>
        <p:txBody>
          <a:bodyPr wrap="square" rtlCol="0" anchor="ctr"/>
          <a:lstStyle/>
          <a:p>
            <a:pPr marL="0" indent="0" algn="ctr">
              <a:buNone/>
            </a:pPr>
            <a:r>
              <a:rPr lang="en-US" sz="1600" b="1" dirty="0">
                <a:solidFill>
                  <a:srgbClr val="22D3EE"/>
                </a:solidFill>
                <a:latin typeface="Trebuchet MS" pitchFamily="34" charset="0"/>
                <a:ea typeface="Trebuchet MS" pitchFamily="34" charset="-122"/>
                <a:cs typeface="Trebuchet MS" pitchFamily="34" charset="-120"/>
              </a:rPr>
              <a:t>2022</a:t>
            </a:r>
            <a:endParaRPr lang="en-US" sz="1600" dirty="0"/>
          </a:p>
        </p:txBody>
      </p:sp>
      <p:sp>
        <p:nvSpPr>
          <p:cNvPr id="25" name="Shape 23"/>
          <p:cNvSpPr/>
          <p:nvPr/>
        </p:nvSpPr>
        <p:spPr>
          <a:xfrm>
            <a:off x="7936992" y="1633510"/>
            <a:ext cx="292608" cy="292608"/>
          </a:xfrm>
          <a:prstGeom prst="ellipse">
            <a:avLst/>
          </a:prstGeom>
          <a:solidFill>
            <a:srgbClr val="22D3EE"/>
          </a:solidFill>
          <a:ln w="31750">
            <a:solidFill>
              <a:srgbClr val="22D3EE"/>
            </a:solidFill>
            <a:prstDash val="solid"/>
          </a:ln>
          <a:effectLst>
            <a:outerShdw blurRad="152400" dist="50800" dir="16200000" algn="bl" rotWithShape="0">
              <a:srgbClr val="22D3EE">
                <a:alpha val="45000"/>
              </a:srgbClr>
            </a:outerShdw>
          </a:effectLst>
        </p:spPr>
        <p:txBody>
          <a:bodyPr/>
          <a:lstStyle/>
          <a:p>
            <a:endParaRPr lang="en-DE"/>
          </a:p>
        </p:txBody>
      </p:sp>
      <p:sp>
        <p:nvSpPr>
          <p:cNvPr id="26" name="Shape 24"/>
          <p:cNvSpPr/>
          <p:nvPr/>
        </p:nvSpPr>
        <p:spPr>
          <a:xfrm>
            <a:off x="7095744" y="2276856"/>
            <a:ext cx="1920240" cy="1600200"/>
          </a:xfrm>
          <a:prstGeom prst="roundRect">
            <a:avLst>
              <a:gd name="adj" fmla="val 4571"/>
            </a:avLst>
          </a:prstGeom>
          <a:solidFill>
            <a:srgbClr val="0D3A4A"/>
          </a:solidFill>
          <a:ln w="22225">
            <a:solidFill>
              <a:srgbClr val="22D3EE"/>
            </a:solidFill>
            <a:prstDash val="solid"/>
          </a:ln>
          <a:effectLst>
            <a:outerShdw blurRad="114300" dist="38100" dir="5400000" algn="bl" rotWithShape="0">
              <a:srgbClr val="020912">
                <a:alpha val="45000"/>
              </a:srgbClr>
            </a:outerShdw>
          </a:effectLst>
        </p:spPr>
        <p:txBody>
          <a:bodyPr/>
          <a:lstStyle/>
          <a:p>
            <a:endParaRPr lang="en-DE"/>
          </a:p>
        </p:txBody>
      </p:sp>
      <p:sp>
        <p:nvSpPr>
          <p:cNvPr id="27" name="Shape 25"/>
          <p:cNvSpPr/>
          <p:nvPr/>
        </p:nvSpPr>
        <p:spPr>
          <a:xfrm>
            <a:off x="8083296" y="1926118"/>
            <a:ext cx="0" cy="310896"/>
          </a:xfrm>
          <a:prstGeom prst="line">
            <a:avLst/>
          </a:prstGeom>
          <a:noFill/>
          <a:ln w="25400">
            <a:solidFill>
              <a:srgbClr val="22D3EE"/>
            </a:solidFill>
            <a:prstDash val="solid"/>
          </a:ln>
        </p:spPr>
        <p:txBody>
          <a:bodyPr/>
          <a:lstStyle/>
          <a:p>
            <a:endParaRPr lang="en-DE"/>
          </a:p>
        </p:txBody>
      </p:sp>
      <p:sp>
        <p:nvSpPr>
          <p:cNvPr id="28" name="Text 26"/>
          <p:cNvSpPr/>
          <p:nvPr/>
        </p:nvSpPr>
        <p:spPr>
          <a:xfrm>
            <a:off x="7315200" y="2395728"/>
            <a:ext cx="1737360" cy="457200"/>
          </a:xfrm>
          <a:prstGeom prst="rect">
            <a:avLst/>
          </a:prstGeom>
          <a:noFill/>
          <a:ln/>
        </p:spPr>
        <p:txBody>
          <a:bodyPr wrap="square" rtlCol="0" anchor="ctr"/>
          <a:lstStyle/>
          <a:p>
            <a:pPr marL="0" indent="0" algn="ctr">
              <a:buNone/>
            </a:pPr>
            <a:r>
              <a:rPr lang="en-US" sz="1500" b="1" dirty="0">
                <a:solidFill>
                  <a:srgbClr val="22D3EE"/>
                </a:solidFill>
                <a:latin typeface="Trebuchet MS" pitchFamily="34" charset="0"/>
                <a:ea typeface="Trebuchet MS" pitchFamily="34" charset="-122"/>
                <a:cs typeface="Trebuchet MS" pitchFamily="34" charset="-120"/>
              </a:rPr>
              <a:t>Ethernet-APL</a:t>
            </a:r>
            <a:endParaRPr lang="en-US" sz="1500" dirty="0"/>
          </a:p>
        </p:txBody>
      </p:sp>
      <p:sp>
        <p:nvSpPr>
          <p:cNvPr id="29" name="Text 27"/>
          <p:cNvSpPr/>
          <p:nvPr/>
        </p:nvSpPr>
        <p:spPr>
          <a:xfrm>
            <a:off x="7351776" y="2852928"/>
            <a:ext cx="1664208" cy="960120"/>
          </a:xfrm>
          <a:prstGeom prst="rect">
            <a:avLst/>
          </a:prstGeom>
          <a:noFill/>
          <a:ln/>
        </p:spPr>
        <p:txBody>
          <a:bodyPr wrap="square" rtlCol="0" anchor="t"/>
          <a:lstStyle/>
          <a:p>
            <a:pPr marL="0" indent="0" algn="ctr">
              <a:buNone/>
            </a:pPr>
            <a:r>
              <a:rPr lang="en-US" sz="1150" dirty="0">
                <a:solidFill>
                  <a:srgbClr val="CFF3FF"/>
                </a:solidFill>
                <a:latin typeface="Calibri" pitchFamily="34" charset="0"/>
                <a:ea typeface="Calibri" pitchFamily="34" charset="-122"/>
                <a:cs typeface="Calibri" pitchFamily="34" charset="-120"/>
              </a:rPr>
              <a:t>Ethernet speed + intrinsic safety.</a:t>
            </a:r>
            <a:endParaRPr lang="en-US" sz="1150" dirty="0"/>
          </a:p>
        </p:txBody>
      </p:sp>
      <p:sp>
        <p:nvSpPr>
          <p:cNvPr id="30" name="Shape 28"/>
          <p:cNvSpPr/>
          <p:nvPr/>
        </p:nvSpPr>
        <p:spPr>
          <a:xfrm>
            <a:off x="493776" y="4206241"/>
            <a:ext cx="8522208" cy="630936"/>
          </a:xfrm>
          <a:prstGeom prst="roundRect">
            <a:avLst>
              <a:gd name="adj" fmla="val 12821"/>
            </a:avLst>
          </a:prstGeom>
          <a:solidFill>
            <a:srgbClr val="22D3EE"/>
          </a:solidFill>
          <a:ln/>
        </p:spPr>
        <p:txBody>
          <a:bodyPr/>
          <a:lstStyle/>
          <a:p>
            <a:pPr algn="just"/>
            <a:endParaRPr lang="en-DE" dirty="0"/>
          </a:p>
        </p:txBody>
      </p:sp>
      <p:sp>
        <p:nvSpPr>
          <p:cNvPr id="31" name="Text 29"/>
          <p:cNvSpPr/>
          <p:nvPr/>
        </p:nvSpPr>
        <p:spPr>
          <a:xfrm>
            <a:off x="777240" y="4206240"/>
            <a:ext cx="7589520" cy="713232"/>
          </a:xfrm>
          <a:prstGeom prst="rect">
            <a:avLst/>
          </a:prstGeom>
          <a:noFill/>
          <a:ln/>
        </p:spPr>
        <p:txBody>
          <a:bodyPr wrap="square" rtlCol="0" anchor="ctr"/>
          <a:lstStyle/>
          <a:p>
            <a:pPr marL="0" indent="0" algn="l">
              <a:buNone/>
            </a:pPr>
            <a:r>
              <a:rPr lang="en-US" sz="1450" b="1" dirty="0">
                <a:solidFill>
                  <a:srgbClr val="07122A"/>
                </a:solidFill>
                <a:latin typeface="Calibri" pitchFamily="34" charset="0"/>
                <a:ea typeface="Calibri" pitchFamily="34" charset="-122"/>
                <a:cs typeface="Calibri" pitchFamily="34" charset="-120"/>
              </a:rPr>
              <a:t>Key message:  Ethernet-APL is the first technology that combines Ethernet speed with intrinsic safety.</a:t>
            </a:r>
            <a:endParaRPr lang="en-US" sz="1450" dirty="0"/>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832"/>
        </a:solidFill>
        <a:effectLst/>
      </p:bgPr>
    </p:bg>
    <p:spTree>
      <p:nvGrpSpPr>
        <p:cNvPr id="1" name=""/>
        <p:cNvGrpSpPr/>
        <p:nvPr/>
      </p:nvGrpSpPr>
      <p:grpSpPr>
        <a:xfrm>
          <a:off x="0" y="0"/>
          <a:ext cx="0" cy="0"/>
          <a:chOff x="0" y="0"/>
          <a:chExt cx="0" cy="0"/>
        </a:xfrm>
      </p:grpSpPr>
      <p:sp>
        <p:nvSpPr>
          <p:cNvPr id="2" name="Shape 0"/>
          <p:cNvSpPr/>
          <p:nvPr/>
        </p:nvSpPr>
        <p:spPr>
          <a:xfrm>
            <a:off x="502920" y="384048"/>
            <a:ext cx="146304" cy="457200"/>
          </a:xfrm>
          <a:prstGeom prst="rect">
            <a:avLst/>
          </a:prstGeom>
          <a:solidFill>
            <a:srgbClr val="22D3EE"/>
          </a:solidFill>
          <a:ln/>
        </p:spPr>
        <p:txBody>
          <a:bodyPr/>
          <a:lstStyle/>
          <a:p>
            <a:endParaRPr lang="en-DE"/>
          </a:p>
        </p:txBody>
      </p:sp>
      <p:sp>
        <p:nvSpPr>
          <p:cNvPr id="3" name="Text 1"/>
          <p:cNvSpPr/>
          <p:nvPr/>
        </p:nvSpPr>
        <p:spPr>
          <a:xfrm>
            <a:off x="777240" y="310896"/>
            <a:ext cx="7863840" cy="640080"/>
          </a:xfrm>
          <a:prstGeom prst="rect">
            <a:avLst/>
          </a:prstGeom>
          <a:noFill/>
          <a:ln/>
        </p:spPr>
        <p:txBody>
          <a:bodyPr wrap="square" lIns="0" tIns="0" rIns="0" bIns="0" rtlCol="0" anchor="ctr"/>
          <a:lstStyle/>
          <a:p>
            <a:pPr marL="0" indent="0" algn="l">
              <a:buNone/>
            </a:pPr>
            <a:r>
              <a:rPr lang="en-US" sz="2700" b="1" dirty="0">
                <a:solidFill>
                  <a:srgbClr val="EAF4FF"/>
                </a:solidFill>
                <a:latin typeface="Trebuchet MS" pitchFamily="34" charset="0"/>
                <a:ea typeface="Trebuchet MS" pitchFamily="34" charset="-122"/>
                <a:cs typeface="Trebuchet MS" pitchFamily="34" charset="-120"/>
              </a:rPr>
              <a:t>Ethernet-APL Architecture</a:t>
            </a:r>
            <a:endParaRPr lang="en-US" sz="2700" dirty="0"/>
          </a:p>
        </p:txBody>
      </p:sp>
      <p:sp>
        <p:nvSpPr>
          <p:cNvPr id="4" name="Text 2"/>
          <p:cNvSpPr/>
          <p:nvPr/>
        </p:nvSpPr>
        <p:spPr>
          <a:xfrm>
            <a:off x="8321040" y="384048"/>
            <a:ext cx="548640" cy="457200"/>
          </a:xfrm>
          <a:prstGeom prst="rect">
            <a:avLst/>
          </a:prstGeom>
          <a:noFill/>
          <a:ln/>
        </p:spPr>
        <p:txBody>
          <a:bodyPr wrap="square" rtlCol="0" anchor="ctr"/>
          <a:lstStyle/>
          <a:p>
            <a:pPr marL="0" indent="0" algn="r">
              <a:buNone/>
            </a:pPr>
            <a:r>
              <a:rPr lang="en-US" sz="1200" b="1" dirty="0">
                <a:solidFill>
                  <a:srgbClr val="22D3EE"/>
                </a:solidFill>
                <a:latin typeface="Trebuchet MS" pitchFamily="34" charset="0"/>
                <a:ea typeface="Trebuchet MS" pitchFamily="34" charset="-122"/>
                <a:cs typeface="Trebuchet MS" pitchFamily="34" charset="-120"/>
              </a:rPr>
              <a:t>04</a:t>
            </a:r>
            <a:endParaRPr lang="en-US" sz="1200" dirty="0"/>
          </a:p>
        </p:txBody>
      </p:sp>
      <p:sp>
        <p:nvSpPr>
          <p:cNvPr id="5" name="Shape 3"/>
          <p:cNvSpPr/>
          <p:nvPr/>
        </p:nvSpPr>
        <p:spPr>
          <a:xfrm>
            <a:off x="914400" y="1078992"/>
            <a:ext cx="3108960" cy="402336"/>
          </a:xfrm>
          <a:prstGeom prst="roundRect">
            <a:avLst>
              <a:gd name="adj" fmla="val 13636"/>
            </a:avLst>
          </a:prstGeom>
          <a:solidFill>
            <a:srgbClr val="16335E"/>
          </a:solidFill>
          <a:ln w="12700">
            <a:solidFill>
              <a:srgbClr val="23457F"/>
            </a:solidFill>
            <a:prstDash val="solid"/>
          </a:ln>
          <a:effectLst>
            <a:outerShdw blurRad="114300" dist="38100" dir="5400000" algn="bl" rotWithShape="0">
              <a:srgbClr val="020912">
                <a:alpha val="45000"/>
              </a:srgbClr>
            </a:outerShdw>
          </a:effectLst>
        </p:spPr>
        <p:txBody>
          <a:bodyPr/>
          <a:lstStyle/>
          <a:p>
            <a:endParaRPr lang="en-DE"/>
          </a:p>
        </p:txBody>
      </p:sp>
      <p:sp>
        <p:nvSpPr>
          <p:cNvPr id="6" name="Text 4"/>
          <p:cNvSpPr/>
          <p:nvPr/>
        </p:nvSpPr>
        <p:spPr>
          <a:xfrm>
            <a:off x="960120" y="1078992"/>
            <a:ext cx="3017520" cy="402336"/>
          </a:xfrm>
          <a:prstGeom prst="rect">
            <a:avLst/>
          </a:prstGeom>
          <a:noFill/>
          <a:ln/>
        </p:spPr>
        <p:txBody>
          <a:bodyPr wrap="square" lIns="0" tIns="0" rIns="0" bIns="0" rtlCol="0" anchor="ctr"/>
          <a:lstStyle/>
          <a:p>
            <a:pPr marL="0" indent="0" algn="ctr">
              <a:buNone/>
            </a:pPr>
            <a:r>
              <a:rPr lang="en-US" sz="1300" b="1" dirty="0">
                <a:solidFill>
                  <a:srgbClr val="EAF4FF"/>
                </a:solidFill>
                <a:latin typeface="Trebuchet MS" pitchFamily="34" charset="0"/>
                <a:ea typeface="Trebuchet MS" pitchFamily="34" charset="-122"/>
                <a:cs typeface="Trebuchet MS" pitchFamily="34" charset="-120"/>
              </a:rPr>
              <a:t>CLOUD</a:t>
            </a:r>
            <a:endParaRPr lang="en-US" sz="1300" dirty="0"/>
          </a:p>
        </p:txBody>
      </p:sp>
      <p:sp>
        <p:nvSpPr>
          <p:cNvPr id="7" name="Shape 5"/>
          <p:cNvSpPr/>
          <p:nvPr/>
        </p:nvSpPr>
        <p:spPr>
          <a:xfrm>
            <a:off x="2468880" y="1481328"/>
            <a:ext cx="0" cy="109728"/>
          </a:xfrm>
          <a:prstGeom prst="line">
            <a:avLst/>
          </a:prstGeom>
          <a:noFill/>
          <a:ln w="25400">
            <a:solidFill>
              <a:srgbClr val="22D3EE"/>
            </a:solidFill>
            <a:prstDash val="solid"/>
          </a:ln>
        </p:spPr>
        <p:txBody>
          <a:bodyPr/>
          <a:lstStyle/>
          <a:p>
            <a:endParaRPr lang="en-DE"/>
          </a:p>
        </p:txBody>
      </p:sp>
      <p:sp>
        <p:nvSpPr>
          <p:cNvPr id="8" name="Shape 6"/>
          <p:cNvSpPr/>
          <p:nvPr/>
        </p:nvSpPr>
        <p:spPr>
          <a:xfrm>
            <a:off x="914400" y="1591056"/>
            <a:ext cx="3108960" cy="402336"/>
          </a:xfrm>
          <a:prstGeom prst="roundRect">
            <a:avLst>
              <a:gd name="adj" fmla="val 13636"/>
            </a:avLst>
          </a:prstGeom>
          <a:solidFill>
            <a:srgbClr val="13294F"/>
          </a:solidFill>
          <a:ln w="12700">
            <a:solidFill>
              <a:srgbClr val="23457F"/>
            </a:solidFill>
            <a:prstDash val="solid"/>
          </a:ln>
          <a:effectLst>
            <a:outerShdw blurRad="114300" dist="38100" dir="5400000" algn="bl" rotWithShape="0">
              <a:srgbClr val="020912">
                <a:alpha val="45000"/>
              </a:srgbClr>
            </a:outerShdw>
          </a:effectLst>
        </p:spPr>
        <p:txBody>
          <a:bodyPr/>
          <a:lstStyle/>
          <a:p>
            <a:endParaRPr lang="en-DE"/>
          </a:p>
        </p:txBody>
      </p:sp>
      <p:sp>
        <p:nvSpPr>
          <p:cNvPr id="9" name="Text 7"/>
          <p:cNvSpPr/>
          <p:nvPr/>
        </p:nvSpPr>
        <p:spPr>
          <a:xfrm>
            <a:off x="960120" y="1591056"/>
            <a:ext cx="3017520" cy="402336"/>
          </a:xfrm>
          <a:prstGeom prst="rect">
            <a:avLst/>
          </a:prstGeom>
          <a:noFill/>
          <a:ln/>
        </p:spPr>
        <p:txBody>
          <a:bodyPr wrap="square" lIns="0" tIns="0" rIns="0" bIns="0" rtlCol="0" anchor="ctr"/>
          <a:lstStyle/>
          <a:p>
            <a:pPr marL="0" indent="0" algn="ctr">
              <a:buNone/>
            </a:pPr>
            <a:r>
              <a:rPr lang="en-US" sz="1300" b="1" dirty="0">
                <a:solidFill>
                  <a:srgbClr val="EAF4FF"/>
                </a:solidFill>
                <a:latin typeface="Trebuchet MS" pitchFamily="34" charset="0"/>
                <a:ea typeface="Trebuchet MS" pitchFamily="34" charset="-122"/>
                <a:cs typeface="Trebuchet MS" pitchFamily="34" charset="-120"/>
              </a:rPr>
              <a:t>ERP</a:t>
            </a:r>
            <a:endParaRPr lang="en-US" sz="1300" dirty="0"/>
          </a:p>
        </p:txBody>
      </p:sp>
      <p:sp>
        <p:nvSpPr>
          <p:cNvPr id="10" name="Shape 8"/>
          <p:cNvSpPr/>
          <p:nvPr/>
        </p:nvSpPr>
        <p:spPr>
          <a:xfrm>
            <a:off x="2468880" y="1993392"/>
            <a:ext cx="0" cy="109728"/>
          </a:xfrm>
          <a:prstGeom prst="line">
            <a:avLst/>
          </a:prstGeom>
          <a:noFill/>
          <a:ln w="25400">
            <a:solidFill>
              <a:srgbClr val="22D3EE"/>
            </a:solidFill>
            <a:prstDash val="solid"/>
          </a:ln>
        </p:spPr>
        <p:txBody>
          <a:bodyPr/>
          <a:lstStyle/>
          <a:p>
            <a:endParaRPr lang="en-DE"/>
          </a:p>
        </p:txBody>
      </p:sp>
      <p:sp>
        <p:nvSpPr>
          <p:cNvPr id="11" name="Shape 9"/>
          <p:cNvSpPr/>
          <p:nvPr/>
        </p:nvSpPr>
        <p:spPr>
          <a:xfrm>
            <a:off x="914400" y="2103120"/>
            <a:ext cx="3108960" cy="402336"/>
          </a:xfrm>
          <a:prstGeom prst="roundRect">
            <a:avLst>
              <a:gd name="adj" fmla="val 13636"/>
            </a:avLst>
          </a:prstGeom>
          <a:solidFill>
            <a:srgbClr val="13294F"/>
          </a:solidFill>
          <a:ln w="12700">
            <a:solidFill>
              <a:srgbClr val="23457F"/>
            </a:solidFill>
            <a:prstDash val="solid"/>
          </a:ln>
          <a:effectLst>
            <a:outerShdw blurRad="114300" dist="38100" dir="5400000" algn="bl" rotWithShape="0">
              <a:srgbClr val="020912">
                <a:alpha val="45000"/>
              </a:srgbClr>
            </a:outerShdw>
          </a:effectLst>
        </p:spPr>
        <p:txBody>
          <a:bodyPr/>
          <a:lstStyle/>
          <a:p>
            <a:endParaRPr lang="en-DE"/>
          </a:p>
        </p:txBody>
      </p:sp>
      <p:sp>
        <p:nvSpPr>
          <p:cNvPr id="12" name="Text 10"/>
          <p:cNvSpPr/>
          <p:nvPr/>
        </p:nvSpPr>
        <p:spPr>
          <a:xfrm>
            <a:off x="960120" y="2103120"/>
            <a:ext cx="3017520" cy="402336"/>
          </a:xfrm>
          <a:prstGeom prst="rect">
            <a:avLst/>
          </a:prstGeom>
          <a:noFill/>
          <a:ln/>
        </p:spPr>
        <p:txBody>
          <a:bodyPr wrap="square" lIns="0" tIns="0" rIns="0" bIns="0" rtlCol="0" anchor="ctr"/>
          <a:lstStyle/>
          <a:p>
            <a:pPr marL="0" indent="0" algn="ctr">
              <a:buNone/>
            </a:pPr>
            <a:r>
              <a:rPr lang="en-US" sz="1300" b="1" dirty="0">
                <a:solidFill>
                  <a:srgbClr val="EAF4FF"/>
                </a:solidFill>
                <a:latin typeface="Trebuchet MS" pitchFamily="34" charset="0"/>
                <a:ea typeface="Trebuchet MS" pitchFamily="34" charset="-122"/>
                <a:cs typeface="Trebuchet MS" pitchFamily="34" charset="-120"/>
              </a:rPr>
              <a:t>SCADA</a:t>
            </a:r>
            <a:endParaRPr lang="en-US" sz="1300" dirty="0"/>
          </a:p>
        </p:txBody>
      </p:sp>
      <p:sp>
        <p:nvSpPr>
          <p:cNvPr id="13" name="Shape 11"/>
          <p:cNvSpPr/>
          <p:nvPr/>
        </p:nvSpPr>
        <p:spPr>
          <a:xfrm>
            <a:off x="2468880" y="2505456"/>
            <a:ext cx="0" cy="109728"/>
          </a:xfrm>
          <a:prstGeom prst="line">
            <a:avLst/>
          </a:prstGeom>
          <a:noFill/>
          <a:ln w="25400">
            <a:solidFill>
              <a:srgbClr val="22D3EE"/>
            </a:solidFill>
            <a:prstDash val="solid"/>
          </a:ln>
        </p:spPr>
        <p:txBody>
          <a:bodyPr/>
          <a:lstStyle/>
          <a:p>
            <a:endParaRPr lang="en-DE"/>
          </a:p>
        </p:txBody>
      </p:sp>
      <p:sp>
        <p:nvSpPr>
          <p:cNvPr id="14" name="Shape 12"/>
          <p:cNvSpPr/>
          <p:nvPr/>
        </p:nvSpPr>
        <p:spPr>
          <a:xfrm>
            <a:off x="914400" y="2615184"/>
            <a:ext cx="3108960" cy="402336"/>
          </a:xfrm>
          <a:prstGeom prst="roundRect">
            <a:avLst>
              <a:gd name="adj" fmla="val 13636"/>
            </a:avLst>
          </a:prstGeom>
          <a:solidFill>
            <a:srgbClr val="13294F"/>
          </a:solidFill>
          <a:ln w="12700">
            <a:solidFill>
              <a:srgbClr val="23457F"/>
            </a:solidFill>
            <a:prstDash val="solid"/>
          </a:ln>
          <a:effectLst>
            <a:outerShdw blurRad="114300" dist="38100" dir="5400000" algn="bl" rotWithShape="0">
              <a:srgbClr val="020912">
                <a:alpha val="45000"/>
              </a:srgbClr>
            </a:outerShdw>
          </a:effectLst>
        </p:spPr>
        <p:txBody>
          <a:bodyPr/>
          <a:lstStyle/>
          <a:p>
            <a:endParaRPr lang="en-DE"/>
          </a:p>
        </p:txBody>
      </p:sp>
      <p:sp>
        <p:nvSpPr>
          <p:cNvPr id="15" name="Text 13"/>
          <p:cNvSpPr/>
          <p:nvPr/>
        </p:nvSpPr>
        <p:spPr>
          <a:xfrm>
            <a:off x="960120" y="2615184"/>
            <a:ext cx="3017520" cy="402336"/>
          </a:xfrm>
          <a:prstGeom prst="rect">
            <a:avLst/>
          </a:prstGeom>
          <a:noFill/>
          <a:ln/>
        </p:spPr>
        <p:txBody>
          <a:bodyPr wrap="square" lIns="0" tIns="0" rIns="0" bIns="0" rtlCol="0" anchor="ctr"/>
          <a:lstStyle/>
          <a:p>
            <a:pPr marL="0" indent="0" algn="ctr">
              <a:buNone/>
            </a:pPr>
            <a:r>
              <a:rPr lang="en-US" sz="1300" b="1" dirty="0">
                <a:solidFill>
                  <a:srgbClr val="EAF4FF"/>
                </a:solidFill>
                <a:latin typeface="Trebuchet MS" pitchFamily="34" charset="0"/>
                <a:ea typeface="Trebuchet MS" pitchFamily="34" charset="-122"/>
                <a:cs typeface="Trebuchet MS" pitchFamily="34" charset="-120"/>
              </a:rPr>
              <a:t>POWER SWITCH</a:t>
            </a:r>
            <a:endParaRPr lang="en-US" sz="1300" dirty="0"/>
          </a:p>
        </p:txBody>
      </p:sp>
      <p:sp>
        <p:nvSpPr>
          <p:cNvPr id="16" name="Shape 14"/>
          <p:cNvSpPr/>
          <p:nvPr/>
        </p:nvSpPr>
        <p:spPr>
          <a:xfrm>
            <a:off x="2468880" y="3017520"/>
            <a:ext cx="0" cy="109728"/>
          </a:xfrm>
          <a:prstGeom prst="line">
            <a:avLst/>
          </a:prstGeom>
          <a:noFill/>
          <a:ln w="25400">
            <a:solidFill>
              <a:srgbClr val="22D3EE"/>
            </a:solidFill>
            <a:prstDash val="solid"/>
          </a:ln>
        </p:spPr>
        <p:txBody>
          <a:bodyPr/>
          <a:lstStyle/>
          <a:p>
            <a:endParaRPr lang="en-DE"/>
          </a:p>
        </p:txBody>
      </p:sp>
      <p:sp>
        <p:nvSpPr>
          <p:cNvPr id="17" name="Shape 15"/>
          <p:cNvSpPr/>
          <p:nvPr/>
        </p:nvSpPr>
        <p:spPr>
          <a:xfrm>
            <a:off x="777240" y="3127248"/>
            <a:ext cx="3383280" cy="457200"/>
          </a:xfrm>
          <a:prstGeom prst="roundRect">
            <a:avLst>
              <a:gd name="adj" fmla="val 12000"/>
            </a:avLst>
          </a:prstGeom>
          <a:solidFill>
            <a:srgbClr val="22D3EE"/>
          </a:solidFill>
          <a:ln/>
        </p:spPr>
        <p:txBody>
          <a:bodyPr/>
          <a:lstStyle/>
          <a:p>
            <a:endParaRPr lang="en-DE"/>
          </a:p>
        </p:txBody>
      </p:sp>
      <p:sp>
        <p:nvSpPr>
          <p:cNvPr id="18" name="Text 16"/>
          <p:cNvSpPr/>
          <p:nvPr/>
        </p:nvSpPr>
        <p:spPr>
          <a:xfrm>
            <a:off x="777240" y="3127248"/>
            <a:ext cx="3383280" cy="457200"/>
          </a:xfrm>
          <a:prstGeom prst="rect">
            <a:avLst/>
          </a:prstGeom>
          <a:noFill/>
          <a:ln/>
        </p:spPr>
        <p:txBody>
          <a:bodyPr wrap="square" rtlCol="0" anchor="ctr"/>
          <a:lstStyle/>
          <a:p>
            <a:pPr marL="0" indent="0" algn="ctr">
              <a:buNone/>
            </a:pPr>
            <a:r>
              <a:rPr lang="en-US" sz="1400" b="1" kern="0" spc="200" dirty="0">
                <a:solidFill>
                  <a:srgbClr val="07122A"/>
                </a:solidFill>
                <a:latin typeface="Trebuchet MS" pitchFamily="34" charset="0"/>
                <a:ea typeface="Trebuchet MS" pitchFamily="34" charset="-122"/>
                <a:cs typeface="Trebuchet MS" pitchFamily="34" charset="-120"/>
              </a:rPr>
              <a:t>TRUNK</a:t>
            </a:r>
            <a:endParaRPr lang="en-US" sz="1400" dirty="0"/>
          </a:p>
        </p:txBody>
      </p:sp>
      <p:sp>
        <p:nvSpPr>
          <p:cNvPr id="19" name="Shape 17"/>
          <p:cNvSpPr/>
          <p:nvPr/>
        </p:nvSpPr>
        <p:spPr>
          <a:xfrm>
            <a:off x="2468880" y="3584448"/>
            <a:ext cx="0" cy="109728"/>
          </a:xfrm>
          <a:prstGeom prst="line">
            <a:avLst/>
          </a:prstGeom>
          <a:noFill/>
          <a:ln w="25400">
            <a:solidFill>
              <a:srgbClr val="22D3EE"/>
            </a:solidFill>
            <a:prstDash val="solid"/>
          </a:ln>
        </p:spPr>
        <p:txBody>
          <a:bodyPr/>
          <a:lstStyle/>
          <a:p>
            <a:endParaRPr lang="en-DE"/>
          </a:p>
        </p:txBody>
      </p:sp>
      <p:sp>
        <p:nvSpPr>
          <p:cNvPr id="20" name="Shape 18"/>
          <p:cNvSpPr/>
          <p:nvPr/>
        </p:nvSpPr>
        <p:spPr>
          <a:xfrm>
            <a:off x="1280160" y="3694176"/>
            <a:ext cx="2377440" cy="402336"/>
          </a:xfrm>
          <a:prstGeom prst="roundRect">
            <a:avLst>
              <a:gd name="adj" fmla="val 13636"/>
            </a:avLst>
          </a:prstGeom>
          <a:solidFill>
            <a:srgbClr val="13294F"/>
          </a:solidFill>
          <a:ln w="12700">
            <a:solidFill>
              <a:srgbClr val="22D3EE"/>
            </a:solidFill>
            <a:prstDash val="solid"/>
          </a:ln>
          <a:effectLst>
            <a:outerShdw blurRad="114300" dist="38100" dir="5400000" algn="bl" rotWithShape="0">
              <a:srgbClr val="020912">
                <a:alpha val="45000"/>
              </a:srgbClr>
            </a:outerShdw>
          </a:effectLst>
        </p:spPr>
        <p:txBody>
          <a:bodyPr/>
          <a:lstStyle/>
          <a:p>
            <a:endParaRPr lang="en-DE"/>
          </a:p>
        </p:txBody>
      </p:sp>
      <p:sp>
        <p:nvSpPr>
          <p:cNvPr id="21" name="Text 19"/>
          <p:cNvSpPr/>
          <p:nvPr/>
        </p:nvSpPr>
        <p:spPr>
          <a:xfrm>
            <a:off x="1325880" y="3694176"/>
            <a:ext cx="2286000" cy="402336"/>
          </a:xfrm>
          <a:prstGeom prst="rect">
            <a:avLst/>
          </a:prstGeom>
          <a:noFill/>
          <a:ln/>
        </p:spPr>
        <p:txBody>
          <a:bodyPr wrap="square" lIns="0" tIns="0" rIns="0" bIns="0" rtlCol="0" anchor="ctr"/>
          <a:lstStyle/>
          <a:p>
            <a:pPr marL="0" indent="0" algn="ctr">
              <a:buNone/>
            </a:pPr>
            <a:r>
              <a:rPr lang="en-US" sz="1300" b="1" dirty="0">
                <a:solidFill>
                  <a:srgbClr val="EAF4FF"/>
                </a:solidFill>
                <a:latin typeface="Trebuchet MS" pitchFamily="34" charset="0"/>
                <a:ea typeface="Trebuchet MS" pitchFamily="34" charset="-122"/>
                <a:cs typeface="Trebuchet MS" pitchFamily="34" charset="-120"/>
              </a:rPr>
              <a:t>FIELD SWITCH</a:t>
            </a:r>
            <a:endParaRPr lang="en-US" sz="1300" dirty="0"/>
          </a:p>
        </p:txBody>
      </p:sp>
      <p:sp>
        <p:nvSpPr>
          <p:cNvPr id="22" name="Shape 20"/>
          <p:cNvSpPr/>
          <p:nvPr/>
        </p:nvSpPr>
        <p:spPr>
          <a:xfrm>
            <a:off x="2468880" y="4096512"/>
            <a:ext cx="0" cy="164592"/>
          </a:xfrm>
          <a:prstGeom prst="line">
            <a:avLst/>
          </a:prstGeom>
          <a:noFill/>
          <a:ln w="25400">
            <a:solidFill>
              <a:srgbClr val="22D3EE"/>
            </a:solidFill>
            <a:prstDash val="solid"/>
          </a:ln>
        </p:spPr>
        <p:txBody>
          <a:bodyPr/>
          <a:lstStyle/>
          <a:p>
            <a:endParaRPr lang="en-DE"/>
          </a:p>
        </p:txBody>
      </p:sp>
      <p:sp>
        <p:nvSpPr>
          <p:cNvPr id="23" name="Shape 21"/>
          <p:cNvSpPr/>
          <p:nvPr/>
        </p:nvSpPr>
        <p:spPr>
          <a:xfrm>
            <a:off x="1440180" y="4261104"/>
            <a:ext cx="2057400" cy="0"/>
          </a:xfrm>
          <a:prstGeom prst="line">
            <a:avLst/>
          </a:prstGeom>
          <a:noFill/>
          <a:ln w="25400">
            <a:solidFill>
              <a:srgbClr val="22D3EE"/>
            </a:solidFill>
            <a:prstDash val="solid"/>
          </a:ln>
        </p:spPr>
        <p:txBody>
          <a:bodyPr/>
          <a:lstStyle/>
          <a:p>
            <a:endParaRPr lang="en-DE"/>
          </a:p>
        </p:txBody>
      </p:sp>
      <p:sp>
        <p:nvSpPr>
          <p:cNvPr id="24" name="Shape 22"/>
          <p:cNvSpPr/>
          <p:nvPr/>
        </p:nvSpPr>
        <p:spPr>
          <a:xfrm>
            <a:off x="1440180" y="4261104"/>
            <a:ext cx="0" cy="109728"/>
          </a:xfrm>
          <a:prstGeom prst="line">
            <a:avLst/>
          </a:prstGeom>
          <a:noFill/>
          <a:ln w="25400">
            <a:solidFill>
              <a:srgbClr val="22D3EE"/>
            </a:solidFill>
            <a:prstDash val="solid"/>
          </a:ln>
        </p:spPr>
        <p:txBody>
          <a:bodyPr/>
          <a:lstStyle/>
          <a:p>
            <a:endParaRPr lang="en-DE"/>
          </a:p>
        </p:txBody>
      </p:sp>
      <p:sp>
        <p:nvSpPr>
          <p:cNvPr id="25" name="Shape 23"/>
          <p:cNvSpPr/>
          <p:nvPr/>
        </p:nvSpPr>
        <p:spPr>
          <a:xfrm>
            <a:off x="960120" y="4370832"/>
            <a:ext cx="960120" cy="457200"/>
          </a:xfrm>
          <a:prstGeom prst="roundRect">
            <a:avLst>
              <a:gd name="adj" fmla="val 12000"/>
            </a:avLst>
          </a:prstGeom>
          <a:solidFill>
            <a:srgbClr val="16335E"/>
          </a:solidFill>
          <a:ln w="12700">
            <a:solidFill>
              <a:srgbClr val="23457F"/>
            </a:solidFill>
            <a:prstDash val="solid"/>
          </a:ln>
          <a:effectLst>
            <a:outerShdw blurRad="114300" dist="38100" dir="5400000" algn="bl" rotWithShape="0">
              <a:srgbClr val="020912">
                <a:alpha val="45000"/>
              </a:srgbClr>
            </a:outerShdw>
          </a:effectLst>
        </p:spPr>
        <p:txBody>
          <a:bodyPr/>
          <a:lstStyle/>
          <a:p>
            <a:endParaRPr lang="en-DE"/>
          </a:p>
        </p:txBody>
      </p:sp>
      <p:sp>
        <p:nvSpPr>
          <p:cNvPr id="26" name="Text 24"/>
          <p:cNvSpPr/>
          <p:nvPr/>
        </p:nvSpPr>
        <p:spPr>
          <a:xfrm>
            <a:off x="1005840" y="4370832"/>
            <a:ext cx="868680" cy="457200"/>
          </a:xfrm>
          <a:prstGeom prst="rect">
            <a:avLst/>
          </a:prstGeom>
          <a:noFill/>
          <a:ln/>
        </p:spPr>
        <p:txBody>
          <a:bodyPr wrap="square" lIns="0" tIns="0" rIns="0" bIns="0" rtlCol="0" anchor="ctr"/>
          <a:lstStyle/>
          <a:p>
            <a:pPr marL="0" indent="0" algn="ctr">
              <a:buNone/>
            </a:pPr>
            <a:r>
              <a:rPr lang="en-US" sz="1150" b="1" dirty="0">
                <a:solidFill>
                  <a:srgbClr val="EAF4FF"/>
                </a:solidFill>
                <a:latin typeface="Trebuchet MS" pitchFamily="34" charset="0"/>
                <a:ea typeface="Trebuchet MS" pitchFamily="34" charset="-122"/>
                <a:cs typeface="Trebuchet MS" pitchFamily="34" charset="-120"/>
              </a:rPr>
              <a:t>Sensor</a:t>
            </a:r>
            <a:endParaRPr lang="en-US" sz="1150" dirty="0"/>
          </a:p>
        </p:txBody>
      </p:sp>
      <p:sp>
        <p:nvSpPr>
          <p:cNvPr id="27" name="Shape 25"/>
          <p:cNvSpPr/>
          <p:nvPr/>
        </p:nvSpPr>
        <p:spPr>
          <a:xfrm>
            <a:off x="2468880" y="4261104"/>
            <a:ext cx="0" cy="109728"/>
          </a:xfrm>
          <a:prstGeom prst="line">
            <a:avLst/>
          </a:prstGeom>
          <a:noFill/>
          <a:ln w="25400">
            <a:solidFill>
              <a:srgbClr val="22D3EE"/>
            </a:solidFill>
            <a:prstDash val="solid"/>
          </a:ln>
        </p:spPr>
        <p:txBody>
          <a:bodyPr/>
          <a:lstStyle/>
          <a:p>
            <a:endParaRPr lang="en-DE"/>
          </a:p>
        </p:txBody>
      </p:sp>
      <p:sp>
        <p:nvSpPr>
          <p:cNvPr id="28" name="Shape 26"/>
          <p:cNvSpPr/>
          <p:nvPr/>
        </p:nvSpPr>
        <p:spPr>
          <a:xfrm>
            <a:off x="1988820" y="4370832"/>
            <a:ext cx="960120" cy="457200"/>
          </a:xfrm>
          <a:prstGeom prst="roundRect">
            <a:avLst>
              <a:gd name="adj" fmla="val 12000"/>
            </a:avLst>
          </a:prstGeom>
          <a:solidFill>
            <a:srgbClr val="16335E"/>
          </a:solidFill>
          <a:ln w="12700">
            <a:solidFill>
              <a:srgbClr val="23457F"/>
            </a:solidFill>
            <a:prstDash val="solid"/>
          </a:ln>
          <a:effectLst>
            <a:outerShdw blurRad="114300" dist="38100" dir="5400000" algn="bl" rotWithShape="0">
              <a:srgbClr val="020912">
                <a:alpha val="45000"/>
              </a:srgbClr>
            </a:outerShdw>
          </a:effectLst>
        </p:spPr>
        <p:txBody>
          <a:bodyPr/>
          <a:lstStyle/>
          <a:p>
            <a:endParaRPr lang="en-DE"/>
          </a:p>
        </p:txBody>
      </p:sp>
      <p:sp>
        <p:nvSpPr>
          <p:cNvPr id="29" name="Text 27"/>
          <p:cNvSpPr/>
          <p:nvPr/>
        </p:nvSpPr>
        <p:spPr>
          <a:xfrm>
            <a:off x="2034540" y="4370832"/>
            <a:ext cx="868680" cy="457200"/>
          </a:xfrm>
          <a:prstGeom prst="rect">
            <a:avLst/>
          </a:prstGeom>
          <a:noFill/>
          <a:ln/>
        </p:spPr>
        <p:txBody>
          <a:bodyPr wrap="square" lIns="0" tIns="0" rIns="0" bIns="0" rtlCol="0" anchor="ctr"/>
          <a:lstStyle/>
          <a:p>
            <a:pPr marL="0" indent="0" algn="ctr">
              <a:buNone/>
            </a:pPr>
            <a:r>
              <a:rPr lang="en-US" sz="1150" b="1" dirty="0">
                <a:solidFill>
                  <a:srgbClr val="EAF4FF"/>
                </a:solidFill>
                <a:latin typeface="Trebuchet MS" pitchFamily="34" charset="0"/>
                <a:ea typeface="Trebuchet MS" pitchFamily="34" charset="-122"/>
                <a:cs typeface="Trebuchet MS" pitchFamily="34" charset="-120"/>
              </a:rPr>
              <a:t>Valve</a:t>
            </a:r>
            <a:endParaRPr lang="en-US" sz="1150" dirty="0"/>
          </a:p>
        </p:txBody>
      </p:sp>
      <p:sp>
        <p:nvSpPr>
          <p:cNvPr id="30" name="Shape 28"/>
          <p:cNvSpPr/>
          <p:nvPr/>
        </p:nvSpPr>
        <p:spPr>
          <a:xfrm>
            <a:off x="3497580" y="4261104"/>
            <a:ext cx="0" cy="109728"/>
          </a:xfrm>
          <a:prstGeom prst="line">
            <a:avLst/>
          </a:prstGeom>
          <a:noFill/>
          <a:ln w="25400">
            <a:solidFill>
              <a:srgbClr val="22D3EE"/>
            </a:solidFill>
            <a:prstDash val="solid"/>
          </a:ln>
        </p:spPr>
        <p:txBody>
          <a:bodyPr/>
          <a:lstStyle/>
          <a:p>
            <a:endParaRPr lang="en-DE"/>
          </a:p>
        </p:txBody>
      </p:sp>
      <p:sp>
        <p:nvSpPr>
          <p:cNvPr id="31" name="Shape 29"/>
          <p:cNvSpPr/>
          <p:nvPr/>
        </p:nvSpPr>
        <p:spPr>
          <a:xfrm>
            <a:off x="3017520" y="4370832"/>
            <a:ext cx="960120" cy="457200"/>
          </a:xfrm>
          <a:prstGeom prst="roundRect">
            <a:avLst>
              <a:gd name="adj" fmla="val 12000"/>
            </a:avLst>
          </a:prstGeom>
          <a:solidFill>
            <a:srgbClr val="16335E"/>
          </a:solidFill>
          <a:ln w="12700">
            <a:solidFill>
              <a:srgbClr val="23457F"/>
            </a:solidFill>
            <a:prstDash val="solid"/>
          </a:ln>
          <a:effectLst>
            <a:outerShdw blurRad="114300" dist="38100" dir="5400000" algn="bl" rotWithShape="0">
              <a:srgbClr val="020912">
                <a:alpha val="45000"/>
              </a:srgbClr>
            </a:outerShdw>
          </a:effectLst>
        </p:spPr>
        <p:txBody>
          <a:bodyPr/>
          <a:lstStyle/>
          <a:p>
            <a:endParaRPr lang="en-DE"/>
          </a:p>
        </p:txBody>
      </p:sp>
      <p:sp>
        <p:nvSpPr>
          <p:cNvPr id="32" name="Text 30"/>
          <p:cNvSpPr/>
          <p:nvPr/>
        </p:nvSpPr>
        <p:spPr>
          <a:xfrm>
            <a:off x="3063240" y="4370832"/>
            <a:ext cx="868680" cy="457200"/>
          </a:xfrm>
          <a:prstGeom prst="rect">
            <a:avLst/>
          </a:prstGeom>
          <a:noFill/>
          <a:ln/>
        </p:spPr>
        <p:txBody>
          <a:bodyPr wrap="square" lIns="0" tIns="0" rIns="0" bIns="0" rtlCol="0" anchor="ctr"/>
          <a:lstStyle/>
          <a:p>
            <a:pPr marL="0" indent="0" algn="ctr">
              <a:buNone/>
            </a:pPr>
            <a:r>
              <a:rPr lang="en-US" sz="1150" b="1" dirty="0">
                <a:solidFill>
                  <a:srgbClr val="EAF4FF"/>
                </a:solidFill>
                <a:latin typeface="Trebuchet MS" pitchFamily="34" charset="0"/>
                <a:ea typeface="Trebuchet MS" pitchFamily="34" charset="-122"/>
                <a:cs typeface="Trebuchet MS" pitchFamily="34" charset="-120"/>
              </a:rPr>
              <a:t>Transmitter</a:t>
            </a:r>
            <a:endParaRPr lang="en-US" sz="1150" dirty="0"/>
          </a:p>
        </p:txBody>
      </p:sp>
      <p:sp>
        <p:nvSpPr>
          <p:cNvPr id="33" name="Shape 31"/>
          <p:cNvSpPr/>
          <p:nvPr/>
        </p:nvSpPr>
        <p:spPr>
          <a:xfrm>
            <a:off x="4937760" y="1325880"/>
            <a:ext cx="3703320" cy="1417320"/>
          </a:xfrm>
          <a:prstGeom prst="roundRect">
            <a:avLst>
              <a:gd name="adj" fmla="val 5161"/>
            </a:avLst>
          </a:prstGeom>
          <a:solidFill>
            <a:srgbClr val="0F2042"/>
          </a:solidFill>
          <a:ln w="15875">
            <a:solidFill>
              <a:srgbClr val="22D3EE"/>
            </a:solidFill>
            <a:prstDash val="solid"/>
          </a:ln>
          <a:effectLst>
            <a:outerShdw blurRad="114300" dist="38100" dir="5400000" algn="bl" rotWithShape="0">
              <a:srgbClr val="020912">
                <a:alpha val="45000"/>
              </a:srgbClr>
            </a:outerShdw>
          </a:effectLst>
        </p:spPr>
        <p:txBody>
          <a:bodyPr/>
          <a:lstStyle/>
          <a:p>
            <a:endParaRPr lang="en-DE"/>
          </a:p>
        </p:txBody>
      </p:sp>
      <p:sp>
        <p:nvSpPr>
          <p:cNvPr id="34" name="Shape 32"/>
          <p:cNvSpPr/>
          <p:nvPr/>
        </p:nvSpPr>
        <p:spPr>
          <a:xfrm>
            <a:off x="4937760" y="1325880"/>
            <a:ext cx="109728" cy="1417320"/>
          </a:xfrm>
          <a:prstGeom prst="rect">
            <a:avLst/>
          </a:prstGeom>
          <a:solidFill>
            <a:srgbClr val="22D3EE"/>
          </a:solidFill>
          <a:ln/>
        </p:spPr>
        <p:txBody>
          <a:bodyPr/>
          <a:lstStyle/>
          <a:p>
            <a:endParaRPr lang="en-DE"/>
          </a:p>
        </p:txBody>
      </p:sp>
      <p:sp>
        <p:nvSpPr>
          <p:cNvPr id="35" name="Text 33"/>
          <p:cNvSpPr/>
          <p:nvPr/>
        </p:nvSpPr>
        <p:spPr>
          <a:xfrm>
            <a:off x="5212080" y="1453896"/>
            <a:ext cx="3291840" cy="365760"/>
          </a:xfrm>
          <a:prstGeom prst="rect">
            <a:avLst/>
          </a:prstGeom>
          <a:noFill/>
          <a:ln/>
        </p:spPr>
        <p:txBody>
          <a:bodyPr wrap="square" rtlCol="0" anchor="ctr"/>
          <a:lstStyle/>
          <a:p>
            <a:pPr marL="0" indent="0" algn="l">
              <a:buNone/>
            </a:pPr>
            <a:r>
              <a:rPr lang="en-US" sz="1600" b="1" dirty="0">
                <a:solidFill>
                  <a:srgbClr val="22D3EE"/>
                </a:solidFill>
                <a:latin typeface="Trebuchet MS" pitchFamily="34" charset="0"/>
                <a:ea typeface="Trebuchet MS" pitchFamily="34" charset="-122"/>
                <a:cs typeface="Trebuchet MS" pitchFamily="34" charset="-120"/>
              </a:rPr>
              <a:t>TRUNK</a:t>
            </a:r>
            <a:endParaRPr lang="en-US" sz="1600" dirty="0"/>
          </a:p>
        </p:txBody>
      </p:sp>
      <p:sp>
        <p:nvSpPr>
          <p:cNvPr id="36" name="Text 34"/>
          <p:cNvSpPr/>
          <p:nvPr/>
        </p:nvSpPr>
        <p:spPr>
          <a:xfrm>
            <a:off x="5212080" y="1856232"/>
            <a:ext cx="3291840" cy="822960"/>
          </a:xfrm>
          <a:prstGeom prst="rect">
            <a:avLst/>
          </a:prstGeom>
          <a:noFill/>
          <a:ln/>
        </p:spPr>
        <p:txBody>
          <a:bodyPr wrap="square" rtlCol="0" anchor="t"/>
          <a:lstStyle/>
          <a:p>
            <a:pPr marL="0" indent="0" algn="l">
              <a:lnSpc>
                <a:spcPct val="105000"/>
              </a:lnSpc>
              <a:buNone/>
            </a:pPr>
            <a:r>
              <a:rPr lang="en-US" sz="1300" dirty="0">
                <a:solidFill>
                  <a:srgbClr val="9FB6D6"/>
                </a:solidFill>
                <a:latin typeface="Calibri" pitchFamily="34" charset="0"/>
                <a:ea typeface="Calibri" pitchFamily="34" charset="-122"/>
                <a:cs typeface="Calibri" pitchFamily="34" charset="-120"/>
              </a:rPr>
              <a:t>Backbone segment</a:t>
            </a:r>
            <a:endParaRPr lang="en-US" sz="1300" dirty="0"/>
          </a:p>
          <a:p>
            <a:pPr marL="0" indent="0" algn="l">
              <a:lnSpc>
                <a:spcPct val="105000"/>
              </a:lnSpc>
              <a:buNone/>
            </a:pPr>
            <a:r>
              <a:rPr lang="en-US" sz="1300" b="1" dirty="0">
                <a:solidFill>
                  <a:srgbClr val="EAF4FF"/>
                </a:solidFill>
                <a:latin typeface="Calibri" pitchFamily="34" charset="0"/>
                <a:ea typeface="Calibri" pitchFamily="34" charset="-122"/>
                <a:cs typeface="Calibri" pitchFamily="34" charset="-120"/>
              </a:rPr>
              <a:t>1000 m  ·  10 Mbps</a:t>
            </a:r>
            <a:endParaRPr lang="en-US" sz="1300" dirty="0"/>
          </a:p>
        </p:txBody>
      </p:sp>
      <p:sp>
        <p:nvSpPr>
          <p:cNvPr id="37" name="Shape 35"/>
          <p:cNvSpPr/>
          <p:nvPr/>
        </p:nvSpPr>
        <p:spPr>
          <a:xfrm>
            <a:off x="4937760" y="2971800"/>
            <a:ext cx="3703320" cy="1417320"/>
          </a:xfrm>
          <a:prstGeom prst="roundRect">
            <a:avLst>
              <a:gd name="adj" fmla="val 5161"/>
            </a:avLst>
          </a:prstGeom>
          <a:solidFill>
            <a:srgbClr val="0F2042"/>
          </a:solidFill>
          <a:ln w="15875">
            <a:solidFill>
              <a:srgbClr val="33D9A6"/>
            </a:solidFill>
            <a:prstDash val="solid"/>
          </a:ln>
          <a:effectLst>
            <a:outerShdw blurRad="114300" dist="38100" dir="5400000" algn="bl" rotWithShape="0">
              <a:srgbClr val="020912">
                <a:alpha val="45000"/>
              </a:srgbClr>
            </a:outerShdw>
          </a:effectLst>
        </p:spPr>
        <p:txBody>
          <a:bodyPr/>
          <a:lstStyle/>
          <a:p>
            <a:endParaRPr lang="en-DE"/>
          </a:p>
        </p:txBody>
      </p:sp>
      <p:sp>
        <p:nvSpPr>
          <p:cNvPr id="38" name="Shape 36"/>
          <p:cNvSpPr/>
          <p:nvPr/>
        </p:nvSpPr>
        <p:spPr>
          <a:xfrm>
            <a:off x="4937760" y="2971800"/>
            <a:ext cx="109728" cy="1417320"/>
          </a:xfrm>
          <a:prstGeom prst="rect">
            <a:avLst/>
          </a:prstGeom>
          <a:solidFill>
            <a:srgbClr val="33D9A6"/>
          </a:solidFill>
          <a:ln/>
        </p:spPr>
        <p:txBody>
          <a:bodyPr/>
          <a:lstStyle/>
          <a:p>
            <a:endParaRPr lang="en-DE"/>
          </a:p>
        </p:txBody>
      </p:sp>
      <p:sp>
        <p:nvSpPr>
          <p:cNvPr id="39" name="Text 37"/>
          <p:cNvSpPr/>
          <p:nvPr/>
        </p:nvSpPr>
        <p:spPr>
          <a:xfrm>
            <a:off x="5212080" y="3099816"/>
            <a:ext cx="3291840" cy="365760"/>
          </a:xfrm>
          <a:prstGeom prst="rect">
            <a:avLst/>
          </a:prstGeom>
          <a:noFill/>
          <a:ln/>
        </p:spPr>
        <p:txBody>
          <a:bodyPr wrap="square" rtlCol="0" anchor="ctr"/>
          <a:lstStyle/>
          <a:p>
            <a:pPr marL="0" indent="0" algn="l">
              <a:buNone/>
            </a:pPr>
            <a:r>
              <a:rPr lang="en-US" sz="1600" b="1" dirty="0">
                <a:solidFill>
                  <a:srgbClr val="33D9A6"/>
                </a:solidFill>
                <a:latin typeface="Trebuchet MS" pitchFamily="34" charset="0"/>
                <a:ea typeface="Trebuchet MS" pitchFamily="34" charset="-122"/>
                <a:cs typeface="Trebuchet MS" pitchFamily="34" charset="-120"/>
              </a:rPr>
              <a:t>SPUR</a:t>
            </a:r>
            <a:endParaRPr lang="en-US" sz="1600" dirty="0"/>
          </a:p>
        </p:txBody>
      </p:sp>
      <p:sp>
        <p:nvSpPr>
          <p:cNvPr id="40" name="Text 38"/>
          <p:cNvSpPr/>
          <p:nvPr/>
        </p:nvSpPr>
        <p:spPr>
          <a:xfrm>
            <a:off x="5212080" y="3502152"/>
            <a:ext cx="3291840" cy="822960"/>
          </a:xfrm>
          <a:prstGeom prst="rect">
            <a:avLst/>
          </a:prstGeom>
          <a:noFill/>
          <a:ln/>
        </p:spPr>
        <p:txBody>
          <a:bodyPr wrap="square" rtlCol="0" anchor="t"/>
          <a:lstStyle/>
          <a:p>
            <a:pPr marL="0" indent="0" algn="l">
              <a:lnSpc>
                <a:spcPct val="105000"/>
              </a:lnSpc>
              <a:buNone/>
            </a:pPr>
            <a:r>
              <a:rPr lang="en-US" sz="1300" dirty="0">
                <a:solidFill>
                  <a:srgbClr val="9FB6D6"/>
                </a:solidFill>
                <a:latin typeface="Calibri" pitchFamily="34" charset="0"/>
                <a:ea typeface="Calibri" pitchFamily="34" charset="-122"/>
                <a:cs typeface="Calibri" pitchFamily="34" charset="-120"/>
              </a:rPr>
              <a:t>Branch to field devices</a:t>
            </a:r>
            <a:endParaRPr lang="en-US" sz="1300" dirty="0"/>
          </a:p>
          <a:p>
            <a:pPr marL="0" indent="0" algn="l">
              <a:lnSpc>
                <a:spcPct val="105000"/>
              </a:lnSpc>
              <a:buNone/>
            </a:pPr>
            <a:r>
              <a:rPr lang="en-US" sz="1300" b="1" dirty="0">
                <a:solidFill>
                  <a:srgbClr val="EAF4FF"/>
                </a:solidFill>
                <a:latin typeface="Calibri" pitchFamily="34" charset="0"/>
                <a:ea typeface="Calibri" pitchFamily="34" charset="-122"/>
                <a:cs typeface="Calibri" pitchFamily="34" charset="-120"/>
              </a:rPr>
              <a:t>200 m  ·  Zone 0 capable</a:t>
            </a:r>
            <a:endParaRPr lang="en-US" sz="1300" dirty="0"/>
          </a:p>
        </p:txBody>
      </p:sp>
      <p:sp>
        <p:nvSpPr>
          <p:cNvPr id="41" name="Text 39"/>
          <p:cNvSpPr/>
          <p:nvPr/>
        </p:nvSpPr>
        <p:spPr>
          <a:xfrm>
            <a:off x="4937760" y="4526280"/>
            <a:ext cx="3703320" cy="457200"/>
          </a:xfrm>
          <a:prstGeom prst="rect">
            <a:avLst/>
          </a:prstGeom>
          <a:noFill/>
          <a:ln/>
        </p:spPr>
        <p:txBody>
          <a:bodyPr wrap="square" rtlCol="0" anchor="ctr"/>
          <a:lstStyle/>
          <a:p>
            <a:pPr marL="0" indent="0" algn="l">
              <a:buNone/>
            </a:pPr>
            <a:r>
              <a:rPr lang="en-US" sz="1150" i="1" dirty="0">
                <a:solidFill>
                  <a:srgbClr val="9FB6D6"/>
                </a:solidFill>
                <a:latin typeface="Calibri" pitchFamily="34" charset="0"/>
                <a:ea typeface="Calibri" pitchFamily="34" charset="-122"/>
                <a:cs typeface="Calibri" pitchFamily="34" charset="-120"/>
              </a:rPr>
              <a:t>Hierarchy from enterprise cloud down to intrinsically-safe field devices.</a:t>
            </a:r>
            <a:endParaRPr lang="en-US" sz="1150" dirty="0"/>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832"/>
        </a:solidFill>
        <a:effectLst/>
      </p:bgPr>
    </p:bg>
    <p:spTree>
      <p:nvGrpSpPr>
        <p:cNvPr id="1" name=""/>
        <p:cNvGrpSpPr/>
        <p:nvPr/>
      </p:nvGrpSpPr>
      <p:grpSpPr>
        <a:xfrm>
          <a:off x="0" y="0"/>
          <a:ext cx="0" cy="0"/>
          <a:chOff x="0" y="0"/>
          <a:chExt cx="0" cy="0"/>
        </a:xfrm>
      </p:grpSpPr>
      <p:sp>
        <p:nvSpPr>
          <p:cNvPr id="2" name="Shape 0"/>
          <p:cNvSpPr/>
          <p:nvPr/>
        </p:nvSpPr>
        <p:spPr>
          <a:xfrm>
            <a:off x="502920" y="384048"/>
            <a:ext cx="146304" cy="457200"/>
          </a:xfrm>
          <a:prstGeom prst="rect">
            <a:avLst/>
          </a:prstGeom>
          <a:solidFill>
            <a:srgbClr val="22D3EE"/>
          </a:solidFill>
          <a:ln/>
        </p:spPr>
        <p:txBody>
          <a:bodyPr/>
          <a:lstStyle/>
          <a:p>
            <a:endParaRPr lang="en-DE"/>
          </a:p>
        </p:txBody>
      </p:sp>
      <p:sp>
        <p:nvSpPr>
          <p:cNvPr id="3" name="Text 1"/>
          <p:cNvSpPr/>
          <p:nvPr/>
        </p:nvSpPr>
        <p:spPr>
          <a:xfrm>
            <a:off x="777240" y="310896"/>
            <a:ext cx="7863840" cy="640080"/>
          </a:xfrm>
          <a:prstGeom prst="rect">
            <a:avLst/>
          </a:prstGeom>
          <a:noFill/>
          <a:ln/>
        </p:spPr>
        <p:txBody>
          <a:bodyPr wrap="square" lIns="0" tIns="0" rIns="0" bIns="0" rtlCol="0" anchor="ctr"/>
          <a:lstStyle/>
          <a:p>
            <a:pPr marL="0" indent="0" algn="l">
              <a:buNone/>
            </a:pPr>
            <a:r>
              <a:rPr lang="en-US" sz="2700" b="1" dirty="0">
                <a:solidFill>
                  <a:srgbClr val="EAF4FF"/>
                </a:solidFill>
                <a:latin typeface="Trebuchet MS" pitchFamily="34" charset="0"/>
                <a:ea typeface="Trebuchet MS" pitchFamily="34" charset="-122"/>
                <a:cs typeface="Trebuchet MS" pitchFamily="34" charset="-120"/>
              </a:rPr>
              <a:t>How Ethernet-APL Works</a:t>
            </a:r>
            <a:endParaRPr lang="en-US" sz="2700" dirty="0"/>
          </a:p>
        </p:txBody>
      </p:sp>
      <p:sp>
        <p:nvSpPr>
          <p:cNvPr id="4" name="Text 2"/>
          <p:cNvSpPr/>
          <p:nvPr/>
        </p:nvSpPr>
        <p:spPr>
          <a:xfrm>
            <a:off x="8321040" y="384048"/>
            <a:ext cx="548640" cy="457200"/>
          </a:xfrm>
          <a:prstGeom prst="rect">
            <a:avLst/>
          </a:prstGeom>
          <a:noFill/>
          <a:ln/>
        </p:spPr>
        <p:txBody>
          <a:bodyPr wrap="square" rtlCol="0" anchor="ctr"/>
          <a:lstStyle/>
          <a:p>
            <a:pPr marL="0" indent="0" algn="r">
              <a:buNone/>
            </a:pPr>
            <a:r>
              <a:rPr lang="en-US" sz="1200" b="1" dirty="0">
                <a:solidFill>
                  <a:srgbClr val="22D3EE"/>
                </a:solidFill>
                <a:latin typeface="Trebuchet MS" pitchFamily="34" charset="0"/>
                <a:ea typeface="Trebuchet MS" pitchFamily="34" charset="-122"/>
                <a:cs typeface="Trebuchet MS" pitchFamily="34" charset="-120"/>
              </a:rPr>
              <a:t>05</a:t>
            </a:r>
            <a:endParaRPr lang="en-US" sz="1200" dirty="0"/>
          </a:p>
        </p:txBody>
      </p:sp>
      <p:pic>
        <p:nvPicPr>
          <p:cNvPr id="5" name="Image 0" descr="/agent/turn1/workspace/images/image-45fe52a301a7b4efd328667ea1adc9b9.jpg"/>
          <p:cNvPicPr>
            <a:picLocks noChangeAspect="1"/>
          </p:cNvPicPr>
          <p:nvPr/>
        </p:nvPicPr>
        <p:blipFill>
          <a:blip r:embed="rId3"/>
          <a:srcRect l="14530" r="14530"/>
          <a:stretch/>
        </p:blipFill>
        <p:spPr>
          <a:xfrm>
            <a:off x="-22860" y="1143000"/>
            <a:ext cx="3794760" cy="3566160"/>
          </a:xfrm>
          <a:prstGeom prst="rect">
            <a:avLst/>
          </a:prstGeom>
        </p:spPr>
      </p:pic>
      <p:sp>
        <p:nvSpPr>
          <p:cNvPr id="6" name="Shape 3"/>
          <p:cNvSpPr/>
          <p:nvPr/>
        </p:nvSpPr>
        <p:spPr>
          <a:xfrm>
            <a:off x="502920" y="4160520"/>
            <a:ext cx="3794760" cy="548640"/>
          </a:xfrm>
          <a:prstGeom prst="rect">
            <a:avLst/>
          </a:prstGeom>
          <a:solidFill>
            <a:srgbClr val="07122A">
              <a:alpha val="88000"/>
            </a:srgbClr>
          </a:solidFill>
          <a:ln/>
        </p:spPr>
        <p:txBody>
          <a:bodyPr/>
          <a:lstStyle/>
          <a:p>
            <a:endParaRPr lang="en-DE"/>
          </a:p>
        </p:txBody>
      </p:sp>
      <p:sp>
        <p:nvSpPr>
          <p:cNvPr id="7" name="Text 4"/>
          <p:cNvSpPr/>
          <p:nvPr/>
        </p:nvSpPr>
        <p:spPr>
          <a:xfrm>
            <a:off x="566928" y="4160520"/>
            <a:ext cx="3657600" cy="548640"/>
          </a:xfrm>
          <a:prstGeom prst="rect">
            <a:avLst/>
          </a:prstGeom>
          <a:noFill/>
          <a:ln/>
        </p:spPr>
        <p:txBody>
          <a:bodyPr wrap="square" rtlCol="0" anchor="ctr"/>
          <a:lstStyle/>
          <a:p>
            <a:pPr marL="0" indent="0" algn="l">
              <a:buNone/>
            </a:pPr>
            <a:r>
              <a:rPr lang="en-US" sz="1100" i="1" dirty="0">
                <a:solidFill>
                  <a:srgbClr val="DDF4FF"/>
                </a:solidFill>
                <a:latin typeface="Calibri" pitchFamily="34" charset="0"/>
                <a:ea typeface="Calibri" pitchFamily="34" charset="-122"/>
                <a:cs typeface="Calibri" pitchFamily="34" charset="-120"/>
              </a:rPr>
              <a:t>Single Pair Ethernet — power + data on one twisted pair</a:t>
            </a:r>
            <a:endParaRPr lang="en-US" sz="1100" dirty="0"/>
          </a:p>
        </p:txBody>
      </p:sp>
      <p:sp>
        <p:nvSpPr>
          <p:cNvPr id="8" name="Shape 5"/>
          <p:cNvSpPr/>
          <p:nvPr/>
        </p:nvSpPr>
        <p:spPr>
          <a:xfrm>
            <a:off x="4617720" y="1143000"/>
            <a:ext cx="4023360" cy="868680"/>
          </a:xfrm>
          <a:prstGeom prst="roundRect">
            <a:avLst>
              <a:gd name="adj" fmla="val 8421"/>
            </a:avLst>
          </a:prstGeom>
          <a:solidFill>
            <a:srgbClr val="0D3A4A"/>
          </a:solidFill>
          <a:ln w="15875">
            <a:solidFill>
              <a:srgbClr val="22D3EE"/>
            </a:solidFill>
            <a:prstDash val="solid"/>
          </a:ln>
        </p:spPr>
        <p:txBody>
          <a:bodyPr/>
          <a:lstStyle/>
          <a:p>
            <a:endParaRPr lang="en-DE"/>
          </a:p>
        </p:txBody>
      </p:sp>
      <p:sp>
        <p:nvSpPr>
          <p:cNvPr id="9" name="Text 6"/>
          <p:cNvSpPr/>
          <p:nvPr/>
        </p:nvSpPr>
        <p:spPr>
          <a:xfrm>
            <a:off x="4846320" y="1216152"/>
            <a:ext cx="3657600" cy="731520"/>
          </a:xfrm>
          <a:prstGeom prst="rect">
            <a:avLst/>
          </a:prstGeom>
          <a:noFill/>
          <a:ln/>
        </p:spPr>
        <p:txBody>
          <a:bodyPr wrap="square" rtlCol="0" anchor="ctr"/>
          <a:lstStyle/>
          <a:p>
            <a:pPr marL="0" indent="0" algn="l">
              <a:buNone/>
            </a:pPr>
            <a:r>
              <a:rPr lang="en-US" sz="1900" b="1" dirty="0">
                <a:solidFill>
                  <a:srgbClr val="22D3EE"/>
                </a:solidFill>
                <a:latin typeface="Trebuchet MS" pitchFamily="34" charset="0"/>
                <a:ea typeface="Trebuchet MS" pitchFamily="34" charset="-122"/>
                <a:cs typeface="Trebuchet MS" pitchFamily="34" charset="-120"/>
              </a:rPr>
              <a:t>IEEE 802.3cg</a:t>
            </a:r>
            <a:endParaRPr lang="en-US" sz="1900" dirty="0"/>
          </a:p>
          <a:p>
            <a:pPr marL="0" indent="0" algn="l">
              <a:buNone/>
            </a:pPr>
            <a:r>
              <a:rPr lang="en-US" sz="1300" dirty="0">
                <a:solidFill>
                  <a:srgbClr val="EAF4FF"/>
                </a:solidFill>
                <a:latin typeface="Trebuchet MS" pitchFamily="34" charset="0"/>
                <a:ea typeface="Trebuchet MS" pitchFamily="34" charset="-122"/>
                <a:cs typeface="Trebuchet MS" pitchFamily="34" charset="-120"/>
              </a:rPr>
              <a:t>10BASE-T1L physical layer</a:t>
            </a:r>
            <a:endParaRPr lang="en-US" sz="1900" dirty="0"/>
          </a:p>
        </p:txBody>
      </p:sp>
      <p:sp>
        <p:nvSpPr>
          <p:cNvPr id="10" name="Shape 7"/>
          <p:cNvSpPr/>
          <p:nvPr/>
        </p:nvSpPr>
        <p:spPr>
          <a:xfrm>
            <a:off x="4617720" y="2295144"/>
            <a:ext cx="310896" cy="310896"/>
          </a:xfrm>
          <a:prstGeom prst="ellipse">
            <a:avLst/>
          </a:prstGeom>
          <a:solidFill>
            <a:srgbClr val="22D3EE"/>
          </a:solidFill>
          <a:ln/>
        </p:spPr>
        <p:txBody>
          <a:bodyPr/>
          <a:lstStyle/>
          <a:p>
            <a:endParaRPr lang="en-DE"/>
          </a:p>
        </p:txBody>
      </p:sp>
      <p:sp>
        <p:nvSpPr>
          <p:cNvPr id="11" name="Text 8"/>
          <p:cNvSpPr/>
          <p:nvPr/>
        </p:nvSpPr>
        <p:spPr>
          <a:xfrm>
            <a:off x="4617720" y="2295144"/>
            <a:ext cx="310896" cy="310896"/>
          </a:xfrm>
          <a:prstGeom prst="rect">
            <a:avLst/>
          </a:prstGeom>
          <a:noFill/>
          <a:ln/>
        </p:spPr>
        <p:txBody>
          <a:bodyPr wrap="square" rtlCol="0" anchor="ctr"/>
          <a:lstStyle/>
          <a:p>
            <a:pPr marL="0" indent="0" algn="ctr">
              <a:buNone/>
            </a:pPr>
            <a:r>
              <a:rPr lang="en-US" sz="1400" b="1" dirty="0">
                <a:solidFill>
                  <a:srgbClr val="07122A"/>
                </a:solidFill>
                <a:latin typeface="Trebuchet MS" pitchFamily="34" charset="0"/>
                <a:ea typeface="Trebuchet MS" pitchFamily="34" charset="-122"/>
                <a:cs typeface="Trebuchet MS" pitchFamily="34" charset="-120"/>
              </a:rPr>
              <a:t>✓</a:t>
            </a:r>
            <a:endParaRPr lang="en-US" sz="1400" dirty="0"/>
          </a:p>
        </p:txBody>
      </p:sp>
      <p:sp>
        <p:nvSpPr>
          <p:cNvPr id="12" name="Text 9"/>
          <p:cNvSpPr/>
          <p:nvPr/>
        </p:nvSpPr>
        <p:spPr>
          <a:xfrm>
            <a:off x="5074920" y="2240280"/>
            <a:ext cx="3566160" cy="420624"/>
          </a:xfrm>
          <a:prstGeom prst="rect">
            <a:avLst/>
          </a:prstGeom>
          <a:noFill/>
          <a:ln/>
        </p:spPr>
        <p:txBody>
          <a:bodyPr wrap="square" rtlCol="0" anchor="ctr"/>
          <a:lstStyle/>
          <a:p>
            <a:pPr marL="0" indent="0" algn="l">
              <a:buNone/>
            </a:pPr>
            <a:r>
              <a:rPr lang="en-US" sz="1450" dirty="0">
                <a:solidFill>
                  <a:srgbClr val="EAF4FF"/>
                </a:solidFill>
                <a:latin typeface="Calibri" pitchFamily="34" charset="0"/>
                <a:ea typeface="Calibri" pitchFamily="34" charset="-122"/>
                <a:cs typeface="Calibri" pitchFamily="34" charset="-120"/>
              </a:rPr>
              <a:t>Single Pair Ethernet (one twisted pair)</a:t>
            </a:r>
            <a:endParaRPr lang="en-US" sz="1450" dirty="0"/>
          </a:p>
        </p:txBody>
      </p:sp>
      <p:sp>
        <p:nvSpPr>
          <p:cNvPr id="13" name="Shape 10"/>
          <p:cNvSpPr/>
          <p:nvPr/>
        </p:nvSpPr>
        <p:spPr>
          <a:xfrm>
            <a:off x="4617720" y="2798064"/>
            <a:ext cx="310896" cy="310896"/>
          </a:xfrm>
          <a:prstGeom prst="ellipse">
            <a:avLst/>
          </a:prstGeom>
          <a:solidFill>
            <a:srgbClr val="22D3EE"/>
          </a:solidFill>
          <a:ln/>
        </p:spPr>
        <p:txBody>
          <a:bodyPr/>
          <a:lstStyle/>
          <a:p>
            <a:endParaRPr lang="en-DE"/>
          </a:p>
        </p:txBody>
      </p:sp>
      <p:sp>
        <p:nvSpPr>
          <p:cNvPr id="14" name="Text 11"/>
          <p:cNvSpPr/>
          <p:nvPr/>
        </p:nvSpPr>
        <p:spPr>
          <a:xfrm>
            <a:off x="4617720" y="2798064"/>
            <a:ext cx="310896" cy="310896"/>
          </a:xfrm>
          <a:prstGeom prst="rect">
            <a:avLst/>
          </a:prstGeom>
          <a:noFill/>
          <a:ln/>
        </p:spPr>
        <p:txBody>
          <a:bodyPr wrap="square" rtlCol="0" anchor="ctr"/>
          <a:lstStyle/>
          <a:p>
            <a:pPr marL="0" indent="0" algn="ctr">
              <a:buNone/>
            </a:pPr>
            <a:r>
              <a:rPr lang="en-US" sz="1400" b="1" dirty="0">
                <a:solidFill>
                  <a:srgbClr val="07122A"/>
                </a:solidFill>
                <a:latin typeface="Trebuchet MS" pitchFamily="34" charset="0"/>
                <a:ea typeface="Trebuchet MS" pitchFamily="34" charset="-122"/>
                <a:cs typeface="Trebuchet MS" pitchFamily="34" charset="-120"/>
              </a:rPr>
              <a:t>✓</a:t>
            </a:r>
            <a:endParaRPr lang="en-US" sz="1400" dirty="0"/>
          </a:p>
        </p:txBody>
      </p:sp>
      <p:sp>
        <p:nvSpPr>
          <p:cNvPr id="15" name="Text 12"/>
          <p:cNvSpPr/>
          <p:nvPr/>
        </p:nvSpPr>
        <p:spPr>
          <a:xfrm>
            <a:off x="5074920" y="2743200"/>
            <a:ext cx="3566160" cy="420624"/>
          </a:xfrm>
          <a:prstGeom prst="rect">
            <a:avLst/>
          </a:prstGeom>
          <a:noFill/>
          <a:ln/>
        </p:spPr>
        <p:txBody>
          <a:bodyPr wrap="square" rtlCol="0" anchor="ctr"/>
          <a:lstStyle/>
          <a:p>
            <a:pPr marL="0" indent="0" algn="l">
              <a:buNone/>
            </a:pPr>
            <a:r>
              <a:rPr lang="en-US" sz="1450" dirty="0">
                <a:solidFill>
                  <a:srgbClr val="EAF4FF"/>
                </a:solidFill>
                <a:latin typeface="Calibri" pitchFamily="34" charset="0"/>
                <a:ea typeface="Calibri" pitchFamily="34" charset="-122"/>
                <a:cs typeface="Calibri" pitchFamily="34" charset="-120"/>
              </a:rPr>
              <a:t>10 Mbps data rate</a:t>
            </a:r>
            <a:endParaRPr lang="en-US" sz="1450" dirty="0"/>
          </a:p>
        </p:txBody>
      </p:sp>
      <p:sp>
        <p:nvSpPr>
          <p:cNvPr id="16" name="Shape 13"/>
          <p:cNvSpPr/>
          <p:nvPr/>
        </p:nvSpPr>
        <p:spPr>
          <a:xfrm>
            <a:off x="4617720" y="3300984"/>
            <a:ext cx="310896" cy="310896"/>
          </a:xfrm>
          <a:prstGeom prst="ellipse">
            <a:avLst/>
          </a:prstGeom>
          <a:solidFill>
            <a:srgbClr val="22D3EE"/>
          </a:solidFill>
          <a:ln/>
        </p:spPr>
        <p:txBody>
          <a:bodyPr/>
          <a:lstStyle/>
          <a:p>
            <a:endParaRPr lang="en-DE"/>
          </a:p>
        </p:txBody>
      </p:sp>
      <p:sp>
        <p:nvSpPr>
          <p:cNvPr id="17" name="Text 14"/>
          <p:cNvSpPr/>
          <p:nvPr/>
        </p:nvSpPr>
        <p:spPr>
          <a:xfrm>
            <a:off x="4617720" y="3300984"/>
            <a:ext cx="310896" cy="310896"/>
          </a:xfrm>
          <a:prstGeom prst="rect">
            <a:avLst/>
          </a:prstGeom>
          <a:noFill/>
          <a:ln/>
        </p:spPr>
        <p:txBody>
          <a:bodyPr wrap="square" rtlCol="0" anchor="ctr"/>
          <a:lstStyle/>
          <a:p>
            <a:pPr marL="0" indent="0" algn="ctr">
              <a:buNone/>
            </a:pPr>
            <a:r>
              <a:rPr lang="en-US" sz="1400" b="1" dirty="0">
                <a:solidFill>
                  <a:srgbClr val="07122A"/>
                </a:solidFill>
                <a:latin typeface="Trebuchet MS" pitchFamily="34" charset="0"/>
                <a:ea typeface="Trebuchet MS" pitchFamily="34" charset="-122"/>
                <a:cs typeface="Trebuchet MS" pitchFamily="34" charset="-120"/>
              </a:rPr>
              <a:t>✓</a:t>
            </a:r>
            <a:endParaRPr lang="en-US" sz="1400" dirty="0"/>
          </a:p>
        </p:txBody>
      </p:sp>
      <p:sp>
        <p:nvSpPr>
          <p:cNvPr id="18" name="Text 15"/>
          <p:cNvSpPr/>
          <p:nvPr/>
        </p:nvSpPr>
        <p:spPr>
          <a:xfrm>
            <a:off x="5074920" y="3246120"/>
            <a:ext cx="3566160" cy="420624"/>
          </a:xfrm>
          <a:prstGeom prst="rect">
            <a:avLst/>
          </a:prstGeom>
          <a:noFill/>
          <a:ln/>
        </p:spPr>
        <p:txBody>
          <a:bodyPr wrap="square" rtlCol="0" anchor="ctr"/>
          <a:lstStyle/>
          <a:p>
            <a:pPr marL="0" indent="0" algn="l">
              <a:buNone/>
            </a:pPr>
            <a:r>
              <a:rPr lang="en-US" sz="1450" dirty="0">
                <a:solidFill>
                  <a:srgbClr val="EAF4FF"/>
                </a:solidFill>
                <a:latin typeface="Calibri" pitchFamily="34" charset="0"/>
                <a:ea typeface="Calibri" pitchFamily="34" charset="-122"/>
                <a:cs typeface="Calibri" pitchFamily="34" charset="-120"/>
              </a:rPr>
              <a:t>Full-duplex communication</a:t>
            </a:r>
            <a:endParaRPr lang="en-US" sz="1450" dirty="0"/>
          </a:p>
        </p:txBody>
      </p:sp>
      <p:sp>
        <p:nvSpPr>
          <p:cNvPr id="19" name="Shape 16"/>
          <p:cNvSpPr/>
          <p:nvPr/>
        </p:nvSpPr>
        <p:spPr>
          <a:xfrm>
            <a:off x="4617720" y="3803904"/>
            <a:ext cx="310896" cy="310896"/>
          </a:xfrm>
          <a:prstGeom prst="ellipse">
            <a:avLst/>
          </a:prstGeom>
          <a:solidFill>
            <a:srgbClr val="22D3EE"/>
          </a:solidFill>
          <a:ln/>
        </p:spPr>
        <p:txBody>
          <a:bodyPr/>
          <a:lstStyle/>
          <a:p>
            <a:endParaRPr lang="en-DE"/>
          </a:p>
        </p:txBody>
      </p:sp>
      <p:sp>
        <p:nvSpPr>
          <p:cNvPr id="20" name="Text 17"/>
          <p:cNvSpPr/>
          <p:nvPr/>
        </p:nvSpPr>
        <p:spPr>
          <a:xfrm>
            <a:off x="4617720" y="3803904"/>
            <a:ext cx="310896" cy="310896"/>
          </a:xfrm>
          <a:prstGeom prst="rect">
            <a:avLst/>
          </a:prstGeom>
          <a:noFill/>
          <a:ln/>
        </p:spPr>
        <p:txBody>
          <a:bodyPr wrap="square" rtlCol="0" anchor="ctr"/>
          <a:lstStyle/>
          <a:p>
            <a:pPr marL="0" indent="0" algn="ctr">
              <a:buNone/>
            </a:pPr>
            <a:r>
              <a:rPr lang="en-US" sz="1400" b="1" dirty="0">
                <a:solidFill>
                  <a:srgbClr val="07122A"/>
                </a:solidFill>
                <a:latin typeface="Trebuchet MS" pitchFamily="34" charset="0"/>
                <a:ea typeface="Trebuchet MS" pitchFamily="34" charset="-122"/>
                <a:cs typeface="Trebuchet MS" pitchFamily="34" charset="-120"/>
              </a:rPr>
              <a:t>✓</a:t>
            </a:r>
            <a:endParaRPr lang="en-US" sz="1400" dirty="0"/>
          </a:p>
        </p:txBody>
      </p:sp>
      <p:sp>
        <p:nvSpPr>
          <p:cNvPr id="21" name="Text 18"/>
          <p:cNvSpPr/>
          <p:nvPr/>
        </p:nvSpPr>
        <p:spPr>
          <a:xfrm>
            <a:off x="5074920" y="3749040"/>
            <a:ext cx="3566160" cy="420624"/>
          </a:xfrm>
          <a:prstGeom prst="rect">
            <a:avLst/>
          </a:prstGeom>
          <a:noFill/>
          <a:ln/>
        </p:spPr>
        <p:txBody>
          <a:bodyPr wrap="square" rtlCol="0" anchor="ctr"/>
          <a:lstStyle/>
          <a:p>
            <a:pPr marL="0" indent="0" algn="l">
              <a:buNone/>
            </a:pPr>
            <a:r>
              <a:rPr lang="en-US" sz="1450" dirty="0">
                <a:solidFill>
                  <a:srgbClr val="EAF4FF"/>
                </a:solidFill>
                <a:latin typeface="Calibri" pitchFamily="34" charset="0"/>
                <a:ea typeface="Calibri" pitchFamily="34" charset="-122"/>
                <a:cs typeface="Calibri" pitchFamily="34" charset="-120"/>
              </a:rPr>
              <a:t>Up to 1000 m reach</a:t>
            </a:r>
            <a:endParaRPr lang="en-US" sz="1450" dirty="0"/>
          </a:p>
        </p:txBody>
      </p:sp>
      <p:sp>
        <p:nvSpPr>
          <p:cNvPr id="22" name="Shape 19"/>
          <p:cNvSpPr/>
          <p:nvPr/>
        </p:nvSpPr>
        <p:spPr>
          <a:xfrm>
            <a:off x="4617720" y="4306824"/>
            <a:ext cx="310896" cy="310896"/>
          </a:xfrm>
          <a:prstGeom prst="ellipse">
            <a:avLst/>
          </a:prstGeom>
          <a:solidFill>
            <a:srgbClr val="22D3EE"/>
          </a:solidFill>
          <a:ln/>
        </p:spPr>
        <p:txBody>
          <a:bodyPr/>
          <a:lstStyle/>
          <a:p>
            <a:endParaRPr lang="en-DE"/>
          </a:p>
        </p:txBody>
      </p:sp>
      <p:sp>
        <p:nvSpPr>
          <p:cNvPr id="23" name="Text 20"/>
          <p:cNvSpPr/>
          <p:nvPr/>
        </p:nvSpPr>
        <p:spPr>
          <a:xfrm>
            <a:off x="4617720" y="4306824"/>
            <a:ext cx="310896" cy="310896"/>
          </a:xfrm>
          <a:prstGeom prst="rect">
            <a:avLst/>
          </a:prstGeom>
          <a:noFill/>
          <a:ln/>
        </p:spPr>
        <p:txBody>
          <a:bodyPr wrap="square" rtlCol="0" anchor="ctr"/>
          <a:lstStyle/>
          <a:p>
            <a:pPr marL="0" indent="0" algn="ctr">
              <a:buNone/>
            </a:pPr>
            <a:r>
              <a:rPr lang="en-US" sz="1400" b="1" dirty="0">
                <a:solidFill>
                  <a:srgbClr val="07122A"/>
                </a:solidFill>
                <a:latin typeface="Trebuchet MS" pitchFamily="34" charset="0"/>
                <a:ea typeface="Trebuchet MS" pitchFamily="34" charset="-122"/>
                <a:cs typeface="Trebuchet MS" pitchFamily="34" charset="-120"/>
              </a:rPr>
              <a:t>✓</a:t>
            </a:r>
            <a:endParaRPr lang="en-US" sz="1400" dirty="0"/>
          </a:p>
        </p:txBody>
      </p:sp>
      <p:sp>
        <p:nvSpPr>
          <p:cNvPr id="24" name="Text 21"/>
          <p:cNvSpPr/>
          <p:nvPr/>
        </p:nvSpPr>
        <p:spPr>
          <a:xfrm>
            <a:off x="5074920" y="4251960"/>
            <a:ext cx="3566160" cy="420624"/>
          </a:xfrm>
          <a:prstGeom prst="rect">
            <a:avLst/>
          </a:prstGeom>
          <a:noFill/>
          <a:ln/>
        </p:spPr>
        <p:txBody>
          <a:bodyPr wrap="square" rtlCol="0" anchor="ctr"/>
          <a:lstStyle/>
          <a:p>
            <a:pPr marL="0" indent="0" algn="l">
              <a:buNone/>
            </a:pPr>
            <a:r>
              <a:rPr lang="en-US" sz="1450" dirty="0">
                <a:solidFill>
                  <a:srgbClr val="EAF4FF"/>
                </a:solidFill>
                <a:latin typeface="Calibri" pitchFamily="34" charset="0"/>
                <a:ea typeface="Calibri" pitchFamily="34" charset="-122"/>
                <a:cs typeface="Calibri" pitchFamily="34" charset="-120"/>
              </a:rPr>
              <a:t>Power + data on the same cable</a:t>
            </a:r>
            <a:endParaRPr lang="en-US" sz="1450" dirty="0"/>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832"/>
        </a:solidFill>
        <a:effectLst/>
      </p:bgPr>
    </p:bg>
    <p:spTree>
      <p:nvGrpSpPr>
        <p:cNvPr id="1" name=""/>
        <p:cNvGrpSpPr/>
        <p:nvPr/>
      </p:nvGrpSpPr>
      <p:grpSpPr>
        <a:xfrm>
          <a:off x="0" y="0"/>
          <a:ext cx="0" cy="0"/>
          <a:chOff x="0" y="0"/>
          <a:chExt cx="0" cy="0"/>
        </a:xfrm>
      </p:grpSpPr>
      <p:sp>
        <p:nvSpPr>
          <p:cNvPr id="2" name="Shape 0"/>
          <p:cNvSpPr/>
          <p:nvPr/>
        </p:nvSpPr>
        <p:spPr>
          <a:xfrm>
            <a:off x="502920" y="384048"/>
            <a:ext cx="146304" cy="457200"/>
          </a:xfrm>
          <a:prstGeom prst="rect">
            <a:avLst/>
          </a:prstGeom>
          <a:solidFill>
            <a:srgbClr val="22D3EE"/>
          </a:solidFill>
          <a:ln/>
        </p:spPr>
        <p:txBody>
          <a:bodyPr/>
          <a:lstStyle/>
          <a:p>
            <a:endParaRPr lang="en-DE"/>
          </a:p>
        </p:txBody>
      </p:sp>
      <p:sp>
        <p:nvSpPr>
          <p:cNvPr id="3" name="Text 1"/>
          <p:cNvSpPr/>
          <p:nvPr/>
        </p:nvSpPr>
        <p:spPr>
          <a:xfrm>
            <a:off x="777240" y="310896"/>
            <a:ext cx="7863840" cy="640080"/>
          </a:xfrm>
          <a:prstGeom prst="rect">
            <a:avLst/>
          </a:prstGeom>
          <a:noFill/>
          <a:ln/>
        </p:spPr>
        <p:txBody>
          <a:bodyPr wrap="square" lIns="0" tIns="0" rIns="0" bIns="0" rtlCol="0" anchor="ctr"/>
          <a:lstStyle/>
          <a:p>
            <a:pPr marL="0" indent="0" algn="l">
              <a:buNone/>
            </a:pPr>
            <a:r>
              <a:rPr lang="en-US" sz="2700" b="1" dirty="0">
                <a:solidFill>
                  <a:srgbClr val="EAF4FF"/>
                </a:solidFill>
                <a:latin typeface="Trebuchet MS" pitchFamily="34" charset="0"/>
                <a:ea typeface="Trebuchet MS" pitchFamily="34" charset="-122"/>
                <a:cs typeface="Trebuchet MS" pitchFamily="34" charset="-120"/>
              </a:rPr>
              <a:t>Why Hazardous Areas Are Difficult</a:t>
            </a:r>
            <a:endParaRPr lang="en-US" sz="2700" dirty="0"/>
          </a:p>
        </p:txBody>
      </p:sp>
      <p:sp>
        <p:nvSpPr>
          <p:cNvPr id="4" name="Text 2"/>
          <p:cNvSpPr/>
          <p:nvPr/>
        </p:nvSpPr>
        <p:spPr>
          <a:xfrm>
            <a:off x="8321040" y="384048"/>
            <a:ext cx="548640" cy="457200"/>
          </a:xfrm>
          <a:prstGeom prst="rect">
            <a:avLst/>
          </a:prstGeom>
          <a:noFill/>
          <a:ln/>
        </p:spPr>
        <p:txBody>
          <a:bodyPr wrap="square" rtlCol="0" anchor="ctr"/>
          <a:lstStyle/>
          <a:p>
            <a:pPr marL="0" indent="0" algn="r">
              <a:buNone/>
            </a:pPr>
            <a:r>
              <a:rPr lang="en-US" sz="1200" b="1" dirty="0">
                <a:solidFill>
                  <a:srgbClr val="22D3EE"/>
                </a:solidFill>
                <a:latin typeface="Trebuchet MS" pitchFamily="34" charset="0"/>
                <a:ea typeface="Trebuchet MS" pitchFamily="34" charset="-122"/>
                <a:cs typeface="Trebuchet MS" pitchFamily="34" charset="-120"/>
              </a:rPr>
              <a:t>06</a:t>
            </a:r>
            <a:endParaRPr lang="en-US" sz="1200" dirty="0"/>
          </a:p>
        </p:txBody>
      </p:sp>
      <p:sp>
        <p:nvSpPr>
          <p:cNvPr id="5" name="Text 3"/>
          <p:cNvSpPr/>
          <p:nvPr/>
        </p:nvSpPr>
        <p:spPr>
          <a:xfrm>
            <a:off x="502920" y="1078992"/>
            <a:ext cx="3931920" cy="292608"/>
          </a:xfrm>
          <a:prstGeom prst="rect">
            <a:avLst/>
          </a:prstGeom>
          <a:noFill/>
          <a:ln/>
        </p:spPr>
        <p:txBody>
          <a:bodyPr wrap="square" rtlCol="0" anchor="ctr"/>
          <a:lstStyle/>
          <a:p>
            <a:pPr marL="0" indent="0">
              <a:buNone/>
            </a:pPr>
            <a:r>
              <a:rPr lang="en-US" sz="1300" b="1" kern="0" spc="100" dirty="0">
                <a:solidFill>
                  <a:srgbClr val="22D3EE"/>
                </a:solidFill>
                <a:latin typeface="Trebuchet MS" pitchFamily="34" charset="0"/>
                <a:ea typeface="Trebuchet MS" pitchFamily="34" charset="-122"/>
                <a:cs typeface="Trebuchet MS" pitchFamily="34" charset="-120"/>
              </a:rPr>
              <a:t>ZONE CLASSIFICATION</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3931920" cy="2048256"/>
        </p:xfrm>
        <a:graphic>
          <a:graphicData uri="http://schemas.openxmlformats.org/drawingml/2006/table">
            <a:tbl>
              <a:tblPr/>
              <a:tblGrid>
                <a:gridCol w="137160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tblGrid>
              <a:tr h="402336">
                <a:tc>
                  <a:txBody>
                    <a:bodyPr/>
                    <a:lstStyle/>
                    <a:p>
                      <a:pPr marL="0" indent="0">
                        <a:buNone/>
                      </a:pPr>
                      <a:r>
                        <a:rPr lang="en-US" sz="1350" b="1" dirty="0">
                          <a:solidFill>
                            <a:srgbClr val="07122A"/>
                          </a:solidFill>
                          <a:latin typeface="Trebuchet MS" pitchFamily="34" charset="0"/>
                          <a:ea typeface="Trebuchet MS" pitchFamily="34" charset="-122"/>
                          <a:cs typeface="Trebuchet MS" pitchFamily="34" charset="-120"/>
                        </a:rPr>
                        <a:t>Zone</a:t>
                      </a:r>
                      <a:endParaRPr lang="en-US" sz="1350" dirty="0">
                        <a:latin typeface="Trebuchet MS" charset="0"/>
                        <a:ea typeface="Trebuchet MS" charset="0"/>
                        <a:cs typeface="Trebuchet MS" charset="0"/>
                      </a:endParaRPr>
                    </a:p>
                  </a:txBody>
                  <a:tcPr anchor="ctr">
                    <a:lnL w="12700" cap="flat" cmpd="sng" algn="ctr">
                      <a:solidFill>
                        <a:srgbClr val="0A1832"/>
                      </a:solidFill>
                      <a:prstDash val="solid"/>
                      <a:round/>
                      <a:headEnd type="none" w="med" len="med"/>
                      <a:tailEnd type="none" w="med" len="med"/>
                    </a:lnL>
                    <a:lnR w="12700" cap="flat" cmpd="sng" algn="ctr">
                      <a:solidFill>
                        <a:srgbClr val="0A1832"/>
                      </a:solidFill>
                      <a:prstDash val="solid"/>
                      <a:round/>
                      <a:headEnd type="none" w="med" len="med"/>
                      <a:tailEnd type="none" w="med" len="med"/>
                    </a:lnR>
                    <a:lnT w="12700" cap="flat" cmpd="sng" algn="ctr">
                      <a:solidFill>
                        <a:srgbClr val="0A1832"/>
                      </a:solidFill>
                      <a:prstDash val="solid"/>
                      <a:round/>
                      <a:headEnd type="none" w="med" len="med"/>
                      <a:tailEnd type="none" w="med" len="med"/>
                    </a:lnT>
                    <a:lnB w="12700" cap="flat" cmpd="sng" algn="ctr">
                      <a:solidFill>
                        <a:srgbClr val="0A1832"/>
                      </a:solidFill>
                      <a:prstDash val="solid"/>
                      <a:round/>
                      <a:headEnd type="none" w="med" len="med"/>
                      <a:tailEnd type="none" w="med" len="med"/>
                    </a:lnB>
                    <a:solidFill>
                      <a:srgbClr val="22D3EE"/>
                    </a:solidFill>
                  </a:tcPr>
                </a:tc>
                <a:tc>
                  <a:txBody>
                    <a:bodyPr/>
                    <a:lstStyle/>
                    <a:p>
                      <a:pPr marL="0" indent="0">
                        <a:buNone/>
                      </a:pPr>
                      <a:r>
                        <a:rPr lang="en-US" sz="1350" b="1" dirty="0">
                          <a:solidFill>
                            <a:srgbClr val="07122A"/>
                          </a:solidFill>
                          <a:latin typeface="Trebuchet MS" pitchFamily="34" charset="0"/>
                          <a:ea typeface="Trebuchet MS" pitchFamily="34" charset="-122"/>
                          <a:cs typeface="Trebuchet MS" pitchFamily="34" charset="-120"/>
                        </a:rPr>
                        <a:t>Meaning</a:t>
                      </a:r>
                      <a:endParaRPr lang="en-US" sz="1350" dirty="0">
                        <a:latin typeface="Trebuchet MS" charset="0"/>
                        <a:ea typeface="Trebuchet MS" charset="0"/>
                        <a:cs typeface="Trebuchet MS" charset="0"/>
                      </a:endParaRPr>
                    </a:p>
                  </a:txBody>
                  <a:tcPr anchor="ctr">
                    <a:lnL w="12700" cap="flat" cmpd="sng" algn="ctr">
                      <a:solidFill>
                        <a:srgbClr val="0A1832"/>
                      </a:solidFill>
                      <a:prstDash val="solid"/>
                      <a:round/>
                      <a:headEnd type="none" w="med" len="med"/>
                      <a:tailEnd type="none" w="med" len="med"/>
                    </a:lnL>
                    <a:lnR w="12700" cap="flat" cmpd="sng" algn="ctr">
                      <a:solidFill>
                        <a:srgbClr val="0A1832"/>
                      </a:solidFill>
                      <a:prstDash val="solid"/>
                      <a:round/>
                      <a:headEnd type="none" w="med" len="med"/>
                      <a:tailEnd type="none" w="med" len="med"/>
                    </a:lnR>
                    <a:lnT w="12700" cap="flat" cmpd="sng" algn="ctr">
                      <a:solidFill>
                        <a:srgbClr val="0A1832"/>
                      </a:solidFill>
                      <a:prstDash val="solid"/>
                      <a:round/>
                      <a:headEnd type="none" w="med" len="med"/>
                      <a:tailEnd type="none" w="med" len="med"/>
                    </a:lnT>
                    <a:lnB w="12700" cap="flat" cmpd="sng" algn="ctr">
                      <a:solidFill>
                        <a:srgbClr val="0A1832"/>
                      </a:solidFill>
                      <a:prstDash val="solid"/>
                      <a:round/>
                      <a:headEnd type="none" w="med" len="med"/>
                      <a:tailEnd type="none" w="med" len="med"/>
                    </a:lnB>
                    <a:solidFill>
                      <a:srgbClr val="22D3EE"/>
                    </a:solidFill>
                  </a:tcPr>
                </a:tc>
                <a:extLst>
                  <a:ext uri="{0D108BD9-81ED-4DB2-BD59-A6C34878D82A}">
                    <a16:rowId xmlns:a16="http://schemas.microsoft.com/office/drawing/2014/main" val="10000"/>
                  </a:ext>
                </a:extLst>
              </a:tr>
              <a:tr h="548640">
                <a:tc>
                  <a:txBody>
                    <a:bodyPr/>
                    <a:lstStyle/>
                    <a:p>
                      <a:pPr marL="0" indent="0">
                        <a:buNone/>
                      </a:pPr>
                      <a:r>
                        <a:rPr lang="en-US" sz="1350" b="1" dirty="0">
                          <a:solidFill>
                            <a:srgbClr val="FF6B6B"/>
                          </a:solidFill>
                          <a:latin typeface="Calibri" pitchFamily="34" charset="0"/>
                          <a:ea typeface="Calibri" pitchFamily="34" charset="-122"/>
                          <a:cs typeface="Calibri" pitchFamily="34" charset="-120"/>
                        </a:rPr>
                        <a:t>Zone 0</a:t>
                      </a:r>
                      <a:endParaRPr lang="en-US" sz="1350" dirty="0">
                        <a:latin typeface="Calibri" charset="0"/>
                        <a:ea typeface="Calibri" charset="0"/>
                        <a:cs typeface="Calibri" charset="0"/>
                      </a:endParaRPr>
                    </a:p>
                  </a:txBody>
                  <a:tcPr anchor="ctr">
                    <a:lnL w="12700" cap="flat" cmpd="sng" algn="ctr">
                      <a:solidFill>
                        <a:srgbClr val="0A1832"/>
                      </a:solidFill>
                      <a:prstDash val="solid"/>
                      <a:round/>
                      <a:headEnd type="none" w="med" len="med"/>
                      <a:tailEnd type="none" w="med" len="med"/>
                    </a:lnL>
                    <a:lnR w="12700" cap="flat" cmpd="sng" algn="ctr">
                      <a:solidFill>
                        <a:srgbClr val="0A1832"/>
                      </a:solidFill>
                      <a:prstDash val="solid"/>
                      <a:round/>
                      <a:headEnd type="none" w="med" len="med"/>
                      <a:tailEnd type="none" w="med" len="med"/>
                    </a:lnR>
                    <a:lnT w="12700" cap="flat" cmpd="sng" algn="ctr">
                      <a:solidFill>
                        <a:srgbClr val="0A1832"/>
                      </a:solidFill>
                      <a:prstDash val="solid"/>
                      <a:round/>
                      <a:headEnd type="none" w="med" len="med"/>
                      <a:tailEnd type="none" w="med" len="med"/>
                    </a:lnT>
                    <a:lnB w="12700" cap="flat" cmpd="sng" algn="ctr">
                      <a:solidFill>
                        <a:srgbClr val="0A1832"/>
                      </a:solidFill>
                      <a:prstDash val="solid"/>
                      <a:round/>
                      <a:headEnd type="none" w="med" len="med"/>
                      <a:tailEnd type="none" w="med" len="med"/>
                    </a:lnB>
                    <a:solidFill>
                      <a:srgbClr val="13294F"/>
                    </a:solidFill>
                  </a:tcPr>
                </a:tc>
                <a:tc>
                  <a:txBody>
                    <a:bodyPr/>
                    <a:lstStyle/>
                    <a:p>
                      <a:pPr marL="0" indent="0">
                        <a:buNone/>
                      </a:pPr>
                      <a:r>
                        <a:rPr lang="en-US" sz="1350" dirty="0">
                          <a:solidFill>
                            <a:srgbClr val="EAF4FF"/>
                          </a:solidFill>
                          <a:latin typeface="Calibri" pitchFamily="34" charset="0"/>
                          <a:ea typeface="Calibri" pitchFamily="34" charset="-122"/>
                          <a:cs typeface="Calibri" pitchFamily="34" charset="-120"/>
                        </a:rPr>
                        <a:t>Always explosive</a:t>
                      </a:r>
                      <a:endParaRPr lang="en-US" sz="1350" dirty="0">
                        <a:latin typeface="Calibri" charset="0"/>
                        <a:ea typeface="Calibri" charset="0"/>
                        <a:cs typeface="Calibri" charset="0"/>
                      </a:endParaRPr>
                    </a:p>
                  </a:txBody>
                  <a:tcPr anchor="ctr">
                    <a:lnL w="12700" cap="flat" cmpd="sng" algn="ctr">
                      <a:solidFill>
                        <a:srgbClr val="0A1832"/>
                      </a:solidFill>
                      <a:prstDash val="solid"/>
                      <a:round/>
                      <a:headEnd type="none" w="med" len="med"/>
                      <a:tailEnd type="none" w="med" len="med"/>
                    </a:lnL>
                    <a:lnR w="12700" cap="flat" cmpd="sng" algn="ctr">
                      <a:solidFill>
                        <a:srgbClr val="0A1832"/>
                      </a:solidFill>
                      <a:prstDash val="solid"/>
                      <a:round/>
                      <a:headEnd type="none" w="med" len="med"/>
                      <a:tailEnd type="none" w="med" len="med"/>
                    </a:lnR>
                    <a:lnT w="12700" cap="flat" cmpd="sng" algn="ctr">
                      <a:solidFill>
                        <a:srgbClr val="0A1832"/>
                      </a:solidFill>
                      <a:prstDash val="solid"/>
                      <a:round/>
                      <a:headEnd type="none" w="med" len="med"/>
                      <a:tailEnd type="none" w="med" len="med"/>
                    </a:lnT>
                    <a:lnB w="12700" cap="flat" cmpd="sng" algn="ctr">
                      <a:solidFill>
                        <a:srgbClr val="0A1832"/>
                      </a:solidFill>
                      <a:prstDash val="solid"/>
                      <a:round/>
                      <a:headEnd type="none" w="med" len="med"/>
                      <a:tailEnd type="none" w="med" len="med"/>
                    </a:lnB>
                    <a:solidFill>
                      <a:srgbClr val="13294F"/>
                    </a:solidFill>
                  </a:tcPr>
                </a:tc>
                <a:extLst>
                  <a:ext uri="{0D108BD9-81ED-4DB2-BD59-A6C34878D82A}">
                    <a16:rowId xmlns:a16="http://schemas.microsoft.com/office/drawing/2014/main" val="10001"/>
                  </a:ext>
                </a:extLst>
              </a:tr>
              <a:tr h="548640">
                <a:tc>
                  <a:txBody>
                    <a:bodyPr/>
                    <a:lstStyle/>
                    <a:p>
                      <a:pPr marL="0" indent="0">
                        <a:buNone/>
                      </a:pPr>
                      <a:r>
                        <a:rPr lang="en-US" sz="1350" b="1" dirty="0">
                          <a:solidFill>
                            <a:srgbClr val="F6A623"/>
                          </a:solidFill>
                          <a:latin typeface="Calibri" pitchFamily="34" charset="0"/>
                          <a:ea typeface="Calibri" pitchFamily="34" charset="-122"/>
                          <a:cs typeface="Calibri" pitchFamily="34" charset="-120"/>
                        </a:rPr>
                        <a:t>Zone 1</a:t>
                      </a:r>
                      <a:endParaRPr lang="en-US" sz="1350" dirty="0">
                        <a:latin typeface="Calibri" charset="0"/>
                        <a:ea typeface="Calibri" charset="0"/>
                        <a:cs typeface="Calibri" charset="0"/>
                      </a:endParaRPr>
                    </a:p>
                  </a:txBody>
                  <a:tcPr anchor="ctr">
                    <a:lnL w="12700" cap="flat" cmpd="sng" algn="ctr">
                      <a:solidFill>
                        <a:srgbClr val="0A1832"/>
                      </a:solidFill>
                      <a:prstDash val="solid"/>
                      <a:round/>
                      <a:headEnd type="none" w="med" len="med"/>
                      <a:tailEnd type="none" w="med" len="med"/>
                    </a:lnL>
                    <a:lnR w="12700" cap="flat" cmpd="sng" algn="ctr">
                      <a:solidFill>
                        <a:srgbClr val="0A1832"/>
                      </a:solidFill>
                      <a:prstDash val="solid"/>
                      <a:round/>
                      <a:headEnd type="none" w="med" len="med"/>
                      <a:tailEnd type="none" w="med" len="med"/>
                    </a:lnR>
                    <a:lnT w="12700" cap="flat" cmpd="sng" algn="ctr">
                      <a:solidFill>
                        <a:srgbClr val="0A1832"/>
                      </a:solidFill>
                      <a:prstDash val="solid"/>
                      <a:round/>
                      <a:headEnd type="none" w="med" len="med"/>
                      <a:tailEnd type="none" w="med" len="med"/>
                    </a:lnT>
                    <a:lnB w="12700" cap="flat" cmpd="sng" algn="ctr">
                      <a:solidFill>
                        <a:srgbClr val="0A1832"/>
                      </a:solidFill>
                      <a:prstDash val="solid"/>
                      <a:round/>
                      <a:headEnd type="none" w="med" len="med"/>
                      <a:tailEnd type="none" w="med" len="med"/>
                    </a:lnB>
                    <a:solidFill>
                      <a:srgbClr val="13294F"/>
                    </a:solidFill>
                  </a:tcPr>
                </a:tc>
                <a:tc>
                  <a:txBody>
                    <a:bodyPr/>
                    <a:lstStyle/>
                    <a:p>
                      <a:pPr marL="0" indent="0">
                        <a:buNone/>
                      </a:pPr>
                      <a:r>
                        <a:rPr lang="en-US" sz="1350" dirty="0">
                          <a:solidFill>
                            <a:srgbClr val="EAF4FF"/>
                          </a:solidFill>
                          <a:latin typeface="Calibri" pitchFamily="34" charset="0"/>
                          <a:ea typeface="Calibri" pitchFamily="34" charset="-122"/>
                          <a:cs typeface="Calibri" pitchFamily="34" charset="-120"/>
                        </a:rPr>
                        <a:t>Sometimes explosive</a:t>
                      </a:r>
                      <a:endParaRPr lang="en-US" sz="1350" dirty="0">
                        <a:latin typeface="Calibri" charset="0"/>
                        <a:ea typeface="Calibri" charset="0"/>
                        <a:cs typeface="Calibri" charset="0"/>
                      </a:endParaRPr>
                    </a:p>
                  </a:txBody>
                  <a:tcPr anchor="ctr">
                    <a:lnL w="12700" cap="flat" cmpd="sng" algn="ctr">
                      <a:solidFill>
                        <a:srgbClr val="0A1832"/>
                      </a:solidFill>
                      <a:prstDash val="solid"/>
                      <a:round/>
                      <a:headEnd type="none" w="med" len="med"/>
                      <a:tailEnd type="none" w="med" len="med"/>
                    </a:lnL>
                    <a:lnR w="12700" cap="flat" cmpd="sng" algn="ctr">
                      <a:solidFill>
                        <a:srgbClr val="0A1832"/>
                      </a:solidFill>
                      <a:prstDash val="solid"/>
                      <a:round/>
                      <a:headEnd type="none" w="med" len="med"/>
                      <a:tailEnd type="none" w="med" len="med"/>
                    </a:lnR>
                    <a:lnT w="12700" cap="flat" cmpd="sng" algn="ctr">
                      <a:solidFill>
                        <a:srgbClr val="0A1832"/>
                      </a:solidFill>
                      <a:prstDash val="solid"/>
                      <a:round/>
                      <a:headEnd type="none" w="med" len="med"/>
                      <a:tailEnd type="none" w="med" len="med"/>
                    </a:lnT>
                    <a:lnB w="12700" cap="flat" cmpd="sng" algn="ctr">
                      <a:solidFill>
                        <a:srgbClr val="0A1832"/>
                      </a:solidFill>
                      <a:prstDash val="solid"/>
                      <a:round/>
                      <a:headEnd type="none" w="med" len="med"/>
                      <a:tailEnd type="none" w="med" len="med"/>
                    </a:lnB>
                    <a:solidFill>
                      <a:srgbClr val="13294F"/>
                    </a:solidFill>
                  </a:tcPr>
                </a:tc>
                <a:extLst>
                  <a:ext uri="{0D108BD9-81ED-4DB2-BD59-A6C34878D82A}">
                    <a16:rowId xmlns:a16="http://schemas.microsoft.com/office/drawing/2014/main" val="10002"/>
                  </a:ext>
                </a:extLst>
              </a:tr>
              <a:tr h="548640">
                <a:tc>
                  <a:txBody>
                    <a:bodyPr/>
                    <a:lstStyle/>
                    <a:p>
                      <a:pPr marL="0" indent="0">
                        <a:buNone/>
                      </a:pPr>
                      <a:r>
                        <a:rPr lang="en-US" sz="1350" b="1" dirty="0">
                          <a:solidFill>
                            <a:srgbClr val="33D9A6"/>
                          </a:solidFill>
                          <a:latin typeface="Calibri" pitchFamily="34" charset="0"/>
                          <a:ea typeface="Calibri" pitchFamily="34" charset="-122"/>
                          <a:cs typeface="Calibri" pitchFamily="34" charset="-120"/>
                        </a:rPr>
                        <a:t>Zone 2</a:t>
                      </a:r>
                      <a:endParaRPr lang="en-US" sz="1350" dirty="0">
                        <a:latin typeface="Calibri" charset="0"/>
                        <a:ea typeface="Calibri" charset="0"/>
                        <a:cs typeface="Calibri" charset="0"/>
                      </a:endParaRPr>
                    </a:p>
                  </a:txBody>
                  <a:tcPr anchor="ctr">
                    <a:lnL w="12700" cap="flat" cmpd="sng" algn="ctr">
                      <a:solidFill>
                        <a:srgbClr val="0A1832"/>
                      </a:solidFill>
                      <a:prstDash val="solid"/>
                      <a:round/>
                      <a:headEnd type="none" w="med" len="med"/>
                      <a:tailEnd type="none" w="med" len="med"/>
                    </a:lnL>
                    <a:lnR w="12700" cap="flat" cmpd="sng" algn="ctr">
                      <a:solidFill>
                        <a:srgbClr val="0A1832"/>
                      </a:solidFill>
                      <a:prstDash val="solid"/>
                      <a:round/>
                      <a:headEnd type="none" w="med" len="med"/>
                      <a:tailEnd type="none" w="med" len="med"/>
                    </a:lnR>
                    <a:lnT w="12700" cap="flat" cmpd="sng" algn="ctr">
                      <a:solidFill>
                        <a:srgbClr val="0A1832"/>
                      </a:solidFill>
                      <a:prstDash val="solid"/>
                      <a:round/>
                      <a:headEnd type="none" w="med" len="med"/>
                      <a:tailEnd type="none" w="med" len="med"/>
                    </a:lnT>
                    <a:lnB w="12700" cap="flat" cmpd="sng" algn="ctr">
                      <a:solidFill>
                        <a:srgbClr val="0A1832"/>
                      </a:solidFill>
                      <a:prstDash val="solid"/>
                      <a:round/>
                      <a:headEnd type="none" w="med" len="med"/>
                      <a:tailEnd type="none" w="med" len="med"/>
                    </a:lnB>
                    <a:solidFill>
                      <a:srgbClr val="13294F"/>
                    </a:solidFill>
                  </a:tcPr>
                </a:tc>
                <a:tc>
                  <a:txBody>
                    <a:bodyPr/>
                    <a:lstStyle/>
                    <a:p>
                      <a:pPr marL="0" indent="0">
                        <a:buNone/>
                      </a:pPr>
                      <a:r>
                        <a:rPr lang="en-US" sz="1350" dirty="0">
                          <a:solidFill>
                            <a:srgbClr val="EAF4FF"/>
                          </a:solidFill>
                          <a:latin typeface="Calibri" pitchFamily="34" charset="0"/>
                          <a:ea typeface="Calibri" pitchFamily="34" charset="-122"/>
                          <a:cs typeface="Calibri" pitchFamily="34" charset="-120"/>
                        </a:rPr>
                        <a:t>Rarely explosive</a:t>
                      </a:r>
                      <a:endParaRPr lang="en-US" sz="1350" dirty="0">
                        <a:latin typeface="Calibri" charset="0"/>
                        <a:ea typeface="Calibri" charset="0"/>
                        <a:cs typeface="Calibri" charset="0"/>
                      </a:endParaRPr>
                    </a:p>
                  </a:txBody>
                  <a:tcPr anchor="ctr">
                    <a:lnL w="12700" cap="flat" cmpd="sng" algn="ctr">
                      <a:solidFill>
                        <a:srgbClr val="0A1832"/>
                      </a:solidFill>
                      <a:prstDash val="solid"/>
                      <a:round/>
                      <a:headEnd type="none" w="med" len="med"/>
                      <a:tailEnd type="none" w="med" len="med"/>
                    </a:lnL>
                    <a:lnR w="12700" cap="flat" cmpd="sng" algn="ctr">
                      <a:solidFill>
                        <a:srgbClr val="0A1832"/>
                      </a:solidFill>
                      <a:prstDash val="solid"/>
                      <a:round/>
                      <a:headEnd type="none" w="med" len="med"/>
                      <a:tailEnd type="none" w="med" len="med"/>
                    </a:lnR>
                    <a:lnT w="12700" cap="flat" cmpd="sng" algn="ctr">
                      <a:solidFill>
                        <a:srgbClr val="0A1832"/>
                      </a:solidFill>
                      <a:prstDash val="solid"/>
                      <a:round/>
                      <a:headEnd type="none" w="med" len="med"/>
                      <a:tailEnd type="none" w="med" len="med"/>
                    </a:lnT>
                    <a:lnB w="12700" cap="flat" cmpd="sng" algn="ctr">
                      <a:solidFill>
                        <a:srgbClr val="0A1832"/>
                      </a:solidFill>
                      <a:prstDash val="solid"/>
                      <a:round/>
                      <a:headEnd type="none" w="med" len="med"/>
                      <a:tailEnd type="none" w="med" len="med"/>
                    </a:lnB>
                    <a:solidFill>
                      <a:srgbClr val="13294F"/>
                    </a:solidFill>
                  </a:tcPr>
                </a:tc>
                <a:extLst>
                  <a:ext uri="{0D108BD9-81ED-4DB2-BD59-A6C34878D82A}">
                    <a16:rowId xmlns:a16="http://schemas.microsoft.com/office/drawing/2014/main" val="10003"/>
                  </a:ext>
                </a:extLst>
              </a:tr>
            </a:tbl>
          </a:graphicData>
        </a:graphic>
      </p:graphicFrame>
      <p:sp>
        <p:nvSpPr>
          <p:cNvPr id="6" name="Shape 4"/>
          <p:cNvSpPr/>
          <p:nvPr/>
        </p:nvSpPr>
        <p:spPr>
          <a:xfrm>
            <a:off x="4709160" y="1078992"/>
            <a:ext cx="3931920" cy="2148840"/>
          </a:xfrm>
          <a:prstGeom prst="roundRect">
            <a:avLst>
              <a:gd name="adj" fmla="val 3404"/>
            </a:avLst>
          </a:prstGeom>
          <a:solidFill>
            <a:srgbClr val="351320"/>
          </a:solidFill>
          <a:ln w="15875">
            <a:solidFill>
              <a:srgbClr val="FF6B6B"/>
            </a:solidFill>
            <a:prstDash val="solid"/>
          </a:ln>
          <a:effectLst>
            <a:outerShdw blurRad="114300" dist="38100" dir="5400000" algn="bl" rotWithShape="0">
              <a:srgbClr val="020912">
                <a:alpha val="45000"/>
              </a:srgbClr>
            </a:outerShdw>
          </a:effectLst>
        </p:spPr>
        <p:txBody>
          <a:bodyPr/>
          <a:lstStyle/>
          <a:p>
            <a:endParaRPr lang="en-DE"/>
          </a:p>
        </p:txBody>
      </p:sp>
      <p:sp>
        <p:nvSpPr>
          <p:cNvPr id="8" name="Text 5"/>
          <p:cNvSpPr/>
          <p:nvPr/>
        </p:nvSpPr>
        <p:spPr>
          <a:xfrm>
            <a:off x="4937760" y="1225296"/>
            <a:ext cx="3520440" cy="457200"/>
          </a:xfrm>
          <a:prstGeom prst="rect">
            <a:avLst/>
          </a:prstGeom>
          <a:noFill/>
          <a:ln/>
        </p:spPr>
        <p:txBody>
          <a:bodyPr wrap="square" rtlCol="0" anchor="ctr"/>
          <a:lstStyle/>
          <a:p>
            <a:pPr marL="0" indent="0" algn="l">
              <a:buNone/>
            </a:pPr>
            <a:r>
              <a:rPr lang="en-US" sz="1450" b="1" dirty="0">
                <a:solidFill>
                  <a:srgbClr val="FF6B6B"/>
                </a:solidFill>
                <a:latin typeface="Trebuchet MS" pitchFamily="34" charset="0"/>
                <a:ea typeface="Trebuchet MS" pitchFamily="34" charset="-122"/>
                <a:cs typeface="Trebuchet MS" pitchFamily="34" charset="-120"/>
              </a:rPr>
              <a:t>✕  </a:t>
            </a:r>
            <a:r>
              <a:rPr lang="en-US" sz="1450" b="1" dirty="0">
                <a:solidFill>
                  <a:srgbClr val="EAF4FF"/>
                </a:solidFill>
                <a:latin typeface="Trebuchet MS" pitchFamily="34" charset="0"/>
                <a:ea typeface="Trebuchet MS" pitchFamily="34" charset="-122"/>
                <a:cs typeface="Trebuchet MS" pitchFamily="34" charset="-120"/>
              </a:rPr>
              <a:t>Standard Ethernet can't operate safely</a:t>
            </a:r>
            <a:endParaRPr lang="en-US" sz="1450" dirty="0"/>
          </a:p>
        </p:txBody>
      </p:sp>
      <p:sp>
        <p:nvSpPr>
          <p:cNvPr id="9" name="Text 6"/>
          <p:cNvSpPr/>
          <p:nvPr/>
        </p:nvSpPr>
        <p:spPr>
          <a:xfrm>
            <a:off x="5029200" y="1828800"/>
            <a:ext cx="3383280" cy="384048"/>
          </a:xfrm>
          <a:prstGeom prst="rect">
            <a:avLst/>
          </a:prstGeom>
          <a:noFill/>
          <a:ln/>
        </p:spPr>
        <p:txBody>
          <a:bodyPr wrap="square" rtlCol="0" anchor="ctr"/>
          <a:lstStyle/>
          <a:p>
            <a:pPr marL="0" indent="0" algn="l">
              <a:buNone/>
            </a:pPr>
            <a:r>
              <a:rPr lang="en-US" sz="1350" b="1" dirty="0">
                <a:solidFill>
                  <a:srgbClr val="FF6B6B"/>
                </a:solidFill>
                <a:latin typeface="Calibri" pitchFamily="34" charset="0"/>
                <a:ea typeface="Calibri" pitchFamily="34" charset="-122"/>
                <a:cs typeface="Calibri" pitchFamily="34" charset="-120"/>
              </a:rPr>
              <a:t>•  </a:t>
            </a:r>
            <a:r>
              <a:rPr lang="en-US" sz="1350" dirty="0">
                <a:solidFill>
                  <a:srgbClr val="F3D6D6"/>
                </a:solidFill>
                <a:latin typeface="Calibri" pitchFamily="34" charset="0"/>
                <a:ea typeface="Calibri" pitchFamily="34" charset="-122"/>
                <a:cs typeface="Calibri" pitchFamily="34" charset="-120"/>
              </a:rPr>
              <a:t>Too much energy</a:t>
            </a:r>
            <a:endParaRPr lang="en-US" sz="1350" dirty="0"/>
          </a:p>
        </p:txBody>
      </p:sp>
      <p:sp>
        <p:nvSpPr>
          <p:cNvPr id="10" name="Text 7"/>
          <p:cNvSpPr/>
          <p:nvPr/>
        </p:nvSpPr>
        <p:spPr>
          <a:xfrm>
            <a:off x="5029200" y="2240280"/>
            <a:ext cx="3383280" cy="384048"/>
          </a:xfrm>
          <a:prstGeom prst="rect">
            <a:avLst/>
          </a:prstGeom>
          <a:noFill/>
          <a:ln/>
        </p:spPr>
        <p:txBody>
          <a:bodyPr wrap="square" rtlCol="0" anchor="ctr"/>
          <a:lstStyle/>
          <a:p>
            <a:pPr marL="0" indent="0" algn="l">
              <a:buNone/>
            </a:pPr>
            <a:r>
              <a:rPr lang="en-US" sz="1350" b="1" dirty="0">
                <a:solidFill>
                  <a:srgbClr val="FF6B6B"/>
                </a:solidFill>
                <a:latin typeface="Calibri" pitchFamily="34" charset="0"/>
                <a:ea typeface="Calibri" pitchFamily="34" charset="-122"/>
                <a:cs typeface="Calibri" pitchFamily="34" charset="-120"/>
              </a:rPr>
              <a:t>•  </a:t>
            </a:r>
            <a:r>
              <a:rPr lang="en-US" sz="1350" dirty="0">
                <a:solidFill>
                  <a:srgbClr val="F3D6D6"/>
                </a:solidFill>
                <a:latin typeface="Calibri" pitchFamily="34" charset="0"/>
                <a:ea typeface="Calibri" pitchFamily="34" charset="-122"/>
                <a:cs typeface="Calibri" pitchFamily="34" charset="-120"/>
              </a:rPr>
              <a:t>Not intrinsically safe</a:t>
            </a:r>
            <a:endParaRPr lang="en-US" sz="1350" dirty="0"/>
          </a:p>
        </p:txBody>
      </p:sp>
      <p:sp>
        <p:nvSpPr>
          <p:cNvPr id="11" name="Text 8"/>
          <p:cNvSpPr/>
          <p:nvPr/>
        </p:nvSpPr>
        <p:spPr>
          <a:xfrm>
            <a:off x="5029200" y="2651760"/>
            <a:ext cx="3383280" cy="384048"/>
          </a:xfrm>
          <a:prstGeom prst="rect">
            <a:avLst/>
          </a:prstGeom>
          <a:noFill/>
          <a:ln/>
        </p:spPr>
        <p:txBody>
          <a:bodyPr wrap="square" rtlCol="0" anchor="ctr"/>
          <a:lstStyle/>
          <a:p>
            <a:pPr marL="0" indent="0" algn="l">
              <a:buNone/>
            </a:pPr>
            <a:r>
              <a:rPr lang="en-US" sz="1350" b="1" dirty="0">
                <a:solidFill>
                  <a:srgbClr val="FF6B6B"/>
                </a:solidFill>
                <a:latin typeface="Calibri" pitchFamily="34" charset="0"/>
                <a:ea typeface="Calibri" pitchFamily="34" charset="-122"/>
                <a:cs typeface="Calibri" pitchFamily="34" charset="-120"/>
              </a:rPr>
              <a:t>•  </a:t>
            </a:r>
            <a:r>
              <a:rPr lang="en-US" sz="1350" dirty="0">
                <a:solidFill>
                  <a:srgbClr val="F3D6D6"/>
                </a:solidFill>
                <a:latin typeface="Calibri" pitchFamily="34" charset="0"/>
                <a:ea typeface="Calibri" pitchFamily="34" charset="-122"/>
                <a:cs typeface="Calibri" pitchFamily="34" charset="-120"/>
              </a:rPr>
              <a:t>RJ45 connector unsuitable</a:t>
            </a:r>
            <a:endParaRPr lang="en-US" sz="1350" dirty="0"/>
          </a:p>
        </p:txBody>
      </p:sp>
      <p:sp>
        <p:nvSpPr>
          <p:cNvPr id="12" name="Shape 9"/>
          <p:cNvSpPr/>
          <p:nvPr/>
        </p:nvSpPr>
        <p:spPr>
          <a:xfrm>
            <a:off x="4709160" y="3429000"/>
            <a:ext cx="3931920" cy="1280160"/>
          </a:xfrm>
          <a:prstGeom prst="roundRect">
            <a:avLst>
              <a:gd name="adj" fmla="val 7143"/>
            </a:avLst>
          </a:prstGeom>
          <a:solidFill>
            <a:srgbClr val="0D3A2E"/>
          </a:solidFill>
          <a:ln w="19050">
            <a:solidFill>
              <a:srgbClr val="33D9A6"/>
            </a:solidFill>
            <a:prstDash val="solid"/>
          </a:ln>
          <a:effectLst>
            <a:outerShdw blurRad="114300" dist="38100" dir="5400000" algn="bl" rotWithShape="0">
              <a:srgbClr val="020912">
                <a:alpha val="45000"/>
              </a:srgbClr>
            </a:outerShdw>
          </a:effectLst>
        </p:spPr>
        <p:txBody>
          <a:bodyPr/>
          <a:lstStyle/>
          <a:p>
            <a:endParaRPr lang="en-DE"/>
          </a:p>
        </p:txBody>
      </p:sp>
      <p:sp>
        <p:nvSpPr>
          <p:cNvPr id="13" name="Text 10"/>
          <p:cNvSpPr/>
          <p:nvPr/>
        </p:nvSpPr>
        <p:spPr>
          <a:xfrm>
            <a:off x="4937760" y="3566160"/>
            <a:ext cx="3520440" cy="457200"/>
          </a:xfrm>
          <a:prstGeom prst="rect">
            <a:avLst/>
          </a:prstGeom>
          <a:noFill/>
          <a:ln/>
        </p:spPr>
        <p:txBody>
          <a:bodyPr wrap="square" rtlCol="0" anchor="ctr"/>
          <a:lstStyle/>
          <a:p>
            <a:pPr marL="0" indent="0" algn="l">
              <a:buNone/>
            </a:pPr>
            <a:r>
              <a:rPr lang="en-US" sz="1700" b="1" dirty="0">
                <a:solidFill>
                  <a:srgbClr val="33D9A6"/>
                </a:solidFill>
                <a:latin typeface="Trebuchet MS" pitchFamily="34" charset="0"/>
                <a:ea typeface="Trebuchet MS" pitchFamily="34" charset="-122"/>
                <a:cs typeface="Trebuchet MS" pitchFamily="34" charset="-120"/>
              </a:rPr>
              <a:t>✓  Ethernet-APL solves this</a:t>
            </a:r>
            <a:endParaRPr lang="en-US" sz="1700" dirty="0"/>
          </a:p>
        </p:txBody>
      </p:sp>
      <p:sp>
        <p:nvSpPr>
          <p:cNvPr id="14" name="Text 11"/>
          <p:cNvSpPr/>
          <p:nvPr/>
        </p:nvSpPr>
        <p:spPr>
          <a:xfrm>
            <a:off x="4937760" y="4005072"/>
            <a:ext cx="3520440" cy="640080"/>
          </a:xfrm>
          <a:prstGeom prst="rect">
            <a:avLst/>
          </a:prstGeom>
          <a:noFill/>
          <a:ln/>
        </p:spPr>
        <p:txBody>
          <a:bodyPr wrap="square" rtlCol="0" anchor="t"/>
          <a:lstStyle/>
          <a:p>
            <a:pPr marL="0" indent="0" algn="l">
              <a:buNone/>
            </a:pPr>
            <a:r>
              <a:rPr lang="en-US" sz="1250" dirty="0">
                <a:solidFill>
                  <a:srgbClr val="D6F3E7"/>
                </a:solidFill>
                <a:latin typeface="Calibri" pitchFamily="34" charset="0"/>
                <a:ea typeface="Calibri" pitchFamily="34" charset="-122"/>
                <a:cs typeface="Calibri" pitchFamily="34" charset="-120"/>
              </a:rPr>
              <a:t>Energy-limited single pair, intrinsically safe by design, purpose-built for Zone 0–2.</a:t>
            </a:r>
            <a:endParaRPr lang="en-US" sz="1250" dirty="0"/>
          </a:p>
        </p:txBody>
      </p:sp>
      <p:sp>
        <p:nvSpPr>
          <p:cNvPr id="15" name="Text 12"/>
          <p:cNvSpPr/>
          <p:nvPr/>
        </p:nvSpPr>
        <p:spPr>
          <a:xfrm>
            <a:off x="502920" y="4069080"/>
            <a:ext cx="3931920" cy="640080"/>
          </a:xfrm>
          <a:prstGeom prst="rect">
            <a:avLst/>
          </a:prstGeom>
          <a:noFill/>
          <a:ln/>
        </p:spPr>
        <p:txBody>
          <a:bodyPr wrap="square" rtlCol="0" anchor="t"/>
          <a:lstStyle/>
          <a:p>
            <a:pPr marL="0" indent="0" algn="l">
              <a:buNone/>
            </a:pPr>
            <a:r>
              <a:rPr lang="en-US" sz="1200" i="1" dirty="0">
                <a:solidFill>
                  <a:srgbClr val="9FB6D6"/>
                </a:solidFill>
                <a:latin typeface="Calibri" pitchFamily="34" charset="0"/>
                <a:ea typeface="Calibri" pitchFamily="34" charset="-122"/>
                <a:cs typeface="Calibri" pitchFamily="34" charset="-120"/>
              </a:rPr>
              <a:t>Hazardous zones are ranked by how often an explosive atmosphere is present.</a:t>
            </a:r>
            <a:endParaRPr lang="en-US" sz="1200" dirty="0"/>
          </a:p>
        </p:txBody>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832"/>
        </a:solidFill>
        <a:effectLst/>
      </p:bgPr>
    </p:bg>
    <p:spTree>
      <p:nvGrpSpPr>
        <p:cNvPr id="1" name=""/>
        <p:cNvGrpSpPr/>
        <p:nvPr/>
      </p:nvGrpSpPr>
      <p:grpSpPr>
        <a:xfrm>
          <a:off x="0" y="0"/>
          <a:ext cx="0" cy="0"/>
          <a:chOff x="0" y="0"/>
          <a:chExt cx="0" cy="0"/>
        </a:xfrm>
      </p:grpSpPr>
      <p:sp>
        <p:nvSpPr>
          <p:cNvPr id="2" name="Shape 0"/>
          <p:cNvSpPr/>
          <p:nvPr/>
        </p:nvSpPr>
        <p:spPr>
          <a:xfrm>
            <a:off x="502920" y="384048"/>
            <a:ext cx="146304" cy="457200"/>
          </a:xfrm>
          <a:prstGeom prst="rect">
            <a:avLst/>
          </a:prstGeom>
          <a:solidFill>
            <a:srgbClr val="22D3EE"/>
          </a:solidFill>
          <a:ln/>
        </p:spPr>
        <p:txBody>
          <a:bodyPr/>
          <a:lstStyle/>
          <a:p>
            <a:endParaRPr lang="en-DE"/>
          </a:p>
        </p:txBody>
      </p:sp>
      <p:sp>
        <p:nvSpPr>
          <p:cNvPr id="3" name="Text 1"/>
          <p:cNvSpPr/>
          <p:nvPr/>
        </p:nvSpPr>
        <p:spPr>
          <a:xfrm>
            <a:off x="777240" y="310896"/>
            <a:ext cx="7863840" cy="640080"/>
          </a:xfrm>
          <a:prstGeom prst="rect">
            <a:avLst/>
          </a:prstGeom>
          <a:noFill/>
          <a:ln/>
        </p:spPr>
        <p:txBody>
          <a:bodyPr wrap="square" lIns="0" tIns="0" rIns="0" bIns="0" rtlCol="0" anchor="ctr"/>
          <a:lstStyle/>
          <a:p>
            <a:pPr marL="0" indent="0" algn="l">
              <a:buNone/>
            </a:pPr>
            <a:r>
              <a:rPr lang="en-US" sz="2700" b="1" dirty="0">
                <a:solidFill>
                  <a:srgbClr val="EAF4FF"/>
                </a:solidFill>
                <a:latin typeface="Trebuchet MS" pitchFamily="34" charset="0"/>
                <a:ea typeface="Trebuchet MS" pitchFamily="34" charset="-122"/>
                <a:cs typeface="Trebuchet MS" pitchFamily="34" charset="-120"/>
              </a:rPr>
              <a:t>Intrinsic Safety — 2-WISE</a:t>
            </a:r>
            <a:endParaRPr lang="en-US" sz="2700" dirty="0"/>
          </a:p>
        </p:txBody>
      </p:sp>
      <p:sp>
        <p:nvSpPr>
          <p:cNvPr id="4" name="Text 2"/>
          <p:cNvSpPr/>
          <p:nvPr/>
        </p:nvSpPr>
        <p:spPr>
          <a:xfrm>
            <a:off x="8321040" y="384048"/>
            <a:ext cx="548640" cy="457200"/>
          </a:xfrm>
          <a:prstGeom prst="rect">
            <a:avLst/>
          </a:prstGeom>
          <a:noFill/>
          <a:ln/>
        </p:spPr>
        <p:txBody>
          <a:bodyPr wrap="square" rtlCol="0" anchor="ctr"/>
          <a:lstStyle/>
          <a:p>
            <a:pPr marL="0" indent="0" algn="r">
              <a:buNone/>
            </a:pPr>
            <a:r>
              <a:rPr lang="en-US" sz="1200" b="1" dirty="0">
                <a:solidFill>
                  <a:srgbClr val="22D3EE"/>
                </a:solidFill>
                <a:latin typeface="Trebuchet MS" pitchFamily="34" charset="0"/>
                <a:ea typeface="Trebuchet MS" pitchFamily="34" charset="-122"/>
                <a:cs typeface="Trebuchet MS" pitchFamily="34" charset="-120"/>
              </a:rPr>
              <a:t>07</a:t>
            </a:r>
            <a:endParaRPr lang="en-US" sz="1200" dirty="0"/>
          </a:p>
        </p:txBody>
      </p:sp>
      <p:sp>
        <p:nvSpPr>
          <p:cNvPr id="5" name="Text 3"/>
          <p:cNvSpPr/>
          <p:nvPr/>
        </p:nvSpPr>
        <p:spPr>
          <a:xfrm>
            <a:off x="777240" y="914400"/>
            <a:ext cx="7315200" cy="365760"/>
          </a:xfrm>
          <a:prstGeom prst="rect">
            <a:avLst/>
          </a:prstGeom>
          <a:noFill/>
          <a:ln/>
        </p:spPr>
        <p:txBody>
          <a:bodyPr wrap="square" rtlCol="0" anchor="ctr"/>
          <a:lstStyle/>
          <a:p>
            <a:pPr marL="0" indent="0" algn="l">
              <a:buNone/>
            </a:pPr>
            <a:r>
              <a:rPr lang="en-US" sz="1400" i="1" dirty="0">
                <a:solidFill>
                  <a:srgbClr val="22D3EE"/>
                </a:solidFill>
                <a:latin typeface="Calibri" pitchFamily="34" charset="0"/>
                <a:ea typeface="Calibri" pitchFamily="34" charset="-122"/>
                <a:cs typeface="Calibri" pitchFamily="34" charset="-120"/>
              </a:rPr>
              <a:t>2-Wire Intrinsically Safe Ethernet</a:t>
            </a:r>
            <a:endParaRPr lang="en-US" sz="1400" dirty="0"/>
          </a:p>
        </p:txBody>
      </p:sp>
      <p:sp>
        <p:nvSpPr>
          <p:cNvPr id="6" name="Shape 4"/>
          <p:cNvSpPr/>
          <p:nvPr/>
        </p:nvSpPr>
        <p:spPr>
          <a:xfrm>
            <a:off x="502920" y="1417320"/>
            <a:ext cx="3886200" cy="2788920"/>
          </a:xfrm>
          <a:prstGeom prst="roundRect">
            <a:avLst>
              <a:gd name="adj" fmla="val 2623"/>
            </a:avLst>
          </a:prstGeom>
          <a:solidFill>
            <a:srgbClr val="0F2042"/>
          </a:solidFill>
          <a:ln w="12700">
            <a:solidFill>
              <a:srgbClr val="23457F"/>
            </a:solidFill>
            <a:prstDash val="solid"/>
          </a:ln>
          <a:effectLst>
            <a:outerShdw blurRad="114300" dist="38100" dir="5400000" algn="bl" rotWithShape="0">
              <a:srgbClr val="020912">
                <a:alpha val="45000"/>
              </a:srgbClr>
            </a:outerShdw>
          </a:effectLst>
        </p:spPr>
        <p:txBody>
          <a:bodyPr/>
          <a:lstStyle/>
          <a:p>
            <a:endParaRPr lang="en-DE"/>
          </a:p>
        </p:txBody>
      </p:sp>
      <p:sp>
        <p:nvSpPr>
          <p:cNvPr id="7" name="Text 5"/>
          <p:cNvSpPr/>
          <p:nvPr/>
        </p:nvSpPr>
        <p:spPr>
          <a:xfrm>
            <a:off x="777240" y="1572768"/>
            <a:ext cx="3383280" cy="320040"/>
          </a:xfrm>
          <a:prstGeom prst="rect">
            <a:avLst/>
          </a:prstGeom>
          <a:noFill/>
          <a:ln/>
        </p:spPr>
        <p:txBody>
          <a:bodyPr wrap="square" rtlCol="0" anchor="ctr"/>
          <a:lstStyle/>
          <a:p>
            <a:pPr marL="0" indent="0">
              <a:buNone/>
            </a:pPr>
            <a:r>
              <a:rPr lang="en-US" sz="1300" b="1" kern="0" spc="100" dirty="0">
                <a:solidFill>
                  <a:srgbClr val="22D3EE"/>
                </a:solidFill>
                <a:latin typeface="Trebuchet MS" pitchFamily="34" charset="0"/>
                <a:ea typeface="Trebuchet MS" pitchFamily="34" charset="-122"/>
                <a:cs typeface="Trebuchet MS" pitchFamily="34" charset="-120"/>
              </a:rPr>
              <a:t>HOW IT WORKS</a:t>
            </a:r>
            <a:endParaRPr lang="en-US" sz="1300" dirty="0"/>
          </a:p>
        </p:txBody>
      </p:sp>
      <p:sp>
        <p:nvSpPr>
          <p:cNvPr id="8" name="Shape 6"/>
          <p:cNvSpPr/>
          <p:nvPr/>
        </p:nvSpPr>
        <p:spPr>
          <a:xfrm>
            <a:off x="777240" y="2029968"/>
            <a:ext cx="292608" cy="292608"/>
          </a:xfrm>
          <a:prstGeom prst="ellipse">
            <a:avLst/>
          </a:prstGeom>
          <a:solidFill>
            <a:srgbClr val="22D3EE"/>
          </a:solidFill>
          <a:ln/>
        </p:spPr>
        <p:txBody>
          <a:bodyPr/>
          <a:lstStyle/>
          <a:p>
            <a:endParaRPr lang="en-DE"/>
          </a:p>
        </p:txBody>
      </p:sp>
      <p:sp>
        <p:nvSpPr>
          <p:cNvPr id="9" name="Text 7"/>
          <p:cNvSpPr/>
          <p:nvPr/>
        </p:nvSpPr>
        <p:spPr>
          <a:xfrm>
            <a:off x="777240" y="2029968"/>
            <a:ext cx="292608" cy="292608"/>
          </a:xfrm>
          <a:prstGeom prst="rect">
            <a:avLst/>
          </a:prstGeom>
          <a:noFill/>
          <a:ln/>
        </p:spPr>
        <p:txBody>
          <a:bodyPr wrap="square" rtlCol="0" anchor="ctr"/>
          <a:lstStyle/>
          <a:p>
            <a:pPr marL="0" indent="0" algn="ctr">
              <a:buNone/>
            </a:pPr>
            <a:r>
              <a:rPr lang="en-US" sz="1300" b="1" dirty="0">
                <a:solidFill>
                  <a:srgbClr val="07122A"/>
                </a:solidFill>
                <a:latin typeface="Trebuchet MS" pitchFamily="34" charset="0"/>
                <a:ea typeface="Trebuchet MS" pitchFamily="34" charset="-122"/>
                <a:cs typeface="Trebuchet MS" pitchFamily="34" charset="-120"/>
              </a:rPr>
              <a:t>1</a:t>
            </a:r>
            <a:endParaRPr lang="en-US" sz="1300" dirty="0"/>
          </a:p>
        </p:txBody>
      </p:sp>
      <p:sp>
        <p:nvSpPr>
          <p:cNvPr id="10" name="Text 8"/>
          <p:cNvSpPr/>
          <p:nvPr/>
        </p:nvSpPr>
        <p:spPr>
          <a:xfrm>
            <a:off x="1207008" y="2011680"/>
            <a:ext cx="3017520" cy="658368"/>
          </a:xfrm>
          <a:prstGeom prst="rect">
            <a:avLst/>
          </a:prstGeom>
          <a:noFill/>
          <a:ln/>
        </p:spPr>
        <p:txBody>
          <a:bodyPr wrap="square" rtlCol="0" anchor="ctr"/>
          <a:lstStyle/>
          <a:p>
            <a:pPr marL="0" indent="0" algn="l">
              <a:buNone/>
            </a:pPr>
            <a:r>
              <a:rPr lang="en-US" sz="1400" b="1" dirty="0">
                <a:solidFill>
                  <a:srgbClr val="EAF4FF"/>
                </a:solidFill>
                <a:latin typeface="Calibri" pitchFamily="34" charset="0"/>
                <a:ea typeface="Calibri" pitchFamily="34" charset="-122"/>
                <a:cs typeface="Calibri" pitchFamily="34" charset="-120"/>
              </a:rPr>
              <a:t>Based on IEC TS 60079-47
</a:t>
            </a:r>
            <a:r>
              <a:rPr lang="en-US" sz="1150" dirty="0">
                <a:solidFill>
                  <a:srgbClr val="9FB6D6"/>
                </a:solidFill>
                <a:latin typeface="Calibri" pitchFamily="34" charset="0"/>
                <a:ea typeface="Calibri" pitchFamily="34" charset="-122"/>
                <a:cs typeface="Calibri" pitchFamily="34" charset="-120"/>
              </a:rPr>
              <a:t>the 2-WISE technical specification</a:t>
            </a:r>
            <a:endParaRPr lang="en-US" sz="1400" dirty="0"/>
          </a:p>
        </p:txBody>
      </p:sp>
      <p:sp>
        <p:nvSpPr>
          <p:cNvPr id="11" name="Shape 9"/>
          <p:cNvSpPr/>
          <p:nvPr/>
        </p:nvSpPr>
        <p:spPr>
          <a:xfrm>
            <a:off x="777240" y="2743200"/>
            <a:ext cx="292608" cy="292608"/>
          </a:xfrm>
          <a:prstGeom prst="ellipse">
            <a:avLst/>
          </a:prstGeom>
          <a:solidFill>
            <a:srgbClr val="22D3EE"/>
          </a:solidFill>
          <a:ln/>
        </p:spPr>
        <p:txBody>
          <a:bodyPr/>
          <a:lstStyle/>
          <a:p>
            <a:endParaRPr lang="en-DE"/>
          </a:p>
        </p:txBody>
      </p:sp>
      <p:sp>
        <p:nvSpPr>
          <p:cNvPr id="12" name="Text 10"/>
          <p:cNvSpPr/>
          <p:nvPr/>
        </p:nvSpPr>
        <p:spPr>
          <a:xfrm>
            <a:off x="777240" y="2743200"/>
            <a:ext cx="292608" cy="292608"/>
          </a:xfrm>
          <a:prstGeom prst="rect">
            <a:avLst/>
          </a:prstGeom>
          <a:noFill/>
          <a:ln/>
        </p:spPr>
        <p:txBody>
          <a:bodyPr wrap="square" rtlCol="0" anchor="ctr"/>
          <a:lstStyle/>
          <a:p>
            <a:pPr marL="0" indent="0" algn="ctr">
              <a:buNone/>
            </a:pPr>
            <a:r>
              <a:rPr lang="en-US" sz="1300" b="1" dirty="0">
                <a:solidFill>
                  <a:srgbClr val="07122A"/>
                </a:solidFill>
                <a:latin typeface="Trebuchet MS" pitchFamily="34" charset="0"/>
                <a:ea typeface="Trebuchet MS" pitchFamily="34" charset="-122"/>
                <a:cs typeface="Trebuchet MS" pitchFamily="34" charset="-120"/>
              </a:rPr>
              <a:t>2</a:t>
            </a:r>
            <a:endParaRPr lang="en-US" sz="1300" dirty="0"/>
          </a:p>
        </p:txBody>
      </p:sp>
      <p:sp>
        <p:nvSpPr>
          <p:cNvPr id="13" name="Text 11"/>
          <p:cNvSpPr/>
          <p:nvPr/>
        </p:nvSpPr>
        <p:spPr>
          <a:xfrm>
            <a:off x="1207008" y="2724912"/>
            <a:ext cx="3017520" cy="658368"/>
          </a:xfrm>
          <a:prstGeom prst="rect">
            <a:avLst/>
          </a:prstGeom>
          <a:noFill/>
          <a:ln/>
        </p:spPr>
        <p:txBody>
          <a:bodyPr wrap="square" rtlCol="0" anchor="ctr"/>
          <a:lstStyle/>
          <a:p>
            <a:pPr marL="0" indent="0" algn="l">
              <a:buNone/>
            </a:pPr>
            <a:r>
              <a:rPr lang="en-US" sz="1400" b="1" dirty="0">
                <a:solidFill>
                  <a:srgbClr val="EAF4FF"/>
                </a:solidFill>
                <a:latin typeface="Calibri" pitchFamily="34" charset="0"/>
                <a:ea typeface="Calibri" pitchFamily="34" charset="-122"/>
                <a:cs typeface="Calibri" pitchFamily="34" charset="-120"/>
              </a:rPr>
              <a:t>Limits voltage and current
</a:t>
            </a:r>
            <a:r>
              <a:rPr lang="en-US" sz="1150" dirty="0">
                <a:solidFill>
                  <a:srgbClr val="9FB6D6"/>
                </a:solidFill>
                <a:latin typeface="Calibri" pitchFamily="34" charset="0"/>
                <a:ea typeface="Calibri" pitchFamily="34" charset="-122"/>
                <a:cs typeface="Calibri" pitchFamily="34" charset="-120"/>
              </a:rPr>
              <a:t>energy kept below ignition threshold</a:t>
            </a:r>
            <a:endParaRPr lang="en-US" sz="1400" dirty="0"/>
          </a:p>
        </p:txBody>
      </p:sp>
      <p:sp>
        <p:nvSpPr>
          <p:cNvPr id="14" name="Shape 12"/>
          <p:cNvSpPr/>
          <p:nvPr/>
        </p:nvSpPr>
        <p:spPr>
          <a:xfrm>
            <a:off x="777240" y="3456432"/>
            <a:ext cx="292608" cy="292608"/>
          </a:xfrm>
          <a:prstGeom prst="ellipse">
            <a:avLst/>
          </a:prstGeom>
          <a:solidFill>
            <a:srgbClr val="22D3EE"/>
          </a:solidFill>
          <a:ln/>
        </p:spPr>
        <p:txBody>
          <a:bodyPr/>
          <a:lstStyle/>
          <a:p>
            <a:endParaRPr lang="en-DE"/>
          </a:p>
        </p:txBody>
      </p:sp>
      <p:sp>
        <p:nvSpPr>
          <p:cNvPr id="15" name="Text 13"/>
          <p:cNvSpPr/>
          <p:nvPr/>
        </p:nvSpPr>
        <p:spPr>
          <a:xfrm>
            <a:off x="777240" y="3456432"/>
            <a:ext cx="292608" cy="292608"/>
          </a:xfrm>
          <a:prstGeom prst="rect">
            <a:avLst/>
          </a:prstGeom>
          <a:noFill/>
          <a:ln/>
        </p:spPr>
        <p:txBody>
          <a:bodyPr wrap="square" rtlCol="0" anchor="ctr"/>
          <a:lstStyle/>
          <a:p>
            <a:pPr marL="0" indent="0" algn="ctr">
              <a:buNone/>
            </a:pPr>
            <a:r>
              <a:rPr lang="en-US" sz="1300" b="1" dirty="0">
                <a:solidFill>
                  <a:srgbClr val="07122A"/>
                </a:solidFill>
                <a:latin typeface="Trebuchet MS" pitchFamily="34" charset="0"/>
                <a:ea typeface="Trebuchet MS" pitchFamily="34" charset="-122"/>
                <a:cs typeface="Trebuchet MS" pitchFamily="34" charset="-120"/>
              </a:rPr>
              <a:t>3</a:t>
            </a:r>
            <a:endParaRPr lang="en-US" sz="1300" dirty="0"/>
          </a:p>
        </p:txBody>
      </p:sp>
      <p:sp>
        <p:nvSpPr>
          <p:cNvPr id="16" name="Text 14"/>
          <p:cNvSpPr/>
          <p:nvPr/>
        </p:nvSpPr>
        <p:spPr>
          <a:xfrm>
            <a:off x="1207008" y="3438144"/>
            <a:ext cx="3017520" cy="658368"/>
          </a:xfrm>
          <a:prstGeom prst="rect">
            <a:avLst/>
          </a:prstGeom>
          <a:noFill/>
          <a:ln/>
        </p:spPr>
        <p:txBody>
          <a:bodyPr wrap="square" rtlCol="0" anchor="ctr"/>
          <a:lstStyle/>
          <a:p>
            <a:pPr marL="0" indent="0" algn="l">
              <a:buNone/>
            </a:pPr>
            <a:r>
              <a:rPr lang="en-US" sz="1400" b="1" dirty="0">
                <a:solidFill>
                  <a:srgbClr val="EAF4FF"/>
                </a:solidFill>
                <a:latin typeface="Calibri" pitchFamily="34" charset="0"/>
                <a:ea typeface="Calibri" pitchFamily="34" charset="-122"/>
                <a:cs typeface="Calibri" pitchFamily="34" charset="-120"/>
              </a:rPr>
              <a:t>Prevents ignition
</a:t>
            </a:r>
            <a:r>
              <a:rPr lang="en-US" sz="1150" dirty="0">
                <a:solidFill>
                  <a:srgbClr val="9FB6D6"/>
                </a:solidFill>
                <a:latin typeface="Calibri" pitchFamily="34" charset="0"/>
                <a:ea typeface="Calibri" pitchFamily="34" charset="-122"/>
                <a:cs typeface="Calibri" pitchFamily="34" charset="-120"/>
              </a:rPr>
              <a:t>no spark can release enough energy</a:t>
            </a:r>
            <a:endParaRPr lang="en-US" sz="1400" dirty="0"/>
          </a:p>
        </p:txBody>
      </p:sp>
      <p:sp>
        <p:nvSpPr>
          <p:cNvPr id="17" name="Shape 15"/>
          <p:cNvSpPr/>
          <p:nvPr/>
        </p:nvSpPr>
        <p:spPr>
          <a:xfrm>
            <a:off x="4663440" y="1417320"/>
            <a:ext cx="3977640" cy="1234440"/>
          </a:xfrm>
          <a:prstGeom prst="roundRect">
            <a:avLst>
              <a:gd name="adj" fmla="val 5926"/>
            </a:avLst>
          </a:prstGeom>
          <a:solidFill>
            <a:srgbClr val="351320"/>
          </a:solidFill>
          <a:ln w="15875">
            <a:solidFill>
              <a:srgbClr val="FF6B6B"/>
            </a:solidFill>
            <a:prstDash val="solid"/>
          </a:ln>
          <a:effectLst>
            <a:outerShdw blurRad="114300" dist="38100" dir="5400000" algn="bl" rotWithShape="0">
              <a:srgbClr val="020912">
                <a:alpha val="45000"/>
              </a:srgbClr>
            </a:outerShdw>
          </a:effectLst>
        </p:spPr>
        <p:txBody>
          <a:bodyPr/>
          <a:lstStyle/>
          <a:p>
            <a:endParaRPr lang="en-DE"/>
          </a:p>
        </p:txBody>
      </p:sp>
      <p:sp>
        <p:nvSpPr>
          <p:cNvPr id="18" name="Text 16"/>
          <p:cNvSpPr/>
          <p:nvPr/>
        </p:nvSpPr>
        <p:spPr>
          <a:xfrm>
            <a:off x="4892040" y="1563624"/>
            <a:ext cx="2011680" cy="411480"/>
          </a:xfrm>
          <a:prstGeom prst="rect">
            <a:avLst/>
          </a:prstGeom>
          <a:noFill/>
          <a:ln/>
        </p:spPr>
        <p:txBody>
          <a:bodyPr wrap="square" rtlCol="0" anchor="ctr"/>
          <a:lstStyle/>
          <a:p>
            <a:pPr marL="0" indent="0" algn="l">
              <a:buNone/>
            </a:pPr>
            <a:r>
              <a:rPr lang="en-US" sz="1500" b="1" dirty="0">
                <a:solidFill>
                  <a:srgbClr val="FF6B6B"/>
                </a:solidFill>
                <a:latin typeface="Trebuchet MS" pitchFamily="34" charset="0"/>
                <a:ea typeface="Trebuchet MS" pitchFamily="34" charset="-122"/>
                <a:cs typeface="Trebuchet MS" pitchFamily="34" charset="-120"/>
              </a:rPr>
              <a:t>High Energy</a:t>
            </a:r>
            <a:endParaRPr lang="en-US" sz="1500" dirty="0"/>
          </a:p>
        </p:txBody>
      </p:sp>
      <p:sp>
        <p:nvSpPr>
          <p:cNvPr id="19" name="Shape 17"/>
          <p:cNvSpPr/>
          <p:nvPr/>
        </p:nvSpPr>
        <p:spPr>
          <a:xfrm>
            <a:off x="6446520" y="1709928"/>
            <a:ext cx="640080" cy="640080"/>
          </a:xfrm>
          <a:prstGeom prst="ellipse">
            <a:avLst/>
          </a:prstGeom>
          <a:solidFill>
            <a:srgbClr val="351320"/>
          </a:solidFill>
          <a:ln w="25400">
            <a:solidFill>
              <a:srgbClr val="FF6B6B"/>
            </a:solidFill>
            <a:prstDash val="solid"/>
          </a:ln>
        </p:spPr>
        <p:txBody>
          <a:bodyPr/>
          <a:lstStyle/>
          <a:p>
            <a:endParaRPr lang="en-DE"/>
          </a:p>
        </p:txBody>
      </p:sp>
      <p:sp>
        <p:nvSpPr>
          <p:cNvPr id="20" name="Text 18"/>
          <p:cNvSpPr/>
          <p:nvPr/>
        </p:nvSpPr>
        <p:spPr>
          <a:xfrm>
            <a:off x="6446520" y="1709928"/>
            <a:ext cx="640080" cy="640080"/>
          </a:xfrm>
          <a:prstGeom prst="rect">
            <a:avLst/>
          </a:prstGeom>
          <a:noFill/>
          <a:ln/>
        </p:spPr>
        <p:txBody>
          <a:bodyPr wrap="square" rtlCol="0" anchor="ctr"/>
          <a:lstStyle/>
          <a:p>
            <a:pPr marL="0" indent="0" algn="ctr">
              <a:buNone/>
            </a:pPr>
            <a:r>
              <a:rPr lang="en-US" sz="2600" b="1" dirty="0">
                <a:solidFill>
                  <a:srgbClr val="FF6B6B"/>
                </a:solidFill>
                <a:latin typeface="Trebuchet MS" pitchFamily="34" charset="0"/>
                <a:ea typeface="Trebuchet MS" pitchFamily="34" charset="-122"/>
                <a:cs typeface="Trebuchet MS" pitchFamily="34" charset="-120"/>
              </a:rPr>
              <a:t>✕</a:t>
            </a:r>
            <a:endParaRPr lang="en-US" sz="2600" dirty="0"/>
          </a:p>
        </p:txBody>
      </p:sp>
      <p:sp>
        <p:nvSpPr>
          <p:cNvPr id="21" name="Text 19"/>
          <p:cNvSpPr/>
          <p:nvPr/>
        </p:nvSpPr>
        <p:spPr>
          <a:xfrm>
            <a:off x="7178040" y="1563624"/>
            <a:ext cx="1371600" cy="914400"/>
          </a:xfrm>
          <a:prstGeom prst="rect">
            <a:avLst/>
          </a:prstGeom>
          <a:noFill/>
          <a:ln/>
        </p:spPr>
        <p:txBody>
          <a:bodyPr wrap="square" rtlCol="0" anchor="ctr"/>
          <a:lstStyle/>
          <a:p>
            <a:pPr marL="0" indent="0" algn="l">
              <a:buNone/>
            </a:pPr>
            <a:r>
              <a:rPr lang="en-US" sz="1400" b="1" dirty="0">
                <a:solidFill>
                  <a:srgbClr val="EAF4FF"/>
                </a:solidFill>
                <a:latin typeface="Trebuchet MS" pitchFamily="34" charset="0"/>
                <a:ea typeface="Trebuchet MS" pitchFamily="34" charset="-122"/>
                <a:cs typeface="Trebuchet MS" pitchFamily="34" charset="-120"/>
              </a:rPr>
              <a:t>Explosion</a:t>
            </a:r>
            <a:endParaRPr lang="en-US" sz="1400" dirty="0"/>
          </a:p>
        </p:txBody>
      </p:sp>
      <p:sp>
        <p:nvSpPr>
          <p:cNvPr id="22" name="Text 20"/>
          <p:cNvSpPr/>
          <p:nvPr/>
        </p:nvSpPr>
        <p:spPr>
          <a:xfrm>
            <a:off x="5486400" y="2670048"/>
            <a:ext cx="548640" cy="274320"/>
          </a:xfrm>
          <a:prstGeom prst="rect">
            <a:avLst/>
          </a:prstGeom>
          <a:noFill/>
          <a:ln/>
        </p:spPr>
        <p:txBody>
          <a:bodyPr wrap="square" rtlCol="0" anchor="ctr"/>
          <a:lstStyle/>
          <a:p>
            <a:pPr marL="0" indent="0" algn="ctr">
              <a:buNone/>
            </a:pPr>
            <a:r>
              <a:rPr lang="en-US" sz="1400" dirty="0">
                <a:solidFill>
                  <a:srgbClr val="9FB6D6"/>
                </a:solidFill>
              </a:rPr>
              <a:t>▼</a:t>
            </a:r>
            <a:endParaRPr lang="en-US" sz="1400" dirty="0"/>
          </a:p>
        </p:txBody>
      </p:sp>
      <p:sp>
        <p:nvSpPr>
          <p:cNvPr id="23" name="Shape 21"/>
          <p:cNvSpPr/>
          <p:nvPr/>
        </p:nvSpPr>
        <p:spPr>
          <a:xfrm>
            <a:off x="4663440" y="2971800"/>
            <a:ext cx="3977640" cy="1234440"/>
          </a:xfrm>
          <a:prstGeom prst="roundRect">
            <a:avLst>
              <a:gd name="adj" fmla="val 5926"/>
            </a:avLst>
          </a:prstGeom>
          <a:solidFill>
            <a:srgbClr val="0D3A2E"/>
          </a:solidFill>
          <a:ln w="15875">
            <a:solidFill>
              <a:srgbClr val="33D9A6"/>
            </a:solidFill>
            <a:prstDash val="solid"/>
          </a:ln>
          <a:effectLst>
            <a:outerShdw blurRad="114300" dist="38100" dir="5400000" algn="bl" rotWithShape="0">
              <a:srgbClr val="020912">
                <a:alpha val="45000"/>
              </a:srgbClr>
            </a:outerShdw>
          </a:effectLst>
        </p:spPr>
        <p:txBody>
          <a:bodyPr/>
          <a:lstStyle/>
          <a:p>
            <a:endParaRPr lang="en-DE"/>
          </a:p>
        </p:txBody>
      </p:sp>
      <p:sp>
        <p:nvSpPr>
          <p:cNvPr id="24" name="Text 22"/>
          <p:cNvSpPr/>
          <p:nvPr/>
        </p:nvSpPr>
        <p:spPr>
          <a:xfrm>
            <a:off x="4892040" y="3118104"/>
            <a:ext cx="2011680" cy="411480"/>
          </a:xfrm>
          <a:prstGeom prst="rect">
            <a:avLst/>
          </a:prstGeom>
          <a:noFill/>
          <a:ln/>
        </p:spPr>
        <p:txBody>
          <a:bodyPr wrap="square" rtlCol="0" anchor="ctr"/>
          <a:lstStyle/>
          <a:p>
            <a:pPr marL="0" indent="0" algn="l">
              <a:buNone/>
            </a:pPr>
            <a:r>
              <a:rPr lang="en-US" sz="1500" b="1" dirty="0">
                <a:solidFill>
                  <a:srgbClr val="33D9A6"/>
                </a:solidFill>
                <a:latin typeface="Trebuchet MS" pitchFamily="34" charset="0"/>
                <a:ea typeface="Trebuchet MS" pitchFamily="34" charset="-122"/>
                <a:cs typeface="Trebuchet MS" pitchFamily="34" charset="-120"/>
              </a:rPr>
              <a:t>Low Energy</a:t>
            </a:r>
            <a:endParaRPr lang="en-US" sz="1500" dirty="0"/>
          </a:p>
        </p:txBody>
      </p:sp>
      <p:sp>
        <p:nvSpPr>
          <p:cNvPr id="25" name="Shape 23"/>
          <p:cNvSpPr/>
          <p:nvPr/>
        </p:nvSpPr>
        <p:spPr>
          <a:xfrm>
            <a:off x="6446520" y="3264408"/>
            <a:ext cx="640080" cy="640080"/>
          </a:xfrm>
          <a:prstGeom prst="ellipse">
            <a:avLst/>
          </a:prstGeom>
          <a:solidFill>
            <a:srgbClr val="0D3A2E"/>
          </a:solidFill>
          <a:ln w="25400">
            <a:solidFill>
              <a:srgbClr val="33D9A6"/>
            </a:solidFill>
            <a:prstDash val="solid"/>
          </a:ln>
        </p:spPr>
        <p:txBody>
          <a:bodyPr/>
          <a:lstStyle/>
          <a:p>
            <a:endParaRPr lang="en-DE"/>
          </a:p>
        </p:txBody>
      </p:sp>
      <p:sp>
        <p:nvSpPr>
          <p:cNvPr id="26" name="Text 24"/>
          <p:cNvSpPr/>
          <p:nvPr/>
        </p:nvSpPr>
        <p:spPr>
          <a:xfrm>
            <a:off x="6446520" y="3264408"/>
            <a:ext cx="640080" cy="640080"/>
          </a:xfrm>
          <a:prstGeom prst="rect">
            <a:avLst/>
          </a:prstGeom>
          <a:noFill/>
          <a:ln/>
        </p:spPr>
        <p:txBody>
          <a:bodyPr wrap="square" rtlCol="0" anchor="ctr"/>
          <a:lstStyle/>
          <a:p>
            <a:pPr marL="0" indent="0" algn="ctr">
              <a:buNone/>
            </a:pPr>
            <a:r>
              <a:rPr lang="en-US" sz="2600" b="1" dirty="0">
                <a:solidFill>
                  <a:srgbClr val="33D9A6"/>
                </a:solidFill>
                <a:latin typeface="Trebuchet MS" pitchFamily="34" charset="0"/>
                <a:ea typeface="Trebuchet MS" pitchFamily="34" charset="-122"/>
                <a:cs typeface="Trebuchet MS" pitchFamily="34" charset="-120"/>
              </a:rPr>
              <a:t>✓</a:t>
            </a:r>
            <a:endParaRPr lang="en-US" sz="2600" dirty="0"/>
          </a:p>
        </p:txBody>
      </p:sp>
      <p:sp>
        <p:nvSpPr>
          <p:cNvPr id="27" name="Text 25"/>
          <p:cNvSpPr/>
          <p:nvPr/>
        </p:nvSpPr>
        <p:spPr>
          <a:xfrm>
            <a:off x="7178040" y="3118104"/>
            <a:ext cx="1371600" cy="914400"/>
          </a:xfrm>
          <a:prstGeom prst="rect">
            <a:avLst/>
          </a:prstGeom>
          <a:noFill/>
          <a:ln/>
        </p:spPr>
        <p:txBody>
          <a:bodyPr wrap="square" rtlCol="0" anchor="ctr"/>
          <a:lstStyle/>
          <a:p>
            <a:pPr marL="0" indent="0" algn="l">
              <a:buNone/>
            </a:pPr>
            <a:r>
              <a:rPr lang="en-US" sz="1400" b="1" dirty="0">
                <a:solidFill>
                  <a:srgbClr val="EAF4FF"/>
                </a:solidFill>
                <a:latin typeface="Trebuchet MS" pitchFamily="34" charset="0"/>
                <a:ea typeface="Trebuchet MS" pitchFamily="34" charset="-122"/>
                <a:cs typeface="Trebuchet MS" pitchFamily="34" charset="-120"/>
              </a:rPr>
              <a:t>Safe Operation</a:t>
            </a:r>
            <a:endParaRPr lang="en-US" sz="1400" dirty="0"/>
          </a:p>
        </p:txBody>
      </p:sp>
      <p:sp>
        <p:nvSpPr>
          <p:cNvPr id="28" name="Shape 26"/>
          <p:cNvSpPr/>
          <p:nvPr/>
        </p:nvSpPr>
        <p:spPr>
          <a:xfrm>
            <a:off x="4663440" y="4343400"/>
            <a:ext cx="1097280" cy="457200"/>
          </a:xfrm>
          <a:prstGeom prst="roundRect">
            <a:avLst>
              <a:gd name="adj" fmla="val 12000"/>
            </a:avLst>
          </a:prstGeom>
          <a:solidFill>
            <a:srgbClr val="13294F"/>
          </a:solidFill>
          <a:ln w="12700">
            <a:solidFill>
              <a:srgbClr val="22D3EE"/>
            </a:solidFill>
            <a:prstDash val="solid"/>
          </a:ln>
          <a:effectLst>
            <a:outerShdw blurRad="114300" dist="38100" dir="5400000" algn="bl" rotWithShape="0">
              <a:srgbClr val="020912">
                <a:alpha val="45000"/>
              </a:srgbClr>
            </a:outerShdw>
          </a:effectLst>
        </p:spPr>
        <p:txBody>
          <a:bodyPr/>
          <a:lstStyle/>
          <a:p>
            <a:endParaRPr lang="en-DE"/>
          </a:p>
        </p:txBody>
      </p:sp>
      <p:sp>
        <p:nvSpPr>
          <p:cNvPr id="29" name="Text 27"/>
          <p:cNvSpPr/>
          <p:nvPr/>
        </p:nvSpPr>
        <p:spPr>
          <a:xfrm>
            <a:off x="4709160" y="4343400"/>
            <a:ext cx="1005840" cy="457200"/>
          </a:xfrm>
          <a:prstGeom prst="rect">
            <a:avLst/>
          </a:prstGeom>
          <a:noFill/>
          <a:ln/>
        </p:spPr>
        <p:txBody>
          <a:bodyPr wrap="square" lIns="0" tIns="0" rIns="0" bIns="0" rtlCol="0" anchor="ctr"/>
          <a:lstStyle/>
          <a:p>
            <a:pPr marL="0" indent="0" algn="ctr">
              <a:buNone/>
            </a:pPr>
            <a:r>
              <a:rPr lang="en-US" sz="1250" b="1" dirty="0">
                <a:solidFill>
                  <a:srgbClr val="22D3EE"/>
                </a:solidFill>
                <a:latin typeface="Trebuchet MS" pitchFamily="34" charset="0"/>
                <a:ea typeface="Trebuchet MS" pitchFamily="34" charset="-122"/>
                <a:cs typeface="Trebuchet MS" pitchFamily="34" charset="-120"/>
              </a:rPr>
              <a:t>ATEX</a:t>
            </a:r>
            <a:endParaRPr lang="en-US" sz="1250" dirty="0"/>
          </a:p>
        </p:txBody>
      </p:sp>
      <p:sp>
        <p:nvSpPr>
          <p:cNvPr id="30" name="Shape 28"/>
          <p:cNvSpPr/>
          <p:nvPr/>
        </p:nvSpPr>
        <p:spPr>
          <a:xfrm>
            <a:off x="5897880" y="4343400"/>
            <a:ext cx="1097280" cy="457200"/>
          </a:xfrm>
          <a:prstGeom prst="roundRect">
            <a:avLst>
              <a:gd name="adj" fmla="val 12000"/>
            </a:avLst>
          </a:prstGeom>
          <a:solidFill>
            <a:srgbClr val="13294F"/>
          </a:solidFill>
          <a:ln w="12700">
            <a:solidFill>
              <a:srgbClr val="22D3EE"/>
            </a:solidFill>
            <a:prstDash val="solid"/>
          </a:ln>
          <a:effectLst>
            <a:outerShdw blurRad="114300" dist="38100" dir="5400000" algn="bl" rotWithShape="0">
              <a:srgbClr val="020912">
                <a:alpha val="45000"/>
              </a:srgbClr>
            </a:outerShdw>
          </a:effectLst>
        </p:spPr>
        <p:txBody>
          <a:bodyPr/>
          <a:lstStyle/>
          <a:p>
            <a:endParaRPr lang="en-DE"/>
          </a:p>
        </p:txBody>
      </p:sp>
      <p:sp>
        <p:nvSpPr>
          <p:cNvPr id="31" name="Text 29"/>
          <p:cNvSpPr/>
          <p:nvPr/>
        </p:nvSpPr>
        <p:spPr>
          <a:xfrm>
            <a:off x="5943600" y="4343400"/>
            <a:ext cx="1005840" cy="457200"/>
          </a:xfrm>
          <a:prstGeom prst="rect">
            <a:avLst/>
          </a:prstGeom>
          <a:noFill/>
          <a:ln/>
        </p:spPr>
        <p:txBody>
          <a:bodyPr wrap="square" lIns="0" tIns="0" rIns="0" bIns="0" rtlCol="0" anchor="ctr"/>
          <a:lstStyle/>
          <a:p>
            <a:pPr marL="0" indent="0" algn="ctr">
              <a:buNone/>
            </a:pPr>
            <a:r>
              <a:rPr lang="en-US" sz="1250" b="1" dirty="0">
                <a:solidFill>
                  <a:srgbClr val="22D3EE"/>
                </a:solidFill>
                <a:latin typeface="Trebuchet MS" pitchFamily="34" charset="0"/>
                <a:ea typeface="Trebuchet MS" pitchFamily="34" charset="-122"/>
                <a:cs typeface="Trebuchet MS" pitchFamily="34" charset="-120"/>
              </a:rPr>
              <a:t>IECEx</a:t>
            </a:r>
            <a:endParaRPr lang="en-US" sz="1250" dirty="0"/>
          </a:p>
        </p:txBody>
      </p:sp>
      <p:sp>
        <p:nvSpPr>
          <p:cNvPr id="32" name="Shape 30"/>
          <p:cNvSpPr/>
          <p:nvPr/>
        </p:nvSpPr>
        <p:spPr>
          <a:xfrm>
            <a:off x="7132320" y="4343400"/>
            <a:ext cx="1691640" cy="457200"/>
          </a:xfrm>
          <a:prstGeom prst="roundRect">
            <a:avLst>
              <a:gd name="adj" fmla="val 12000"/>
            </a:avLst>
          </a:prstGeom>
          <a:solidFill>
            <a:srgbClr val="13294F"/>
          </a:solidFill>
          <a:ln w="12700">
            <a:solidFill>
              <a:srgbClr val="22D3EE"/>
            </a:solidFill>
            <a:prstDash val="solid"/>
          </a:ln>
          <a:effectLst>
            <a:outerShdw blurRad="114300" dist="38100" dir="5400000" algn="bl" rotWithShape="0">
              <a:srgbClr val="020912">
                <a:alpha val="45000"/>
              </a:srgbClr>
            </a:outerShdw>
          </a:effectLst>
        </p:spPr>
        <p:txBody>
          <a:bodyPr/>
          <a:lstStyle/>
          <a:p>
            <a:endParaRPr lang="en-DE"/>
          </a:p>
        </p:txBody>
      </p:sp>
      <p:sp>
        <p:nvSpPr>
          <p:cNvPr id="33" name="Text 31"/>
          <p:cNvSpPr/>
          <p:nvPr/>
        </p:nvSpPr>
        <p:spPr>
          <a:xfrm>
            <a:off x="7178040" y="4343400"/>
            <a:ext cx="1600200" cy="457200"/>
          </a:xfrm>
          <a:prstGeom prst="rect">
            <a:avLst/>
          </a:prstGeom>
          <a:noFill/>
          <a:ln/>
        </p:spPr>
        <p:txBody>
          <a:bodyPr wrap="square" lIns="0" tIns="0" rIns="0" bIns="0" rtlCol="0" anchor="ctr"/>
          <a:lstStyle/>
          <a:p>
            <a:pPr marL="0" indent="0" algn="ctr">
              <a:buNone/>
            </a:pPr>
            <a:r>
              <a:rPr lang="en-US" sz="1250" b="1" dirty="0">
                <a:solidFill>
                  <a:srgbClr val="22D3EE"/>
                </a:solidFill>
                <a:latin typeface="Trebuchet MS" pitchFamily="34" charset="0"/>
                <a:ea typeface="Trebuchet MS" pitchFamily="34" charset="-122"/>
                <a:cs typeface="Trebuchet MS" pitchFamily="34" charset="-120"/>
              </a:rPr>
              <a:t>Zone 0 certified</a:t>
            </a:r>
            <a:endParaRPr lang="en-US" sz="1250" dirty="0"/>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832"/>
        </a:solidFill>
        <a:effectLst/>
      </p:bgPr>
    </p:bg>
    <p:spTree>
      <p:nvGrpSpPr>
        <p:cNvPr id="1" name=""/>
        <p:cNvGrpSpPr/>
        <p:nvPr/>
      </p:nvGrpSpPr>
      <p:grpSpPr>
        <a:xfrm>
          <a:off x="0" y="0"/>
          <a:ext cx="0" cy="0"/>
          <a:chOff x="0" y="0"/>
          <a:chExt cx="0" cy="0"/>
        </a:xfrm>
      </p:grpSpPr>
      <p:sp>
        <p:nvSpPr>
          <p:cNvPr id="2" name="Shape 0"/>
          <p:cNvSpPr/>
          <p:nvPr/>
        </p:nvSpPr>
        <p:spPr>
          <a:xfrm>
            <a:off x="502920" y="384048"/>
            <a:ext cx="146304" cy="457200"/>
          </a:xfrm>
          <a:prstGeom prst="rect">
            <a:avLst/>
          </a:prstGeom>
          <a:solidFill>
            <a:srgbClr val="22D3EE"/>
          </a:solidFill>
          <a:ln/>
        </p:spPr>
        <p:txBody>
          <a:bodyPr/>
          <a:lstStyle/>
          <a:p>
            <a:endParaRPr lang="en-DE"/>
          </a:p>
        </p:txBody>
      </p:sp>
      <p:sp>
        <p:nvSpPr>
          <p:cNvPr id="3" name="Text 1"/>
          <p:cNvSpPr/>
          <p:nvPr/>
        </p:nvSpPr>
        <p:spPr>
          <a:xfrm>
            <a:off x="777240" y="310896"/>
            <a:ext cx="7863840" cy="640080"/>
          </a:xfrm>
          <a:prstGeom prst="rect">
            <a:avLst/>
          </a:prstGeom>
          <a:noFill/>
          <a:ln/>
        </p:spPr>
        <p:txBody>
          <a:bodyPr wrap="square" lIns="0" tIns="0" rIns="0" bIns="0" rtlCol="0" anchor="ctr"/>
          <a:lstStyle/>
          <a:p>
            <a:pPr marL="0" indent="0" algn="l">
              <a:buNone/>
            </a:pPr>
            <a:r>
              <a:rPr lang="en-US" sz="2700" b="1" dirty="0">
                <a:solidFill>
                  <a:srgbClr val="EAF4FF"/>
                </a:solidFill>
                <a:latin typeface="Trebuchet MS" pitchFamily="34" charset="0"/>
                <a:ea typeface="Trebuchet MS" pitchFamily="34" charset="-122"/>
                <a:cs typeface="Trebuchet MS" pitchFamily="34" charset="-120"/>
              </a:rPr>
              <a:t>Comparison at a Glance</a:t>
            </a:r>
            <a:endParaRPr lang="en-US" sz="2700" dirty="0"/>
          </a:p>
        </p:txBody>
      </p:sp>
      <p:sp>
        <p:nvSpPr>
          <p:cNvPr id="4" name="Text 2"/>
          <p:cNvSpPr/>
          <p:nvPr/>
        </p:nvSpPr>
        <p:spPr>
          <a:xfrm>
            <a:off x="8321040" y="384048"/>
            <a:ext cx="548640" cy="457200"/>
          </a:xfrm>
          <a:prstGeom prst="rect">
            <a:avLst/>
          </a:prstGeom>
          <a:noFill/>
          <a:ln/>
        </p:spPr>
        <p:txBody>
          <a:bodyPr wrap="square" rtlCol="0" anchor="ctr"/>
          <a:lstStyle/>
          <a:p>
            <a:pPr marL="0" indent="0" algn="r">
              <a:buNone/>
            </a:pPr>
            <a:r>
              <a:rPr lang="en-US" sz="1200" b="1" dirty="0">
                <a:solidFill>
                  <a:srgbClr val="22D3EE"/>
                </a:solidFill>
                <a:latin typeface="Trebuchet MS" pitchFamily="34" charset="0"/>
                <a:ea typeface="Trebuchet MS" pitchFamily="34" charset="-122"/>
                <a:cs typeface="Trebuchet MS" pitchFamily="34" charset="-120"/>
              </a:rPr>
              <a:t>08</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7863840" cy="2980944"/>
        </p:xfrm>
        <a:graphic>
          <a:graphicData uri="http://schemas.openxmlformats.org/drawingml/2006/table">
            <a:tbl>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566928">
                <a:tc>
                  <a:txBody>
                    <a:bodyPr/>
                    <a:lstStyle/>
                    <a:p>
                      <a:pPr marL="0" indent="0" algn="ctr">
                        <a:buNone/>
                      </a:pPr>
                      <a:r>
                        <a:rPr lang="en-US" sz="1500" b="1" dirty="0">
                          <a:solidFill>
                            <a:srgbClr val="EAF4FF"/>
                          </a:solidFill>
                          <a:latin typeface="Trebuchet MS" pitchFamily="34" charset="0"/>
                          <a:ea typeface="Trebuchet MS" pitchFamily="34" charset="-122"/>
                          <a:cs typeface="Trebuchet MS" pitchFamily="34" charset="-120"/>
                        </a:rPr>
                        <a:t>Feature</a:t>
                      </a:r>
                      <a:endParaRPr lang="en-US" sz="1500" dirty="0">
                        <a:latin typeface="Trebuchet MS" charset="0"/>
                        <a:ea typeface="Trebuchet MS" charset="0"/>
                        <a:cs typeface="Trebuchet MS" charset="0"/>
                      </a:endParaRPr>
                    </a:p>
                  </a:txBody>
                  <a:tcPr anchor="ctr">
                    <a:lnL w="19050" cap="flat" cmpd="sng" algn="ctr">
                      <a:solidFill>
                        <a:srgbClr val="0A1832"/>
                      </a:solidFill>
                      <a:prstDash val="solid"/>
                      <a:round/>
                      <a:headEnd type="none" w="med" len="med"/>
                      <a:tailEnd type="none" w="med" len="med"/>
                    </a:lnL>
                    <a:lnR w="19050" cap="flat" cmpd="sng" algn="ctr">
                      <a:solidFill>
                        <a:srgbClr val="0A1832"/>
                      </a:solidFill>
                      <a:prstDash val="solid"/>
                      <a:round/>
                      <a:headEnd type="none" w="med" len="med"/>
                      <a:tailEnd type="none" w="med" len="med"/>
                    </a:lnR>
                    <a:lnT w="19050" cap="flat" cmpd="sng" algn="ctr">
                      <a:solidFill>
                        <a:srgbClr val="0A1832"/>
                      </a:solidFill>
                      <a:prstDash val="solid"/>
                      <a:round/>
                      <a:headEnd type="none" w="med" len="med"/>
                      <a:tailEnd type="none" w="med" len="med"/>
                    </a:lnT>
                    <a:lnB w="19050" cap="flat" cmpd="sng" algn="ctr">
                      <a:solidFill>
                        <a:srgbClr val="0A1832"/>
                      </a:solidFill>
                      <a:prstDash val="solid"/>
                      <a:round/>
                      <a:headEnd type="none" w="med" len="med"/>
                      <a:tailEnd type="none" w="med" len="med"/>
                    </a:lnB>
                    <a:solidFill>
                      <a:srgbClr val="0B1E3D"/>
                    </a:solidFill>
                  </a:tcPr>
                </a:tc>
                <a:tc>
                  <a:txBody>
                    <a:bodyPr/>
                    <a:lstStyle/>
                    <a:p>
                      <a:pPr marL="0" indent="0" algn="ctr">
                        <a:buNone/>
                      </a:pPr>
                      <a:r>
                        <a:rPr lang="en-US" sz="1500" b="1" dirty="0">
                          <a:solidFill>
                            <a:srgbClr val="EAF4FF"/>
                          </a:solidFill>
                          <a:latin typeface="Trebuchet MS" pitchFamily="34" charset="0"/>
                          <a:ea typeface="Trebuchet MS" pitchFamily="34" charset="-122"/>
                          <a:cs typeface="Trebuchet MS" pitchFamily="34" charset="-120"/>
                        </a:rPr>
                        <a:t>HART</a:t>
                      </a:r>
                      <a:endParaRPr lang="en-US" sz="1500" dirty="0">
                        <a:latin typeface="Trebuchet MS" charset="0"/>
                        <a:ea typeface="Trebuchet MS" charset="0"/>
                        <a:cs typeface="Trebuchet MS" charset="0"/>
                      </a:endParaRPr>
                    </a:p>
                  </a:txBody>
                  <a:tcPr anchor="ctr">
                    <a:lnL w="19050" cap="flat" cmpd="sng" algn="ctr">
                      <a:solidFill>
                        <a:srgbClr val="0A1832"/>
                      </a:solidFill>
                      <a:prstDash val="solid"/>
                      <a:round/>
                      <a:headEnd type="none" w="med" len="med"/>
                      <a:tailEnd type="none" w="med" len="med"/>
                    </a:lnL>
                    <a:lnR w="19050" cap="flat" cmpd="sng" algn="ctr">
                      <a:solidFill>
                        <a:srgbClr val="0A1832"/>
                      </a:solidFill>
                      <a:prstDash val="solid"/>
                      <a:round/>
                      <a:headEnd type="none" w="med" len="med"/>
                      <a:tailEnd type="none" w="med" len="med"/>
                    </a:lnR>
                    <a:lnT w="19050" cap="flat" cmpd="sng" algn="ctr">
                      <a:solidFill>
                        <a:srgbClr val="0A1832"/>
                      </a:solidFill>
                      <a:prstDash val="solid"/>
                      <a:round/>
                      <a:headEnd type="none" w="med" len="med"/>
                      <a:tailEnd type="none" w="med" len="med"/>
                    </a:lnT>
                    <a:lnB w="19050" cap="flat" cmpd="sng" algn="ctr">
                      <a:solidFill>
                        <a:srgbClr val="0A1832"/>
                      </a:solidFill>
                      <a:prstDash val="solid"/>
                      <a:round/>
                      <a:headEnd type="none" w="med" len="med"/>
                      <a:tailEnd type="none" w="med" len="med"/>
                    </a:lnB>
                    <a:solidFill>
                      <a:srgbClr val="16335E"/>
                    </a:solidFill>
                  </a:tcPr>
                </a:tc>
                <a:tc>
                  <a:txBody>
                    <a:bodyPr/>
                    <a:lstStyle/>
                    <a:p>
                      <a:pPr marL="0" indent="0" algn="ctr">
                        <a:buNone/>
                      </a:pPr>
                      <a:r>
                        <a:rPr lang="en-US" sz="1500" b="1" dirty="0">
                          <a:solidFill>
                            <a:srgbClr val="EAF4FF"/>
                          </a:solidFill>
                          <a:latin typeface="Trebuchet MS" pitchFamily="34" charset="0"/>
                          <a:ea typeface="Trebuchet MS" pitchFamily="34" charset="-122"/>
                          <a:cs typeface="Trebuchet MS" pitchFamily="34" charset="-120"/>
                        </a:rPr>
                        <a:t>PROFIBUS PA</a:t>
                      </a:r>
                      <a:endParaRPr lang="en-US" sz="1500" dirty="0">
                        <a:latin typeface="Trebuchet MS" charset="0"/>
                        <a:ea typeface="Trebuchet MS" charset="0"/>
                        <a:cs typeface="Trebuchet MS" charset="0"/>
                      </a:endParaRPr>
                    </a:p>
                  </a:txBody>
                  <a:tcPr anchor="ctr">
                    <a:lnL w="19050" cap="flat" cmpd="sng" algn="ctr">
                      <a:solidFill>
                        <a:srgbClr val="0A1832"/>
                      </a:solidFill>
                      <a:prstDash val="solid"/>
                      <a:round/>
                      <a:headEnd type="none" w="med" len="med"/>
                      <a:tailEnd type="none" w="med" len="med"/>
                    </a:lnL>
                    <a:lnR w="19050" cap="flat" cmpd="sng" algn="ctr">
                      <a:solidFill>
                        <a:srgbClr val="0A1832"/>
                      </a:solidFill>
                      <a:prstDash val="solid"/>
                      <a:round/>
                      <a:headEnd type="none" w="med" len="med"/>
                      <a:tailEnd type="none" w="med" len="med"/>
                    </a:lnR>
                    <a:lnT w="19050" cap="flat" cmpd="sng" algn="ctr">
                      <a:solidFill>
                        <a:srgbClr val="0A1832"/>
                      </a:solidFill>
                      <a:prstDash val="solid"/>
                      <a:round/>
                      <a:headEnd type="none" w="med" len="med"/>
                      <a:tailEnd type="none" w="med" len="med"/>
                    </a:lnT>
                    <a:lnB w="19050" cap="flat" cmpd="sng" algn="ctr">
                      <a:solidFill>
                        <a:srgbClr val="0A1832"/>
                      </a:solidFill>
                      <a:prstDash val="solid"/>
                      <a:round/>
                      <a:headEnd type="none" w="med" len="med"/>
                      <a:tailEnd type="none" w="med" len="med"/>
                    </a:lnB>
                    <a:solidFill>
                      <a:srgbClr val="16335E"/>
                    </a:solidFill>
                  </a:tcPr>
                </a:tc>
                <a:tc>
                  <a:txBody>
                    <a:bodyPr/>
                    <a:lstStyle/>
                    <a:p>
                      <a:pPr marL="0" indent="0" algn="ctr">
                        <a:buNone/>
                      </a:pPr>
                      <a:r>
                        <a:rPr lang="en-US" sz="1500" b="1" dirty="0">
                          <a:solidFill>
                            <a:srgbClr val="07122A"/>
                          </a:solidFill>
                          <a:latin typeface="Trebuchet MS" pitchFamily="34" charset="0"/>
                          <a:ea typeface="Trebuchet MS" pitchFamily="34" charset="-122"/>
                          <a:cs typeface="Trebuchet MS" pitchFamily="34" charset="-120"/>
                        </a:rPr>
                        <a:t>Ethernet-APL</a:t>
                      </a:r>
                      <a:endParaRPr lang="en-US" sz="1500" dirty="0">
                        <a:latin typeface="Trebuchet MS" charset="0"/>
                        <a:ea typeface="Trebuchet MS" charset="0"/>
                        <a:cs typeface="Trebuchet MS" charset="0"/>
                      </a:endParaRPr>
                    </a:p>
                  </a:txBody>
                  <a:tcPr anchor="ctr">
                    <a:lnL w="19050" cap="flat" cmpd="sng" algn="ctr">
                      <a:solidFill>
                        <a:srgbClr val="0A1832"/>
                      </a:solidFill>
                      <a:prstDash val="solid"/>
                      <a:round/>
                      <a:headEnd type="none" w="med" len="med"/>
                      <a:tailEnd type="none" w="med" len="med"/>
                    </a:lnL>
                    <a:lnR w="19050" cap="flat" cmpd="sng" algn="ctr">
                      <a:solidFill>
                        <a:srgbClr val="0A1832"/>
                      </a:solidFill>
                      <a:prstDash val="solid"/>
                      <a:round/>
                      <a:headEnd type="none" w="med" len="med"/>
                      <a:tailEnd type="none" w="med" len="med"/>
                    </a:lnR>
                    <a:lnT w="19050" cap="flat" cmpd="sng" algn="ctr">
                      <a:solidFill>
                        <a:srgbClr val="0A1832"/>
                      </a:solidFill>
                      <a:prstDash val="solid"/>
                      <a:round/>
                      <a:headEnd type="none" w="med" len="med"/>
                      <a:tailEnd type="none" w="med" len="med"/>
                    </a:lnT>
                    <a:lnB w="19050" cap="flat" cmpd="sng" algn="ctr">
                      <a:solidFill>
                        <a:srgbClr val="0A1832"/>
                      </a:solidFill>
                      <a:prstDash val="solid"/>
                      <a:round/>
                      <a:headEnd type="none" w="med" len="med"/>
                      <a:tailEnd type="none" w="med" len="med"/>
                    </a:lnB>
                    <a:solidFill>
                      <a:srgbClr val="22D3EE"/>
                    </a:solidFill>
                  </a:tcPr>
                </a:tc>
                <a:extLst>
                  <a:ext uri="{0D108BD9-81ED-4DB2-BD59-A6C34878D82A}">
                    <a16:rowId xmlns:a16="http://schemas.microsoft.com/office/drawing/2014/main" val="10000"/>
                  </a:ext>
                </a:extLst>
              </a:tr>
              <a:tr h="603504">
                <a:tc>
                  <a:txBody>
                    <a:bodyPr/>
                    <a:lstStyle/>
                    <a:p>
                      <a:pPr marL="0" indent="0" algn="ctr">
                        <a:buNone/>
                      </a:pPr>
                      <a:r>
                        <a:rPr lang="en-US" sz="1450" b="1" dirty="0">
                          <a:solidFill>
                            <a:srgbClr val="EAF4FF"/>
                          </a:solidFill>
                          <a:latin typeface="Calibri" pitchFamily="34" charset="0"/>
                          <a:ea typeface="Calibri" pitchFamily="34" charset="-122"/>
                          <a:cs typeface="Calibri" pitchFamily="34" charset="-120"/>
                        </a:rPr>
                        <a:t>Speed</a:t>
                      </a:r>
                      <a:endParaRPr lang="en-US" sz="1450" dirty="0">
                        <a:latin typeface="Calibri" charset="0"/>
                        <a:ea typeface="Calibri" charset="0"/>
                        <a:cs typeface="Calibri" charset="0"/>
                      </a:endParaRPr>
                    </a:p>
                  </a:txBody>
                  <a:tcPr anchor="ctr">
                    <a:lnL w="19050" cap="flat" cmpd="sng" algn="ctr">
                      <a:solidFill>
                        <a:srgbClr val="0A1832"/>
                      </a:solidFill>
                      <a:prstDash val="solid"/>
                      <a:round/>
                      <a:headEnd type="none" w="med" len="med"/>
                      <a:tailEnd type="none" w="med" len="med"/>
                    </a:lnL>
                    <a:lnR w="19050" cap="flat" cmpd="sng" algn="ctr">
                      <a:solidFill>
                        <a:srgbClr val="0A1832"/>
                      </a:solidFill>
                      <a:prstDash val="solid"/>
                      <a:round/>
                      <a:headEnd type="none" w="med" len="med"/>
                      <a:tailEnd type="none" w="med" len="med"/>
                    </a:lnR>
                    <a:lnT w="19050" cap="flat" cmpd="sng" algn="ctr">
                      <a:solidFill>
                        <a:srgbClr val="0A1832"/>
                      </a:solidFill>
                      <a:prstDash val="solid"/>
                      <a:round/>
                      <a:headEnd type="none" w="med" len="med"/>
                      <a:tailEnd type="none" w="med" len="med"/>
                    </a:lnT>
                    <a:lnB w="19050" cap="flat" cmpd="sng" algn="ctr">
                      <a:solidFill>
                        <a:srgbClr val="0A1832"/>
                      </a:solidFill>
                      <a:prstDash val="solid"/>
                      <a:round/>
                      <a:headEnd type="none" w="med" len="med"/>
                      <a:tailEnd type="none" w="med" len="med"/>
                    </a:lnB>
                    <a:solidFill>
                      <a:srgbClr val="0E2247"/>
                    </a:solidFill>
                  </a:tcPr>
                </a:tc>
                <a:tc>
                  <a:txBody>
                    <a:bodyPr/>
                    <a:lstStyle/>
                    <a:p>
                      <a:pPr marL="0" indent="0" algn="ctr">
                        <a:buNone/>
                      </a:pPr>
                      <a:r>
                        <a:rPr lang="en-US" sz="1450" dirty="0">
                          <a:solidFill>
                            <a:srgbClr val="9FB6D6"/>
                          </a:solidFill>
                          <a:latin typeface="Calibri" pitchFamily="34" charset="0"/>
                          <a:ea typeface="Calibri" pitchFamily="34" charset="-122"/>
                          <a:cs typeface="Calibri" pitchFamily="34" charset="-120"/>
                        </a:rPr>
                        <a:t>1.2 kbps</a:t>
                      </a:r>
                      <a:endParaRPr lang="en-US" sz="1450" dirty="0">
                        <a:latin typeface="Calibri" charset="0"/>
                        <a:ea typeface="Calibri" charset="0"/>
                        <a:cs typeface="Calibri" charset="0"/>
                      </a:endParaRPr>
                    </a:p>
                  </a:txBody>
                  <a:tcPr anchor="ctr">
                    <a:lnL w="19050" cap="flat" cmpd="sng" algn="ctr">
                      <a:solidFill>
                        <a:srgbClr val="0A1832"/>
                      </a:solidFill>
                      <a:prstDash val="solid"/>
                      <a:round/>
                      <a:headEnd type="none" w="med" len="med"/>
                      <a:tailEnd type="none" w="med" len="med"/>
                    </a:lnL>
                    <a:lnR w="19050" cap="flat" cmpd="sng" algn="ctr">
                      <a:solidFill>
                        <a:srgbClr val="0A1832"/>
                      </a:solidFill>
                      <a:prstDash val="solid"/>
                      <a:round/>
                      <a:headEnd type="none" w="med" len="med"/>
                      <a:tailEnd type="none" w="med" len="med"/>
                    </a:lnR>
                    <a:lnT w="19050" cap="flat" cmpd="sng" algn="ctr">
                      <a:solidFill>
                        <a:srgbClr val="0A1832"/>
                      </a:solidFill>
                      <a:prstDash val="solid"/>
                      <a:round/>
                      <a:headEnd type="none" w="med" len="med"/>
                      <a:tailEnd type="none" w="med" len="med"/>
                    </a:lnT>
                    <a:lnB w="19050" cap="flat" cmpd="sng" algn="ctr">
                      <a:solidFill>
                        <a:srgbClr val="0A1832"/>
                      </a:solidFill>
                      <a:prstDash val="solid"/>
                      <a:round/>
                      <a:headEnd type="none" w="med" len="med"/>
                      <a:tailEnd type="none" w="med" len="med"/>
                    </a:lnB>
                    <a:solidFill>
                      <a:srgbClr val="13294F"/>
                    </a:solidFill>
                  </a:tcPr>
                </a:tc>
                <a:tc>
                  <a:txBody>
                    <a:bodyPr/>
                    <a:lstStyle/>
                    <a:p>
                      <a:pPr marL="0" indent="0" algn="ctr">
                        <a:buNone/>
                      </a:pPr>
                      <a:r>
                        <a:rPr lang="en-US" sz="1450" dirty="0">
                          <a:solidFill>
                            <a:srgbClr val="9FB6D6"/>
                          </a:solidFill>
                          <a:latin typeface="Calibri" pitchFamily="34" charset="0"/>
                          <a:ea typeface="Calibri" pitchFamily="34" charset="-122"/>
                          <a:cs typeface="Calibri" pitchFamily="34" charset="-120"/>
                        </a:rPr>
                        <a:t>31.25 kbps</a:t>
                      </a:r>
                      <a:endParaRPr lang="en-US" sz="1450" dirty="0">
                        <a:latin typeface="Calibri" charset="0"/>
                        <a:ea typeface="Calibri" charset="0"/>
                        <a:cs typeface="Calibri" charset="0"/>
                      </a:endParaRPr>
                    </a:p>
                  </a:txBody>
                  <a:tcPr anchor="ctr">
                    <a:lnL w="19050" cap="flat" cmpd="sng" algn="ctr">
                      <a:solidFill>
                        <a:srgbClr val="0A1832"/>
                      </a:solidFill>
                      <a:prstDash val="solid"/>
                      <a:round/>
                      <a:headEnd type="none" w="med" len="med"/>
                      <a:tailEnd type="none" w="med" len="med"/>
                    </a:lnL>
                    <a:lnR w="19050" cap="flat" cmpd="sng" algn="ctr">
                      <a:solidFill>
                        <a:srgbClr val="0A1832"/>
                      </a:solidFill>
                      <a:prstDash val="solid"/>
                      <a:round/>
                      <a:headEnd type="none" w="med" len="med"/>
                      <a:tailEnd type="none" w="med" len="med"/>
                    </a:lnR>
                    <a:lnT w="19050" cap="flat" cmpd="sng" algn="ctr">
                      <a:solidFill>
                        <a:srgbClr val="0A1832"/>
                      </a:solidFill>
                      <a:prstDash val="solid"/>
                      <a:round/>
                      <a:headEnd type="none" w="med" len="med"/>
                      <a:tailEnd type="none" w="med" len="med"/>
                    </a:lnT>
                    <a:lnB w="19050" cap="flat" cmpd="sng" algn="ctr">
                      <a:solidFill>
                        <a:srgbClr val="0A1832"/>
                      </a:solidFill>
                      <a:prstDash val="solid"/>
                      <a:round/>
                      <a:headEnd type="none" w="med" len="med"/>
                      <a:tailEnd type="none" w="med" len="med"/>
                    </a:lnB>
                    <a:solidFill>
                      <a:srgbClr val="13294F"/>
                    </a:solidFill>
                  </a:tcPr>
                </a:tc>
                <a:tc>
                  <a:txBody>
                    <a:bodyPr/>
                    <a:lstStyle/>
                    <a:p>
                      <a:pPr marL="0" indent="0" algn="ctr">
                        <a:buNone/>
                      </a:pPr>
                      <a:r>
                        <a:rPr lang="en-US" sz="1450" b="1" dirty="0">
                          <a:solidFill>
                            <a:srgbClr val="07122A"/>
                          </a:solidFill>
                          <a:latin typeface="Calibri" pitchFamily="34" charset="0"/>
                          <a:ea typeface="Calibri" pitchFamily="34" charset="-122"/>
                          <a:cs typeface="Calibri" pitchFamily="34" charset="-120"/>
                        </a:rPr>
                        <a:t>10 Mbps</a:t>
                      </a:r>
                      <a:endParaRPr lang="en-US" sz="1450" dirty="0">
                        <a:latin typeface="Calibri" charset="0"/>
                        <a:ea typeface="Calibri" charset="0"/>
                        <a:cs typeface="Calibri" charset="0"/>
                      </a:endParaRPr>
                    </a:p>
                  </a:txBody>
                  <a:tcPr anchor="ctr">
                    <a:lnL w="19050" cap="flat" cmpd="sng" algn="ctr">
                      <a:solidFill>
                        <a:srgbClr val="0A1832"/>
                      </a:solidFill>
                      <a:prstDash val="solid"/>
                      <a:round/>
                      <a:headEnd type="none" w="med" len="med"/>
                      <a:tailEnd type="none" w="med" len="med"/>
                    </a:lnL>
                    <a:lnR w="19050" cap="flat" cmpd="sng" algn="ctr">
                      <a:solidFill>
                        <a:srgbClr val="0A1832"/>
                      </a:solidFill>
                      <a:prstDash val="solid"/>
                      <a:round/>
                      <a:headEnd type="none" w="med" len="med"/>
                      <a:tailEnd type="none" w="med" len="med"/>
                    </a:lnR>
                    <a:lnT w="19050" cap="flat" cmpd="sng" algn="ctr">
                      <a:solidFill>
                        <a:srgbClr val="0A1832"/>
                      </a:solidFill>
                      <a:prstDash val="solid"/>
                      <a:round/>
                      <a:headEnd type="none" w="med" len="med"/>
                      <a:tailEnd type="none" w="med" len="med"/>
                    </a:lnT>
                    <a:lnB w="19050" cap="flat" cmpd="sng" algn="ctr">
                      <a:solidFill>
                        <a:srgbClr val="0A1832"/>
                      </a:solidFill>
                      <a:prstDash val="solid"/>
                      <a:round/>
                      <a:headEnd type="none" w="med" len="med"/>
                      <a:tailEnd type="none" w="med" len="med"/>
                    </a:lnB>
                    <a:solidFill>
                      <a:srgbClr val="22D3EE"/>
                    </a:solidFill>
                  </a:tcPr>
                </a:tc>
                <a:extLst>
                  <a:ext uri="{0D108BD9-81ED-4DB2-BD59-A6C34878D82A}">
                    <a16:rowId xmlns:a16="http://schemas.microsoft.com/office/drawing/2014/main" val="10001"/>
                  </a:ext>
                </a:extLst>
              </a:tr>
              <a:tr h="603504">
                <a:tc>
                  <a:txBody>
                    <a:bodyPr/>
                    <a:lstStyle/>
                    <a:p>
                      <a:pPr marL="0" indent="0" algn="ctr">
                        <a:buNone/>
                      </a:pPr>
                      <a:r>
                        <a:rPr lang="en-US" sz="1450" b="1" dirty="0">
                          <a:solidFill>
                            <a:srgbClr val="EAF4FF"/>
                          </a:solidFill>
                          <a:latin typeface="Calibri" pitchFamily="34" charset="0"/>
                          <a:ea typeface="Calibri" pitchFamily="34" charset="-122"/>
                          <a:cs typeface="Calibri" pitchFamily="34" charset="-120"/>
                        </a:rPr>
                        <a:t>Ethernet</a:t>
                      </a:r>
                      <a:endParaRPr lang="en-US" sz="1450" dirty="0">
                        <a:latin typeface="Calibri" charset="0"/>
                        <a:ea typeface="Calibri" charset="0"/>
                        <a:cs typeface="Calibri" charset="0"/>
                      </a:endParaRPr>
                    </a:p>
                  </a:txBody>
                  <a:tcPr anchor="ctr">
                    <a:lnL w="19050" cap="flat" cmpd="sng" algn="ctr">
                      <a:solidFill>
                        <a:srgbClr val="0A1832"/>
                      </a:solidFill>
                      <a:prstDash val="solid"/>
                      <a:round/>
                      <a:headEnd type="none" w="med" len="med"/>
                      <a:tailEnd type="none" w="med" len="med"/>
                    </a:lnL>
                    <a:lnR w="19050" cap="flat" cmpd="sng" algn="ctr">
                      <a:solidFill>
                        <a:srgbClr val="0A1832"/>
                      </a:solidFill>
                      <a:prstDash val="solid"/>
                      <a:round/>
                      <a:headEnd type="none" w="med" len="med"/>
                      <a:tailEnd type="none" w="med" len="med"/>
                    </a:lnR>
                    <a:lnT w="19050" cap="flat" cmpd="sng" algn="ctr">
                      <a:solidFill>
                        <a:srgbClr val="0A1832"/>
                      </a:solidFill>
                      <a:prstDash val="solid"/>
                      <a:round/>
                      <a:headEnd type="none" w="med" len="med"/>
                      <a:tailEnd type="none" w="med" len="med"/>
                    </a:lnT>
                    <a:lnB w="19050" cap="flat" cmpd="sng" algn="ctr">
                      <a:solidFill>
                        <a:srgbClr val="0A1832"/>
                      </a:solidFill>
                      <a:prstDash val="solid"/>
                      <a:round/>
                      <a:headEnd type="none" w="med" len="med"/>
                      <a:tailEnd type="none" w="med" len="med"/>
                    </a:lnB>
                    <a:solidFill>
                      <a:srgbClr val="0E2247"/>
                    </a:solidFill>
                  </a:tcPr>
                </a:tc>
                <a:tc>
                  <a:txBody>
                    <a:bodyPr/>
                    <a:lstStyle/>
                    <a:p>
                      <a:pPr marL="0" indent="0" algn="ctr">
                        <a:buNone/>
                      </a:pPr>
                      <a:r>
                        <a:rPr lang="en-US" sz="1450" dirty="0">
                          <a:solidFill>
                            <a:srgbClr val="FF6B6B"/>
                          </a:solidFill>
                          <a:latin typeface="Calibri" pitchFamily="34" charset="0"/>
                          <a:ea typeface="Calibri" pitchFamily="34" charset="-122"/>
                          <a:cs typeface="Calibri" pitchFamily="34" charset="-120"/>
                        </a:rPr>
                        <a:t>No</a:t>
                      </a:r>
                      <a:endParaRPr lang="en-US" sz="1450" dirty="0">
                        <a:latin typeface="Calibri" charset="0"/>
                        <a:ea typeface="Calibri" charset="0"/>
                        <a:cs typeface="Calibri" charset="0"/>
                      </a:endParaRPr>
                    </a:p>
                  </a:txBody>
                  <a:tcPr anchor="ctr">
                    <a:lnL w="19050" cap="flat" cmpd="sng" algn="ctr">
                      <a:solidFill>
                        <a:srgbClr val="0A1832"/>
                      </a:solidFill>
                      <a:prstDash val="solid"/>
                      <a:round/>
                      <a:headEnd type="none" w="med" len="med"/>
                      <a:tailEnd type="none" w="med" len="med"/>
                    </a:lnL>
                    <a:lnR w="19050" cap="flat" cmpd="sng" algn="ctr">
                      <a:solidFill>
                        <a:srgbClr val="0A1832"/>
                      </a:solidFill>
                      <a:prstDash val="solid"/>
                      <a:round/>
                      <a:headEnd type="none" w="med" len="med"/>
                      <a:tailEnd type="none" w="med" len="med"/>
                    </a:lnR>
                    <a:lnT w="19050" cap="flat" cmpd="sng" algn="ctr">
                      <a:solidFill>
                        <a:srgbClr val="0A1832"/>
                      </a:solidFill>
                      <a:prstDash val="solid"/>
                      <a:round/>
                      <a:headEnd type="none" w="med" len="med"/>
                      <a:tailEnd type="none" w="med" len="med"/>
                    </a:lnT>
                    <a:lnB w="19050" cap="flat" cmpd="sng" algn="ctr">
                      <a:solidFill>
                        <a:srgbClr val="0A1832"/>
                      </a:solidFill>
                      <a:prstDash val="solid"/>
                      <a:round/>
                      <a:headEnd type="none" w="med" len="med"/>
                      <a:tailEnd type="none" w="med" len="med"/>
                    </a:lnB>
                    <a:solidFill>
                      <a:srgbClr val="13294F"/>
                    </a:solidFill>
                  </a:tcPr>
                </a:tc>
                <a:tc>
                  <a:txBody>
                    <a:bodyPr/>
                    <a:lstStyle/>
                    <a:p>
                      <a:pPr marL="0" indent="0" algn="ctr">
                        <a:buNone/>
                      </a:pPr>
                      <a:r>
                        <a:rPr lang="en-US" sz="1450" dirty="0">
                          <a:solidFill>
                            <a:srgbClr val="FF6B6B"/>
                          </a:solidFill>
                          <a:latin typeface="Calibri" pitchFamily="34" charset="0"/>
                          <a:ea typeface="Calibri" pitchFamily="34" charset="-122"/>
                          <a:cs typeface="Calibri" pitchFamily="34" charset="-120"/>
                        </a:rPr>
                        <a:t>No</a:t>
                      </a:r>
                      <a:endParaRPr lang="en-US" sz="1450" dirty="0">
                        <a:latin typeface="Calibri" charset="0"/>
                        <a:ea typeface="Calibri" charset="0"/>
                        <a:cs typeface="Calibri" charset="0"/>
                      </a:endParaRPr>
                    </a:p>
                  </a:txBody>
                  <a:tcPr anchor="ctr">
                    <a:lnL w="19050" cap="flat" cmpd="sng" algn="ctr">
                      <a:solidFill>
                        <a:srgbClr val="0A1832"/>
                      </a:solidFill>
                      <a:prstDash val="solid"/>
                      <a:round/>
                      <a:headEnd type="none" w="med" len="med"/>
                      <a:tailEnd type="none" w="med" len="med"/>
                    </a:lnL>
                    <a:lnR w="19050" cap="flat" cmpd="sng" algn="ctr">
                      <a:solidFill>
                        <a:srgbClr val="0A1832"/>
                      </a:solidFill>
                      <a:prstDash val="solid"/>
                      <a:round/>
                      <a:headEnd type="none" w="med" len="med"/>
                      <a:tailEnd type="none" w="med" len="med"/>
                    </a:lnR>
                    <a:lnT w="19050" cap="flat" cmpd="sng" algn="ctr">
                      <a:solidFill>
                        <a:srgbClr val="0A1832"/>
                      </a:solidFill>
                      <a:prstDash val="solid"/>
                      <a:round/>
                      <a:headEnd type="none" w="med" len="med"/>
                      <a:tailEnd type="none" w="med" len="med"/>
                    </a:lnT>
                    <a:lnB w="19050" cap="flat" cmpd="sng" algn="ctr">
                      <a:solidFill>
                        <a:srgbClr val="0A1832"/>
                      </a:solidFill>
                      <a:prstDash val="solid"/>
                      <a:round/>
                      <a:headEnd type="none" w="med" len="med"/>
                      <a:tailEnd type="none" w="med" len="med"/>
                    </a:lnB>
                    <a:solidFill>
                      <a:srgbClr val="13294F"/>
                    </a:solidFill>
                  </a:tcPr>
                </a:tc>
                <a:tc>
                  <a:txBody>
                    <a:bodyPr/>
                    <a:lstStyle/>
                    <a:p>
                      <a:pPr marL="0" indent="0" algn="ctr">
                        <a:buNone/>
                      </a:pPr>
                      <a:r>
                        <a:rPr lang="en-US" sz="1450" b="1" dirty="0">
                          <a:solidFill>
                            <a:srgbClr val="07122A"/>
                          </a:solidFill>
                          <a:latin typeface="Calibri" pitchFamily="34" charset="0"/>
                          <a:ea typeface="Calibri" pitchFamily="34" charset="-122"/>
                          <a:cs typeface="Calibri" pitchFamily="34" charset="-120"/>
                        </a:rPr>
                        <a:t>Yes</a:t>
                      </a:r>
                      <a:endParaRPr lang="en-US" sz="1450" dirty="0">
                        <a:latin typeface="Calibri" charset="0"/>
                        <a:ea typeface="Calibri" charset="0"/>
                        <a:cs typeface="Calibri" charset="0"/>
                      </a:endParaRPr>
                    </a:p>
                  </a:txBody>
                  <a:tcPr anchor="ctr">
                    <a:lnL w="19050" cap="flat" cmpd="sng" algn="ctr">
                      <a:solidFill>
                        <a:srgbClr val="0A1832"/>
                      </a:solidFill>
                      <a:prstDash val="solid"/>
                      <a:round/>
                      <a:headEnd type="none" w="med" len="med"/>
                      <a:tailEnd type="none" w="med" len="med"/>
                    </a:lnL>
                    <a:lnR w="19050" cap="flat" cmpd="sng" algn="ctr">
                      <a:solidFill>
                        <a:srgbClr val="0A1832"/>
                      </a:solidFill>
                      <a:prstDash val="solid"/>
                      <a:round/>
                      <a:headEnd type="none" w="med" len="med"/>
                      <a:tailEnd type="none" w="med" len="med"/>
                    </a:lnR>
                    <a:lnT w="19050" cap="flat" cmpd="sng" algn="ctr">
                      <a:solidFill>
                        <a:srgbClr val="0A1832"/>
                      </a:solidFill>
                      <a:prstDash val="solid"/>
                      <a:round/>
                      <a:headEnd type="none" w="med" len="med"/>
                      <a:tailEnd type="none" w="med" len="med"/>
                    </a:lnT>
                    <a:lnB w="19050" cap="flat" cmpd="sng" algn="ctr">
                      <a:solidFill>
                        <a:srgbClr val="0A1832"/>
                      </a:solidFill>
                      <a:prstDash val="solid"/>
                      <a:round/>
                      <a:headEnd type="none" w="med" len="med"/>
                      <a:tailEnd type="none" w="med" len="med"/>
                    </a:lnB>
                    <a:solidFill>
                      <a:srgbClr val="22D3EE"/>
                    </a:solidFill>
                  </a:tcPr>
                </a:tc>
                <a:extLst>
                  <a:ext uri="{0D108BD9-81ED-4DB2-BD59-A6C34878D82A}">
                    <a16:rowId xmlns:a16="http://schemas.microsoft.com/office/drawing/2014/main" val="10002"/>
                  </a:ext>
                </a:extLst>
              </a:tr>
              <a:tr h="603504">
                <a:tc>
                  <a:txBody>
                    <a:bodyPr/>
                    <a:lstStyle/>
                    <a:p>
                      <a:pPr marL="0" indent="0" algn="ctr">
                        <a:buNone/>
                      </a:pPr>
                      <a:r>
                        <a:rPr lang="en-US" sz="1450" b="1" dirty="0">
                          <a:solidFill>
                            <a:srgbClr val="EAF4FF"/>
                          </a:solidFill>
                          <a:latin typeface="Calibri" pitchFamily="34" charset="0"/>
                          <a:ea typeface="Calibri" pitchFamily="34" charset="-122"/>
                          <a:cs typeface="Calibri" pitchFamily="34" charset="-120"/>
                        </a:rPr>
                        <a:t>Cloud Ready</a:t>
                      </a:r>
                      <a:endParaRPr lang="en-US" sz="1450" dirty="0">
                        <a:latin typeface="Calibri" charset="0"/>
                        <a:ea typeface="Calibri" charset="0"/>
                        <a:cs typeface="Calibri" charset="0"/>
                      </a:endParaRPr>
                    </a:p>
                  </a:txBody>
                  <a:tcPr anchor="ctr">
                    <a:lnL w="19050" cap="flat" cmpd="sng" algn="ctr">
                      <a:solidFill>
                        <a:srgbClr val="0A1832"/>
                      </a:solidFill>
                      <a:prstDash val="solid"/>
                      <a:round/>
                      <a:headEnd type="none" w="med" len="med"/>
                      <a:tailEnd type="none" w="med" len="med"/>
                    </a:lnL>
                    <a:lnR w="19050" cap="flat" cmpd="sng" algn="ctr">
                      <a:solidFill>
                        <a:srgbClr val="0A1832"/>
                      </a:solidFill>
                      <a:prstDash val="solid"/>
                      <a:round/>
                      <a:headEnd type="none" w="med" len="med"/>
                      <a:tailEnd type="none" w="med" len="med"/>
                    </a:lnR>
                    <a:lnT w="19050" cap="flat" cmpd="sng" algn="ctr">
                      <a:solidFill>
                        <a:srgbClr val="0A1832"/>
                      </a:solidFill>
                      <a:prstDash val="solid"/>
                      <a:round/>
                      <a:headEnd type="none" w="med" len="med"/>
                      <a:tailEnd type="none" w="med" len="med"/>
                    </a:lnT>
                    <a:lnB w="19050" cap="flat" cmpd="sng" algn="ctr">
                      <a:solidFill>
                        <a:srgbClr val="0A1832"/>
                      </a:solidFill>
                      <a:prstDash val="solid"/>
                      <a:round/>
                      <a:headEnd type="none" w="med" len="med"/>
                      <a:tailEnd type="none" w="med" len="med"/>
                    </a:lnB>
                    <a:solidFill>
                      <a:srgbClr val="0E2247"/>
                    </a:solidFill>
                  </a:tcPr>
                </a:tc>
                <a:tc>
                  <a:txBody>
                    <a:bodyPr/>
                    <a:lstStyle/>
                    <a:p>
                      <a:pPr marL="0" indent="0" algn="ctr">
                        <a:buNone/>
                      </a:pPr>
                      <a:r>
                        <a:rPr lang="en-US" sz="1450" dirty="0">
                          <a:solidFill>
                            <a:srgbClr val="FF6B6B"/>
                          </a:solidFill>
                          <a:latin typeface="Calibri" pitchFamily="34" charset="0"/>
                          <a:ea typeface="Calibri" pitchFamily="34" charset="-122"/>
                          <a:cs typeface="Calibri" pitchFamily="34" charset="-120"/>
                        </a:rPr>
                        <a:t>No</a:t>
                      </a:r>
                      <a:endParaRPr lang="en-US" sz="1450" dirty="0">
                        <a:latin typeface="Calibri" charset="0"/>
                        <a:ea typeface="Calibri" charset="0"/>
                        <a:cs typeface="Calibri" charset="0"/>
                      </a:endParaRPr>
                    </a:p>
                  </a:txBody>
                  <a:tcPr anchor="ctr">
                    <a:lnL w="19050" cap="flat" cmpd="sng" algn="ctr">
                      <a:solidFill>
                        <a:srgbClr val="0A1832"/>
                      </a:solidFill>
                      <a:prstDash val="solid"/>
                      <a:round/>
                      <a:headEnd type="none" w="med" len="med"/>
                      <a:tailEnd type="none" w="med" len="med"/>
                    </a:lnL>
                    <a:lnR w="19050" cap="flat" cmpd="sng" algn="ctr">
                      <a:solidFill>
                        <a:srgbClr val="0A1832"/>
                      </a:solidFill>
                      <a:prstDash val="solid"/>
                      <a:round/>
                      <a:headEnd type="none" w="med" len="med"/>
                      <a:tailEnd type="none" w="med" len="med"/>
                    </a:lnR>
                    <a:lnT w="19050" cap="flat" cmpd="sng" algn="ctr">
                      <a:solidFill>
                        <a:srgbClr val="0A1832"/>
                      </a:solidFill>
                      <a:prstDash val="solid"/>
                      <a:round/>
                      <a:headEnd type="none" w="med" len="med"/>
                      <a:tailEnd type="none" w="med" len="med"/>
                    </a:lnT>
                    <a:lnB w="19050" cap="flat" cmpd="sng" algn="ctr">
                      <a:solidFill>
                        <a:srgbClr val="0A1832"/>
                      </a:solidFill>
                      <a:prstDash val="solid"/>
                      <a:round/>
                      <a:headEnd type="none" w="med" len="med"/>
                      <a:tailEnd type="none" w="med" len="med"/>
                    </a:lnB>
                    <a:solidFill>
                      <a:srgbClr val="13294F"/>
                    </a:solidFill>
                  </a:tcPr>
                </a:tc>
                <a:tc>
                  <a:txBody>
                    <a:bodyPr/>
                    <a:lstStyle/>
                    <a:p>
                      <a:pPr marL="0" indent="0" algn="ctr">
                        <a:buNone/>
                      </a:pPr>
                      <a:r>
                        <a:rPr lang="en-US" sz="1450" dirty="0">
                          <a:solidFill>
                            <a:srgbClr val="F6A623"/>
                          </a:solidFill>
                          <a:latin typeface="Calibri" pitchFamily="34" charset="0"/>
                          <a:ea typeface="Calibri" pitchFamily="34" charset="-122"/>
                          <a:cs typeface="Calibri" pitchFamily="34" charset="-120"/>
                        </a:rPr>
                        <a:t>Limited</a:t>
                      </a:r>
                      <a:endParaRPr lang="en-US" sz="1450" dirty="0">
                        <a:latin typeface="Calibri" charset="0"/>
                        <a:ea typeface="Calibri" charset="0"/>
                        <a:cs typeface="Calibri" charset="0"/>
                      </a:endParaRPr>
                    </a:p>
                  </a:txBody>
                  <a:tcPr anchor="ctr">
                    <a:lnL w="19050" cap="flat" cmpd="sng" algn="ctr">
                      <a:solidFill>
                        <a:srgbClr val="0A1832"/>
                      </a:solidFill>
                      <a:prstDash val="solid"/>
                      <a:round/>
                      <a:headEnd type="none" w="med" len="med"/>
                      <a:tailEnd type="none" w="med" len="med"/>
                    </a:lnL>
                    <a:lnR w="19050" cap="flat" cmpd="sng" algn="ctr">
                      <a:solidFill>
                        <a:srgbClr val="0A1832"/>
                      </a:solidFill>
                      <a:prstDash val="solid"/>
                      <a:round/>
                      <a:headEnd type="none" w="med" len="med"/>
                      <a:tailEnd type="none" w="med" len="med"/>
                    </a:lnR>
                    <a:lnT w="19050" cap="flat" cmpd="sng" algn="ctr">
                      <a:solidFill>
                        <a:srgbClr val="0A1832"/>
                      </a:solidFill>
                      <a:prstDash val="solid"/>
                      <a:round/>
                      <a:headEnd type="none" w="med" len="med"/>
                      <a:tailEnd type="none" w="med" len="med"/>
                    </a:lnT>
                    <a:lnB w="19050" cap="flat" cmpd="sng" algn="ctr">
                      <a:solidFill>
                        <a:srgbClr val="0A1832"/>
                      </a:solidFill>
                      <a:prstDash val="solid"/>
                      <a:round/>
                      <a:headEnd type="none" w="med" len="med"/>
                      <a:tailEnd type="none" w="med" len="med"/>
                    </a:lnB>
                    <a:solidFill>
                      <a:srgbClr val="13294F"/>
                    </a:solidFill>
                  </a:tcPr>
                </a:tc>
                <a:tc>
                  <a:txBody>
                    <a:bodyPr/>
                    <a:lstStyle/>
                    <a:p>
                      <a:pPr marL="0" indent="0" algn="ctr">
                        <a:buNone/>
                      </a:pPr>
                      <a:r>
                        <a:rPr lang="en-US" sz="1450" b="1" dirty="0">
                          <a:solidFill>
                            <a:srgbClr val="07122A"/>
                          </a:solidFill>
                          <a:latin typeface="Calibri" pitchFamily="34" charset="0"/>
                          <a:ea typeface="Calibri" pitchFamily="34" charset="-122"/>
                          <a:cs typeface="Calibri" pitchFamily="34" charset="-120"/>
                        </a:rPr>
                        <a:t>Yes</a:t>
                      </a:r>
                      <a:endParaRPr lang="en-US" sz="1450" dirty="0">
                        <a:latin typeface="Calibri" charset="0"/>
                        <a:ea typeface="Calibri" charset="0"/>
                        <a:cs typeface="Calibri" charset="0"/>
                      </a:endParaRPr>
                    </a:p>
                  </a:txBody>
                  <a:tcPr anchor="ctr">
                    <a:lnL w="19050" cap="flat" cmpd="sng" algn="ctr">
                      <a:solidFill>
                        <a:srgbClr val="0A1832"/>
                      </a:solidFill>
                      <a:prstDash val="solid"/>
                      <a:round/>
                      <a:headEnd type="none" w="med" len="med"/>
                      <a:tailEnd type="none" w="med" len="med"/>
                    </a:lnL>
                    <a:lnR w="19050" cap="flat" cmpd="sng" algn="ctr">
                      <a:solidFill>
                        <a:srgbClr val="0A1832"/>
                      </a:solidFill>
                      <a:prstDash val="solid"/>
                      <a:round/>
                      <a:headEnd type="none" w="med" len="med"/>
                      <a:tailEnd type="none" w="med" len="med"/>
                    </a:lnR>
                    <a:lnT w="19050" cap="flat" cmpd="sng" algn="ctr">
                      <a:solidFill>
                        <a:srgbClr val="0A1832"/>
                      </a:solidFill>
                      <a:prstDash val="solid"/>
                      <a:round/>
                      <a:headEnd type="none" w="med" len="med"/>
                      <a:tailEnd type="none" w="med" len="med"/>
                    </a:lnT>
                    <a:lnB w="19050" cap="flat" cmpd="sng" algn="ctr">
                      <a:solidFill>
                        <a:srgbClr val="0A1832"/>
                      </a:solidFill>
                      <a:prstDash val="solid"/>
                      <a:round/>
                      <a:headEnd type="none" w="med" len="med"/>
                      <a:tailEnd type="none" w="med" len="med"/>
                    </a:lnB>
                    <a:solidFill>
                      <a:srgbClr val="22D3EE"/>
                    </a:solidFill>
                  </a:tcPr>
                </a:tc>
                <a:extLst>
                  <a:ext uri="{0D108BD9-81ED-4DB2-BD59-A6C34878D82A}">
                    <a16:rowId xmlns:a16="http://schemas.microsoft.com/office/drawing/2014/main" val="10003"/>
                  </a:ext>
                </a:extLst>
              </a:tr>
              <a:tr h="603504">
                <a:tc>
                  <a:txBody>
                    <a:bodyPr/>
                    <a:lstStyle/>
                    <a:p>
                      <a:pPr marL="0" indent="0" algn="ctr">
                        <a:buNone/>
                      </a:pPr>
                      <a:r>
                        <a:rPr lang="en-US" sz="1450" b="1" dirty="0">
                          <a:solidFill>
                            <a:srgbClr val="EAF4FF"/>
                          </a:solidFill>
                          <a:latin typeface="Calibri" pitchFamily="34" charset="0"/>
                          <a:ea typeface="Calibri" pitchFamily="34" charset="-122"/>
                          <a:cs typeface="Calibri" pitchFamily="34" charset="-120"/>
                        </a:rPr>
                        <a:t>Industry 4.0</a:t>
                      </a:r>
                      <a:endParaRPr lang="en-US" sz="1450" dirty="0">
                        <a:latin typeface="Calibri" charset="0"/>
                        <a:ea typeface="Calibri" charset="0"/>
                        <a:cs typeface="Calibri" charset="0"/>
                      </a:endParaRPr>
                    </a:p>
                  </a:txBody>
                  <a:tcPr anchor="ctr">
                    <a:lnL w="19050" cap="flat" cmpd="sng" algn="ctr">
                      <a:solidFill>
                        <a:srgbClr val="0A1832"/>
                      </a:solidFill>
                      <a:prstDash val="solid"/>
                      <a:round/>
                      <a:headEnd type="none" w="med" len="med"/>
                      <a:tailEnd type="none" w="med" len="med"/>
                    </a:lnL>
                    <a:lnR w="19050" cap="flat" cmpd="sng" algn="ctr">
                      <a:solidFill>
                        <a:srgbClr val="0A1832"/>
                      </a:solidFill>
                      <a:prstDash val="solid"/>
                      <a:round/>
                      <a:headEnd type="none" w="med" len="med"/>
                      <a:tailEnd type="none" w="med" len="med"/>
                    </a:lnR>
                    <a:lnT w="19050" cap="flat" cmpd="sng" algn="ctr">
                      <a:solidFill>
                        <a:srgbClr val="0A1832"/>
                      </a:solidFill>
                      <a:prstDash val="solid"/>
                      <a:round/>
                      <a:headEnd type="none" w="med" len="med"/>
                      <a:tailEnd type="none" w="med" len="med"/>
                    </a:lnT>
                    <a:lnB w="19050" cap="flat" cmpd="sng" algn="ctr">
                      <a:solidFill>
                        <a:srgbClr val="0A1832"/>
                      </a:solidFill>
                      <a:prstDash val="solid"/>
                      <a:round/>
                      <a:headEnd type="none" w="med" len="med"/>
                      <a:tailEnd type="none" w="med" len="med"/>
                    </a:lnB>
                    <a:solidFill>
                      <a:srgbClr val="0E2247"/>
                    </a:solidFill>
                  </a:tcPr>
                </a:tc>
                <a:tc>
                  <a:txBody>
                    <a:bodyPr/>
                    <a:lstStyle/>
                    <a:p>
                      <a:pPr marL="0" indent="0" algn="ctr">
                        <a:buNone/>
                      </a:pPr>
                      <a:r>
                        <a:rPr lang="en-US" sz="1450" dirty="0">
                          <a:solidFill>
                            <a:srgbClr val="FF6B6B"/>
                          </a:solidFill>
                          <a:latin typeface="Calibri" pitchFamily="34" charset="0"/>
                          <a:ea typeface="Calibri" pitchFamily="34" charset="-122"/>
                          <a:cs typeface="Calibri" pitchFamily="34" charset="-120"/>
                        </a:rPr>
                        <a:t>Poor</a:t>
                      </a:r>
                      <a:endParaRPr lang="en-US" sz="1450" dirty="0">
                        <a:latin typeface="Calibri" charset="0"/>
                        <a:ea typeface="Calibri" charset="0"/>
                        <a:cs typeface="Calibri" charset="0"/>
                      </a:endParaRPr>
                    </a:p>
                  </a:txBody>
                  <a:tcPr anchor="ctr">
                    <a:lnL w="19050" cap="flat" cmpd="sng" algn="ctr">
                      <a:solidFill>
                        <a:srgbClr val="0A1832"/>
                      </a:solidFill>
                      <a:prstDash val="solid"/>
                      <a:round/>
                      <a:headEnd type="none" w="med" len="med"/>
                      <a:tailEnd type="none" w="med" len="med"/>
                    </a:lnL>
                    <a:lnR w="19050" cap="flat" cmpd="sng" algn="ctr">
                      <a:solidFill>
                        <a:srgbClr val="0A1832"/>
                      </a:solidFill>
                      <a:prstDash val="solid"/>
                      <a:round/>
                      <a:headEnd type="none" w="med" len="med"/>
                      <a:tailEnd type="none" w="med" len="med"/>
                    </a:lnR>
                    <a:lnT w="19050" cap="flat" cmpd="sng" algn="ctr">
                      <a:solidFill>
                        <a:srgbClr val="0A1832"/>
                      </a:solidFill>
                      <a:prstDash val="solid"/>
                      <a:round/>
                      <a:headEnd type="none" w="med" len="med"/>
                      <a:tailEnd type="none" w="med" len="med"/>
                    </a:lnT>
                    <a:lnB w="19050" cap="flat" cmpd="sng" algn="ctr">
                      <a:solidFill>
                        <a:srgbClr val="0A1832"/>
                      </a:solidFill>
                      <a:prstDash val="solid"/>
                      <a:round/>
                      <a:headEnd type="none" w="med" len="med"/>
                      <a:tailEnd type="none" w="med" len="med"/>
                    </a:lnB>
                    <a:solidFill>
                      <a:srgbClr val="13294F"/>
                    </a:solidFill>
                  </a:tcPr>
                </a:tc>
                <a:tc>
                  <a:txBody>
                    <a:bodyPr/>
                    <a:lstStyle/>
                    <a:p>
                      <a:pPr marL="0" indent="0" algn="ctr">
                        <a:buNone/>
                      </a:pPr>
                      <a:r>
                        <a:rPr lang="en-US" sz="1450" dirty="0">
                          <a:solidFill>
                            <a:srgbClr val="F6A623"/>
                          </a:solidFill>
                          <a:latin typeface="Calibri" pitchFamily="34" charset="0"/>
                          <a:ea typeface="Calibri" pitchFamily="34" charset="-122"/>
                          <a:cs typeface="Calibri" pitchFamily="34" charset="-120"/>
                        </a:rPr>
                        <a:t>Medium</a:t>
                      </a:r>
                      <a:endParaRPr lang="en-US" sz="1450" dirty="0">
                        <a:latin typeface="Calibri" charset="0"/>
                        <a:ea typeface="Calibri" charset="0"/>
                        <a:cs typeface="Calibri" charset="0"/>
                      </a:endParaRPr>
                    </a:p>
                  </a:txBody>
                  <a:tcPr anchor="ctr">
                    <a:lnL w="19050" cap="flat" cmpd="sng" algn="ctr">
                      <a:solidFill>
                        <a:srgbClr val="0A1832"/>
                      </a:solidFill>
                      <a:prstDash val="solid"/>
                      <a:round/>
                      <a:headEnd type="none" w="med" len="med"/>
                      <a:tailEnd type="none" w="med" len="med"/>
                    </a:lnL>
                    <a:lnR w="19050" cap="flat" cmpd="sng" algn="ctr">
                      <a:solidFill>
                        <a:srgbClr val="0A1832"/>
                      </a:solidFill>
                      <a:prstDash val="solid"/>
                      <a:round/>
                      <a:headEnd type="none" w="med" len="med"/>
                      <a:tailEnd type="none" w="med" len="med"/>
                    </a:lnR>
                    <a:lnT w="19050" cap="flat" cmpd="sng" algn="ctr">
                      <a:solidFill>
                        <a:srgbClr val="0A1832"/>
                      </a:solidFill>
                      <a:prstDash val="solid"/>
                      <a:round/>
                      <a:headEnd type="none" w="med" len="med"/>
                      <a:tailEnd type="none" w="med" len="med"/>
                    </a:lnT>
                    <a:lnB w="19050" cap="flat" cmpd="sng" algn="ctr">
                      <a:solidFill>
                        <a:srgbClr val="0A1832"/>
                      </a:solidFill>
                      <a:prstDash val="solid"/>
                      <a:round/>
                      <a:headEnd type="none" w="med" len="med"/>
                      <a:tailEnd type="none" w="med" len="med"/>
                    </a:lnB>
                    <a:solidFill>
                      <a:srgbClr val="13294F"/>
                    </a:solidFill>
                  </a:tcPr>
                </a:tc>
                <a:tc>
                  <a:txBody>
                    <a:bodyPr/>
                    <a:lstStyle/>
                    <a:p>
                      <a:pPr marL="0" indent="0" algn="ctr">
                        <a:buNone/>
                      </a:pPr>
                      <a:r>
                        <a:rPr lang="en-US" sz="1450" b="1" dirty="0">
                          <a:solidFill>
                            <a:srgbClr val="07122A"/>
                          </a:solidFill>
                          <a:latin typeface="Calibri" pitchFamily="34" charset="0"/>
                          <a:ea typeface="Calibri" pitchFamily="34" charset="-122"/>
                          <a:cs typeface="Calibri" pitchFamily="34" charset="-120"/>
                        </a:rPr>
                        <a:t>Excellent</a:t>
                      </a:r>
                      <a:endParaRPr lang="en-US" sz="1450" dirty="0">
                        <a:latin typeface="Calibri" charset="0"/>
                        <a:ea typeface="Calibri" charset="0"/>
                        <a:cs typeface="Calibri" charset="0"/>
                      </a:endParaRPr>
                    </a:p>
                  </a:txBody>
                  <a:tcPr anchor="ctr">
                    <a:lnL w="19050" cap="flat" cmpd="sng" algn="ctr">
                      <a:solidFill>
                        <a:srgbClr val="0A1832"/>
                      </a:solidFill>
                      <a:prstDash val="solid"/>
                      <a:round/>
                      <a:headEnd type="none" w="med" len="med"/>
                      <a:tailEnd type="none" w="med" len="med"/>
                    </a:lnL>
                    <a:lnR w="19050" cap="flat" cmpd="sng" algn="ctr">
                      <a:solidFill>
                        <a:srgbClr val="0A1832"/>
                      </a:solidFill>
                      <a:prstDash val="solid"/>
                      <a:round/>
                      <a:headEnd type="none" w="med" len="med"/>
                      <a:tailEnd type="none" w="med" len="med"/>
                    </a:lnR>
                    <a:lnT w="19050" cap="flat" cmpd="sng" algn="ctr">
                      <a:solidFill>
                        <a:srgbClr val="0A1832"/>
                      </a:solidFill>
                      <a:prstDash val="solid"/>
                      <a:round/>
                      <a:headEnd type="none" w="med" len="med"/>
                      <a:tailEnd type="none" w="med" len="med"/>
                    </a:lnT>
                    <a:lnB w="19050" cap="flat" cmpd="sng" algn="ctr">
                      <a:solidFill>
                        <a:srgbClr val="0A1832"/>
                      </a:solidFill>
                      <a:prstDash val="solid"/>
                      <a:round/>
                      <a:headEnd type="none" w="med" len="med"/>
                      <a:tailEnd type="none" w="med" len="med"/>
                    </a:lnB>
                    <a:solidFill>
                      <a:srgbClr val="22D3EE"/>
                    </a:solidFill>
                  </a:tcPr>
                </a:tc>
                <a:extLst>
                  <a:ext uri="{0D108BD9-81ED-4DB2-BD59-A6C34878D82A}">
                    <a16:rowId xmlns:a16="http://schemas.microsoft.com/office/drawing/2014/main" val="10004"/>
                  </a:ext>
                </a:extLst>
              </a:tr>
            </a:tbl>
          </a:graphicData>
        </a:graphic>
      </p:graphicFrame>
      <p:sp>
        <p:nvSpPr>
          <p:cNvPr id="6" name="Text 3"/>
          <p:cNvSpPr/>
          <p:nvPr/>
        </p:nvSpPr>
        <p:spPr>
          <a:xfrm>
            <a:off x="640080" y="4434840"/>
            <a:ext cx="7863840" cy="457200"/>
          </a:xfrm>
          <a:prstGeom prst="rect">
            <a:avLst/>
          </a:prstGeom>
          <a:noFill/>
          <a:ln/>
        </p:spPr>
        <p:txBody>
          <a:bodyPr wrap="square" rtlCol="0" anchor="ctr"/>
          <a:lstStyle/>
          <a:p>
            <a:pPr marL="0" indent="0" algn="ctr">
              <a:buNone/>
            </a:pPr>
            <a:r>
              <a:rPr lang="en-US" sz="1300" i="1" dirty="0">
                <a:solidFill>
                  <a:srgbClr val="22D3EE"/>
                </a:solidFill>
                <a:latin typeface="Calibri" pitchFamily="34" charset="0"/>
                <a:ea typeface="Calibri" pitchFamily="34" charset="-122"/>
                <a:cs typeface="Calibri" pitchFamily="34" charset="-120"/>
              </a:rPr>
              <a:t>Ethernet-APL outperforms legacy fieldbuses on every dimension that matters for Industry 4.0.</a:t>
            </a:r>
            <a:endParaRPr lang="en-US" sz="1300" dirty="0"/>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832"/>
        </a:solidFill>
        <a:effectLst/>
      </p:bgPr>
    </p:bg>
    <p:spTree>
      <p:nvGrpSpPr>
        <p:cNvPr id="1" name=""/>
        <p:cNvGrpSpPr/>
        <p:nvPr/>
      </p:nvGrpSpPr>
      <p:grpSpPr>
        <a:xfrm>
          <a:off x="0" y="0"/>
          <a:ext cx="0" cy="0"/>
          <a:chOff x="0" y="0"/>
          <a:chExt cx="0" cy="0"/>
        </a:xfrm>
      </p:grpSpPr>
      <p:sp>
        <p:nvSpPr>
          <p:cNvPr id="2" name="Shape 0"/>
          <p:cNvSpPr/>
          <p:nvPr/>
        </p:nvSpPr>
        <p:spPr>
          <a:xfrm>
            <a:off x="502920" y="384048"/>
            <a:ext cx="146304" cy="457200"/>
          </a:xfrm>
          <a:prstGeom prst="rect">
            <a:avLst/>
          </a:prstGeom>
          <a:solidFill>
            <a:srgbClr val="22D3EE"/>
          </a:solidFill>
          <a:ln/>
        </p:spPr>
        <p:txBody>
          <a:bodyPr/>
          <a:lstStyle/>
          <a:p>
            <a:endParaRPr lang="en-DE"/>
          </a:p>
        </p:txBody>
      </p:sp>
      <p:sp>
        <p:nvSpPr>
          <p:cNvPr id="3" name="Text 1"/>
          <p:cNvSpPr/>
          <p:nvPr/>
        </p:nvSpPr>
        <p:spPr>
          <a:xfrm>
            <a:off x="777240" y="310896"/>
            <a:ext cx="7863840" cy="640080"/>
          </a:xfrm>
          <a:prstGeom prst="rect">
            <a:avLst/>
          </a:prstGeom>
          <a:noFill/>
          <a:ln/>
        </p:spPr>
        <p:txBody>
          <a:bodyPr wrap="square" lIns="0" tIns="0" rIns="0" bIns="0" rtlCol="0" anchor="ctr"/>
          <a:lstStyle/>
          <a:p>
            <a:pPr marL="0" indent="0" algn="l">
              <a:buNone/>
            </a:pPr>
            <a:r>
              <a:rPr lang="en-US" sz="2700" b="1" dirty="0">
                <a:solidFill>
                  <a:srgbClr val="EAF4FF"/>
                </a:solidFill>
                <a:latin typeface="Trebuchet MS" pitchFamily="34" charset="0"/>
                <a:ea typeface="Trebuchet MS" pitchFamily="34" charset="-122"/>
                <a:cs typeface="Trebuchet MS" pitchFamily="34" charset="-120"/>
              </a:rPr>
              <a:t>Industry 4.0 Impact</a:t>
            </a:r>
            <a:endParaRPr lang="en-US" sz="2700" dirty="0"/>
          </a:p>
        </p:txBody>
      </p:sp>
      <p:sp>
        <p:nvSpPr>
          <p:cNvPr id="4" name="Text 2"/>
          <p:cNvSpPr/>
          <p:nvPr/>
        </p:nvSpPr>
        <p:spPr>
          <a:xfrm>
            <a:off x="8321040" y="384048"/>
            <a:ext cx="548640" cy="457200"/>
          </a:xfrm>
          <a:prstGeom prst="rect">
            <a:avLst/>
          </a:prstGeom>
          <a:noFill/>
          <a:ln/>
        </p:spPr>
        <p:txBody>
          <a:bodyPr wrap="square" rtlCol="0" anchor="ctr"/>
          <a:lstStyle/>
          <a:p>
            <a:pPr marL="0" indent="0" algn="r">
              <a:buNone/>
            </a:pPr>
            <a:r>
              <a:rPr lang="en-US" sz="1200" b="1" dirty="0">
                <a:solidFill>
                  <a:srgbClr val="22D3EE"/>
                </a:solidFill>
                <a:latin typeface="Trebuchet MS" pitchFamily="34" charset="0"/>
                <a:ea typeface="Trebuchet MS" pitchFamily="34" charset="-122"/>
                <a:cs typeface="Trebuchet MS" pitchFamily="34" charset="-120"/>
              </a:rPr>
              <a:t>09</a:t>
            </a:r>
            <a:endParaRPr lang="en-US" sz="1200" dirty="0"/>
          </a:p>
        </p:txBody>
      </p:sp>
      <p:pic>
        <p:nvPicPr>
          <p:cNvPr id="5" name="Image 0" descr="/agent/turn1/workspace/images/image-1e39929818d6beaa80221b6b4077e546.jpg"/>
          <p:cNvPicPr>
            <a:picLocks noChangeAspect="1"/>
          </p:cNvPicPr>
          <p:nvPr/>
        </p:nvPicPr>
        <p:blipFill>
          <a:blip r:embed="rId3"/>
          <a:srcRect l="25833" r="25833"/>
          <a:stretch/>
        </p:blipFill>
        <p:spPr>
          <a:xfrm>
            <a:off x="5989320" y="1097280"/>
            <a:ext cx="2651760" cy="3657600"/>
          </a:xfrm>
          <a:prstGeom prst="rect">
            <a:avLst/>
          </a:prstGeom>
        </p:spPr>
      </p:pic>
      <p:sp>
        <p:nvSpPr>
          <p:cNvPr id="6" name="Shape 3"/>
          <p:cNvSpPr/>
          <p:nvPr/>
        </p:nvSpPr>
        <p:spPr>
          <a:xfrm>
            <a:off x="5989320" y="1097280"/>
            <a:ext cx="2651760" cy="3657600"/>
          </a:xfrm>
          <a:prstGeom prst="rect">
            <a:avLst/>
          </a:prstGeom>
          <a:solidFill>
            <a:srgbClr val="22D3EE">
              <a:alpha val="0"/>
            </a:srgbClr>
          </a:solidFill>
          <a:ln w="15875">
            <a:solidFill>
              <a:srgbClr val="22D3EE"/>
            </a:solidFill>
            <a:prstDash val="solid"/>
          </a:ln>
        </p:spPr>
        <p:txBody>
          <a:bodyPr/>
          <a:lstStyle/>
          <a:p>
            <a:endParaRPr lang="en-DE"/>
          </a:p>
        </p:txBody>
      </p:sp>
      <p:sp>
        <p:nvSpPr>
          <p:cNvPr id="7" name="Text 4"/>
          <p:cNvSpPr/>
          <p:nvPr/>
        </p:nvSpPr>
        <p:spPr>
          <a:xfrm>
            <a:off x="502920" y="1005840"/>
            <a:ext cx="5303520" cy="502920"/>
          </a:xfrm>
          <a:prstGeom prst="rect">
            <a:avLst/>
          </a:prstGeom>
          <a:noFill/>
          <a:ln/>
        </p:spPr>
        <p:txBody>
          <a:bodyPr wrap="square" rtlCol="0" anchor="ctr"/>
          <a:lstStyle/>
          <a:p>
            <a:pPr marL="0" indent="0" algn="l">
              <a:buNone/>
            </a:pPr>
            <a:r>
              <a:rPr lang="en-US" sz="1300" i="1" dirty="0">
                <a:solidFill>
                  <a:srgbClr val="22D3EE"/>
                </a:solidFill>
                <a:latin typeface="Calibri" pitchFamily="34" charset="0"/>
                <a:ea typeface="Calibri" pitchFamily="34" charset="-122"/>
                <a:cs typeface="Calibri" pitchFamily="34" charset="-120"/>
              </a:rPr>
              <a:t>Ethernet-APL unlocks the connected, data-rich field that Industry 4.0 depends on.</a:t>
            </a:r>
            <a:endParaRPr lang="en-US" sz="1300" dirty="0"/>
          </a:p>
        </p:txBody>
      </p:sp>
      <p:sp>
        <p:nvSpPr>
          <p:cNvPr id="8" name="Shape 5"/>
          <p:cNvSpPr/>
          <p:nvPr/>
        </p:nvSpPr>
        <p:spPr>
          <a:xfrm>
            <a:off x="502920" y="1627632"/>
            <a:ext cx="1691640" cy="1417320"/>
          </a:xfrm>
          <a:prstGeom prst="roundRect">
            <a:avLst>
              <a:gd name="adj" fmla="val 5161"/>
            </a:avLst>
          </a:prstGeom>
          <a:solidFill>
            <a:srgbClr val="13294F"/>
          </a:solidFill>
          <a:ln w="12700">
            <a:solidFill>
              <a:srgbClr val="23457F"/>
            </a:solidFill>
            <a:prstDash val="solid"/>
          </a:ln>
          <a:effectLst>
            <a:outerShdw blurRad="114300" dist="38100" dir="5400000" algn="bl" rotWithShape="0">
              <a:srgbClr val="020912">
                <a:alpha val="45000"/>
              </a:srgbClr>
            </a:outerShdw>
          </a:effectLst>
        </p:spPr>
        <p:txBody>
          <a:bodyPr/>
          <a:lstStyle/>
          <a:p>
            <a:endParaRPr lang="en-DE"/>
          </a:p>
        </p:txBody>
      </p:sp>
      <p:pic>
        <p:nvPicPr>
          <p:cNvPr id="9" name="Image 1" descr="/agent/turn1/workspace/images/image-e906c925846d648e4c16bd6a164bca9b.jpg"/>
          <p:cNvPicPr>
            <a:picLocks noChangeAspect="1"/>
          </p:cNvPicPr>
          <p:nvPr/>
        </p:nvPicPr>
        <p:blipFill>
          <a:blip r:embed="rId4"/>
          <a:stretch>
            <a:fillRect/>
          </a:stretch>
        </p:blipFill>
        <p:spPr>
          <a:xfrm>
            <a:off x="964692" y="1773936"/>
            <a:ext cx="768096" cy="768096"/>
          </a:xfrm>
          <a:prstGeom prst="rect">
            <a:avLst/>
          </a:prstGeom>
        </p:spPr>
      </p:pic>
      <p:sp>
        <p:nvSpPr>
          <p:cNvPr id="10" name="Text 6"/>
          <p:cNvSpPr/>
          <p:nvPr/>
        </p:nvSpPr>
        <p:spPr>
          <a:xfrm>
            <a:off x="576072" y="2542032"/>
            <a:ext cx="1545336" cy="457200"/>
          </a:xfrm>
          <a:prstGeom prst="rect">
            <a:avLst/>
          </a:prstGeom>
          <a:noFill/>
          <a:ln/>
        </p:spPr>
        <p:txBody>
          <a:bodyPr wrap="square" rtlCol="0" anchor="ctr"/>
          <a:lstStyle/>
          <a:p>
            <a:pPr marL="0" indent="0" algn="ctr">
              <a:buNone/>
            </a:pPr>
            <a:r>
              <a:rPr lang="en-US" sz="1250" b="1" dirty="0">
                <a:solidFill>
                  <a:srgbClr val="EAF4FF"/>
                </a:solidFill>
                <a:latin typeface="Trebuchet MS" pitchFamily="34" charset="0"/>
                <a:ea typeface="Trebuchet MS" pitchFamily="34" charset="-122"/>
                <a:cs typeface="Trebuchet MS" pitchFamily="34" charset="-120"/>
              </a:rPr>
              <a:t>Digital Twin</a:t>
            </a:r>
            <a:endParaRPr lang="en-US" sz="1250" dirty="0"/>
          </a:p>
        </p:txBody>
      </p:sp>
      <p:sp>
        <p:nvSpPr>
          <p:cNvPr id="11" name="Shape 7"/>
          <p:cNvSpPr/>
          <p:nvPr/>
        </p:nvSpPr>
        <p:spPr>
          <a:xfrm>
            <a:off x="2313432" y="1627632"/>
            <a:ext cx="1691640" cy="1417320"/>
          </a:xfrm>
          <a:prstGeom prst="roundRect">
            <a:avLst>
              <a:gd name="adj" fmla="val 5161"/>
            </a:avLst>
          </a:prstGeom>
          <a:solidFill>
            <a:srgbClr val="13294F"/>
          </a:solidFill>
          <a:ln w="12700">
            <a:solidFill>
              <a:srgbClr val="23457F"/>
            </a:solidFill>
            <a:prstDash val="solid"/>
          </a:ln>
          <a:effectLst>
            <a:outerShdw blurRad="114300" dist="38100" dir="5400000" algn="bl" rotWithShape="0">
              <a:srgbClr val="020912">
                <a:alpha val="45000"/>
              </a:srgbClr>
            </a:outerShdw>
          </a:effectLst>
        </p:spPr>
        <p:txBody>
          <a:bodyPr/>
          <a:lstStyle/>
          <a:p>
            <a:endParaRPr lang="en-DE"/>
          </a:p>
        </p:txBody>
      </p:sp>
      <p:pic>
        <p:nvPicPr>
          <p:cNvPr id="12" name="Image 2" descr="/agent/turn1/workspace/images/image-3d6c2844261d3213113ace75294eb937.jpg"/>
          <p:cNvPicPr>
            <a:picLocks noChangeAspect="1"/>
          </p:cNvPicPr>
          <p:nvPr/>
        </p:nvPicPr>
        <p:blipFill>
          <a:blip r:embed="rId5"/>
          <a:stretch>
            <a:fillRect/>
          </a:stretch>
        </p:blipFill>
        <p:spPr>
          <a:xfrm>
            <a:off x="2775204" y="1773936"/>
            <a:ext cx="768096" cy="768096"/>
          </a:xfrm>
          <a:prstGeom prst="rect">
            <a:avLst/>
          </a:prstGeom>
        </p:spPr>
      </p:pic>
      <p:sp>
        <p:nvSpPr>
          <p:cNvPr id="13" name="Text 8"/>
          <p:cNvSpPr/>
          <p:nvPr/>
        </p:nvSpPr>
        <p:spPr>
          <a:xfrm>
            <a:off x="2386584" y="2542032"/>
            <a:ext cx="1545336" cy="457200"/>
          </a:xfrm>
          <a:prstGeom prst="rect">
            <a:avLst/>
          </a:prstGeom>
          <a:noFill/>
          <a:ln/>
        </p:spPr>
        <p:txBody>
          <a:bodyPr wrap="square" rtlCol="0" anchor="ctr"/>
          <a:lstStyle/>
          <a:p>
            <a:pPr marL="0" indent="0" algn="ctr">
              <a:buNone/>
            </a:pPr>
            <a:r>
              <a:rPr lang="en-US" sz="1250" b="1" dirty="0">
                <a:solidFill>
                  <a:srgbClr val="EAF4FF"/>
                </a:solidFill>
                <a:latin typeface="Trebuchet MS" pitchFamily="34" charset="0"/>
                <a:ea typeface="Trebuchet MS" pitchFamily="34" charset="-122"/>
                <a:cs typeface="Trebuchet MS" pitchFamily="34" charset="-120"/>
              </a:rPr>
              <a:t>OPC-UA</a:t>
            </a:r>
            <a:endParaRPr lang="en-US" sz="1250" dirty="0"/>
          </a:p>
        </p:txBody>
      </p:sp>
      <p:sp>
        <p:nvSpPr>
          <p:cNvPr id="14" name="Shape 9"/>
          <p:cNvSpPr/>
          <p:nvPr/>
        </p:nvSpPr>
        <p:spPr>
          <a:xfrm>
            <a:off x="4123944" y="1627632"/>
            <a:ext cx="1691640" cy="1417320"/>
          </a:xfrm>
          <a:prstGeom prst="roundRect">
            <a:avLst>
              <a:gd name="adj" fmla="val 5161"/>
            </a:avLst>
          </a:prstGeom>
          <a:solidFill>
            <a:srgbClr val="13294F"/>
          </a:solidFill>
          <a:ln w="12700">
            <a:solidFill>
              <a:srgbClr val="23457F"/>
            </a:solidFill>
            <a:prstDash val="solid"/>
          </a:ln>
          <a:effectLst>
            <a:outerShdw blurRad="114300" dist="38100" dir="5400000" algn="bl" rotWithShape="0">
              <a:srgbClr val="020912">
                <a:alpha val="45000"/>
              </a:srgbClr>
            </a:outerShdw>
          </a:effectLst>
        </p:spPr>
        <p:txBody>
          <a:bodyPr/>
          <a:lstStyle/>
          <a:p>
            <a:endParaRPr lang="en-DE"/>
          </a:p>
        </p:txBody>
      </p:sp>
      <p:pic>
        <p:nvPicPr>
          <p:cNvPr id="15" name="Image 3" descr="/agent/turn1/workspace/images/image-6fb54669621a199e4b07b491953b3fad.jpg"/>
          <p:cNvPicPr>
            <a:picLocks noChangeAspect="1"/>
          </p:cNvPicPr>
          <p:nvPr/>
        </p:nvPicPr>
        <p:blipFill>
          <a:blip r:embed="rId6"/>
          <a:stretch>
            <a:fillRect/>
          </a:stretch>
        </p:blipFill>
        <p:spPr>
          <a:xfrm>
            <a:off x="4585716" y="1773936"/>
            <a:ext cx="768096" cy="768096"/>
          </a:xfrm>
          <a:prstGeom prst="rect">
            <a:avLst/>
          </a:prstGeom>
        </p:spPr>
      </p:pic>
      <p:sp>
        <p:nvSpPr>
          <p:cNvPr id="16" name="Text 10"/>
          <p:cNvSpPr/>
          <p:nvPr/>
        </p:nvSpPr>
        <p:spPr>
          <a:xfrm>
            <a:off x="4197096" y="2542032"/>
            <a:ext cx="1545336" cy="457200"/>
          </a:xfrm>
          <a:prstGeom prst="rect">
            <a:avLst/>
          </a:prstGeom>
          <a:noFill/>
          <a:ln/>
        </p:spPr>
        <p:txBody>
          <a:bodyPr wrap="square" rtlCol="0" anchor="ctr"/>
          <a:lstStyle/>
          <a:p>
            <a:pPr marL="0" indent="0" algn="ctr">
              <a:buNone/>
            </a:pPr>
            <a:r>
              <a:rPr lang="en-US" sz="1250" b="1" dirty="0">
                <a:solidFill>
                  <a:srgbClr val="EAF4FF"/>
                </a:solidFill>
                <a:latin typeface="Trebuchet MS" pitchFamily="34" charset="0"/>
                <a:ea typeface="Trebuchet MS" pitchFamily="34" charset="-122"/>
                <a:cs typeface="Trebuchet MS" pitchFamily="34" charset="-120"/>
              </a:rPr>
              <a:t>Asset Management</a:t>
            </a:r>
            <a:endParaRPr lang="en-US" sz="1250" dirty="0"/>
          </a:p>
        </p:txBody>
      </p:sp>
      <p:sp>
        <p:nvSpPr>
          <p:cNvPr id="17" name="Shape 11"/>
          <p:cNvSpPr/>
          <p:nvPr/>
        </p:nvSpPr>
        <p:spPr>
          <a:xfrm>
            <a:off x="502920" y="3191256"/>
            <a:ext cx="1691640" cy="1417320"/>
          </a:xfrm>
          <a:prstGeom prst="roundRect">
            <a:avLst>
              <a:gd name="adj" fmla="val 5161"/>
            </a:avLst>
          </a:prstGeom>
          <a:solidFill>
            <a:srgbClr val="13294F"/>
          </a:solidFill>
          <a:ln w="12700">
            <a:solidFill>
              <a:srgbClr val="23457F"/>
            </a:solidFill>
            <a:prstDash val="solid"/>
          </a:ln>
          <a:effectLst>
            <a:outerShdw blurRad="114300" dist="38100" dir="5400000" algn="bl" rotWithShape="0">
              <a:srgbClr val="020912">
                <a:alpha val="45000"/>
              </a:srgbClr>
            </a:outerShdw>
          </a:effectLst>
        </p:spPr>
        <p:txBody>
          <a:bodyPr/>
          <a:lstStyle/>
          <a:p>
            <a:endParaRPr lang="en-DE"/>
          </a:p>
        </p:txBody>
      </p:sp>
      <p:pic>
        <p:nvPicPr>
          <p:cNvPr id="18" name="Image 4" descr="/agent/turn1/workspace/images/image-c85c1ac79bd20e53778479be7462085f.jpg"/>
          <p:cNvPicPr>
            <a:picLocks noChangeAspect="1"/>
          </p:cNvPicPr>
          <p:nvPr/>
        </p:nvPicPr>
        <p:blipFill>
          <a:blip r:embed="rId7"/>
          <a:stretch>
            <a:fillRect/>
          </a:stretch>
        </p:blipFill>
        <p:spPr>
          <a:xfrm>
            <a:off x="964692" y="3337560"/>
            <a:ext cx="768096" cy="768096"/>
          </a:xfrm>
          <a:prstGeom prst="rect">
            <a:avLst/>
          </a:prstGeom>
        </p:spPr>
      </p:pic>
      <p:sp>
        <p:nvSpPr>
          <p:cNvPr id="19" name="Text 12"/>
          <p:cNvSpPr/>
          <p:nvPr/>
        </p:nvSpPr>
        <p:spPr>
          <a:xfrm>
            <a:off x="576072" y="4105656"/>
            <a:ext cx="1545336" cy="457200"/>
          </a:xfrm>
          <a:prstGeom prst="rect">
            <a:avLst/>
          </a:prstGeom>
          <a:noFill/>
          <a:ln/>
        </p:spPr>
        <p:txBody>
          <a:bodyPr wrap="square" rtlCol="0" anchor="ctr"/>
          <a:lstStyle/>
          <a:p>
            <a:pPr marL="0" indent="0" algn="ctr">
              <a:buNone/>
            </a:pPr>
            <a:r>
              <a:rPr lang="en-US" sz="1250" b="1" dirty="0">
                <a:solidFill>
                  <a:srgbClr val="EAF4FF"/>
                </a:solidFill>
                <a:latin typeface="Trebuchet MS" pitchFamily="34" charset="0"/>
                <a:ea typeface="Trebuchet MS" pitchFamily="34" charset="-122"/>
                <a:cs typeface="Trebuchet MS" pitchFamily="34" charset="-120"/>
              </a:rPr>
              <a:t>Predictive Maintenance</a:t>
            </a:r>
            <a:endParaRPr lang="en-US" sz="1250" dirty="0"/>
          </a:p>
        </p:txBody>
      </p:sp>
      <p:sp>
        <p:nvSpPr>
          <p:cNvPr id="20" name="Shape 13"/>
          <p:cNvSpPr/>
          <p:nvPr/>
        </p:nvSpPr>
        <p:spPr>
          <a:xfrm>
            <a:off x="2313432" y="3191256"/>
            <a:ext cx="1691640" cy="1417320"/>
          </a:xfrm>
          <a:prstGeom prst="roundRect">
            <a:avLst>
              <a:gd name="adj" fmla="val 5161"/>
            </a:avLst>
          </a:prstGeom>
          <a:solidFill>
            <a:srgbClr val="13294F"/>
          </a:solidFill>
          <a:ln w="12700">
            <a:solidFill>
              <a:srgbClr val="23457F"/>
            </a:solidFill>
            <a:prstDash val="solid"/>
          </a:ln>
          <a:effectLst>
            <a:outerShdw blurRad="114300" dist="38100" dir="5400000" algn="bl" rotWithShape="0">
              <a:srgbClr val="020912">
                <a:alpha val="45000"/>
              </a:srgbClr>
            </a:outerShdw>
          </a:effectLst>
        </p:spPr>
        <p:txBody>
          <a:bodyPr/>
          <a:lstStyle/>
          <a:p>
            <a:endParaRPr lang="en-DE"/>
          </a:p>
        </p:txBody>
      </p:sp>
      <p:pic>
        <p:nvPicPr>
          <p:cNvPr id="21" name="Image 5" descr="/agent/turn1/workspace/images/image-693e3fe7e2106b135db53b8029ab83f9.jpg"/>
          <p:cNvPicPr>
            <a:picLocks noChangeAspect="1"/>
          </p:cNvPicPr>
          <p:nvPr/>
        </p:nvPicPr>
        <p:blipFill>
          <a:blip r:embed="rId8"/>
          <a:stretch>
            <a:fillRect/>
          </a:stretch>
        </p:blipFill>
        <p:spPr>
          <a:xfrm>
            <a:off x="2775204" y="3373463"/>
            <a:ext cx="768096" cy="696291"/>
          </a:xfrm>
          <a:prstGeom prst="rect">
            <a:avLst/>
          </a:prstGeom>
        </p:spPr>
      </p:pic>
      <p:sp>
        <p:nvSpPr>
          <p:cNvPr id="22" name="Text 14"/>
          <p:cNvSpPr/>
          <p:nvPr/>
        </p:nvSpPr>
        <p:spPr>
          <a:xfrm>
            <a:off x="2386584" y="4105656"/>
            <a:ext cx="1545336" cy="457200"/>
          </a:xfrm>
          <a:prstGeom prst="rect">
            <a:avLst/>
          </a:prstGeom>
          <a:noFill/>
          <a:ln/>
        </p:spPr>
        <p:txBody>
          <a:bodyPr wrap="square" rtlCol="0" anchor="ctr"/>
          <a:lstStyle/>
          <a:p>
            <a:pPr marL="0" indent="0" algn="ctr">
              <a:buNone/>
            </a:pPr>
            <a:r>
              <a:rPr lang="en-US" sz="1250" b="1" dirty="0">
                <a:solidFill>
                  <a:srgbClr val="EAF4FF"/>
                </a:solidFill>
                <a:latin typeface="Trebuchet MS" pitchFamily="34" charset="0"/>
                <a:ea typeface="Trebuchet MS" pitchFamily="34" charset="-122"/>
                <a:cs typeface="Trebuchet MS" pitchFamily="34" charset="-120"/>
              </a:rPr>
              <a:t>Cloud Analytics</a:t>
            </a:r>
            <a:endParaRPr lang="en-US" sz="1250" dirty="0"/>
          </a:p>
        </p:txBody>
      </p:sp>
      <p:sp>
        <p:nvSpPr>
          <p:cNvPr id="23" name="Shape 15"/>
          <p:cNvSpPr/>
          <p:nvPr/>
        </p:nvSpPr>
        <p:spPr>
          <a:xfrm>
            <a:off x="4123944" y="3191256"/>
            <a:ext cx="1691640" cy="1417320"/>
          </a:xfrm>
          <a:prstGeom prst="roundRect">
            <a:avLst>
              <a:gd name="adj" fmla="val 5161"/>
            </a:avLst>
          </a:prstGeom>
          <a:solidFill>
            <a:srgbClr val="13294F"/>
          </a:solidFill>
          <a:ln w="12700">
            <a:solidFill>
              <a:srgbClr val="23457F"/>
            </a:solidFill>
            <a:prstDash val="solid"/>
          </a:ln>
          <a:effectLst>
            <a:outerShdw blurRad="114300" dist="38100" dir="5400000" algn="bl" rotWithShape="0">
              <a:srgbClr val="020912">
                <a:alpha val="45000"/>
              </a:srgbClr>
            </a:outerShdw>
          </a:effectLst>
        </p:spPr>
        <p:txBody>
          <a:bodyPr/>
          <a:lstStyle/>
          <a:p>
            <a:endParaRPr lang="en-DE"/>
          </a:p>
        </p:txBody>
      </p:sp>
      <p:pic>
        <p:nvPicPr>
          <p:cNvPr id="24" name="Image 6" descr="/agent/turn1/workspace/images/image-8ee053b28a61d2d7c605c39fdacc27d8.jpg"/>
          <p:cNvPicPr>
            <a:picLocks noChangeAspect="1"/>
          </p:cNvPicPr>
          <p:nvPr/>
        </p:nvPicPr>
        <p:blipFill>
          <a:blip r:embed="rId9"/>
          <a:stretch>
            <a:fillRect/>
          </a:stretch>
        </p:blipFill>
        <p:spPr>
          <a:xfrm>
            <a:off x="4585716" y="3360961"/>
            <a:ext cx="768096" cy="721294"/>
          </a:xfrm>
          <a:prstGeom prst="rect">
            <a:avLst/>
          </a:prstGeom>
        </p:spPr>
      </p:pic>
      <p:sp>
        <p:nvSpPr>
          <p:cNvPr id="25" name="Text 16"/>
          <p:cNvSpPr/>
          <p:nvPr/>
        </p:nvSpPr>
        <p:spPr>
          <a:xfrm>
            <a:off x="4197096" y="4105656"/>
            <a:ext cx="1545336" cy="457200"/>
          </a:xfrm>
          <a:prstGeom prst="rect">
            <a:avLst/>
          </a:prstGeom>
          <a:noFill/>
          <a:ln/>
        </p:spPr>
        <p:txBody>
          <a:bodyPr wrap="square" rtlCol="0" anchor="ctr"/>
          <a:lstStyle/>
          <a:p>
            <a:pPr marL="0" indent="0" algn="ctr">
              <a:buNone/>
            </a:pPr>
            <a:r>
              <a:rPr lang="en-US" sz="1250" b="1" dirty="0">
                <a:solidFill>
                  <a:srgbClr val="EAF4FF"/>
                </a:solidFill>
                <a:latin typeface="Trebuchet MS" pitchFamily="34" charset="0"/>
                <a:ea typeface="Trebuchet MS" pitchFamily="34" charset="-122"/>
                <a:cs typeface="Trebuchet MS" pitchFamily="34" charset="-120"/>
              </a:rPr>
              <a:t>AI at Field Devices</a:t>
            </a:r>
            <a:endParaRPr lang="en-US" sz="1250" dirty="0"/>
          </a:p>
        </p:txBody>
      </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832"/>
        </a:solidFill>
        <a:effectLst/>
      </p:bgPr>
    </p:bg>
    <p:spTree>
      <p:nvGrpSpPr>
        <p:cNvPr id="1" name=""/>
        <p:cNvGrpSpPr/>
        <p:nvPr/>
      </p:nvGrpSpPr>
      <p:grpSpPr>
        <a:xfrm>
          <a:off x="0" y="0"/>
          <a:ext cx="0" cy="0"/>
          <a:chOff x="0" y="0"/>
          <a:chExt cx="0" cy="0"/>
        </a:xfrm>
      </p:grpSpPr>
      <p:sp>
        <p:nvSpPr>
          <p:cNvPr id="2" name="Shape 0"/>
          <p:cNvSpPr/>
          <p:nvPr/>
        </p:nvSpPr>
        <p:spPr>
          <a:xfrm>
            <a:off x="502920" y="384048"/>
            <a:ext cx="146304" cy="457200"/>
          </a:xfrm>
          <a:prstGeom prst="rect">
            <a:avLst/>
          </a:prstGeom>
          <a:solidFill>
            <a:srgbClr val="22D3EE"/>
          </a:solidFill>
          <a:ln/>
        </p:spPr>
        <p:txBody>
          <a:bodyPr/>
          <a:lstStyle/>
          <a:p>
            <a:endParaRPr lang="en-DE"/>
          </a:p>
        </p:txBody>
      </p:sp>
      <p:sp>
        <p:nvSpPr>
          <p:cNvPr id="3" name="Text 1"/>
          <p:cNvSpPr/>
          <p:nvPr/>
        </p:nvSpPr>
        <p:spPr>
          <a:xfrm>
            <a:off x="777240" y="310896"/>
            <a:ext cx="7863840" cy="640080"/>
          </a:xfrm>
          <a:prstGeom prst="rect">
            <a:avLst/>
          </a:prstGeom>
          <a:noFill/>
          <a:ln/>
        </p:spPr>
        <p:txBody>
          <a:bodyPr wrap="square" lIns="0" tIns="0" rIns="0" bIns="0" rtlCol="0" anchor="ctr"/>
          <a:lstStyle/>
          <a:p>
            <a:pPr marL="0" indent="0" algn="l">
              <a:buNone/>
            </a:pPr>
            <a:r>
              <a:rPr lang="en-US" sz="2700" b="1" dirty="0">
                <a:solidFill>
                  <a:srgbClr val="EAF4FF"/>
                </a:solidFill>
                <a:latin typeface="Trebuchet MS" pitchFamily="34" charset="0"/>
                <a:ea typeface="Trebuchet MS" pitchFamily="34" charset="-122"/>
                <a:cs typeface="Trebuchet MS" pitchFamily="34" charset="-120"/>
              </a:rPr>
              <a:t>Future Technologies</a:t>
            </a:r>
            <a:endParaRPr lang="en-US" sz="2700" dirty="0"/>
          </a:p>
        </p:txBody>
      </p:sp>
      <p:sp>
        <p:nvSpPr>
          <p:cNvPr id="4" name="Text 2"/>
          <p:cNvSpPr/>
          <p:nvPr/>
        </p:nvSpPr>
        <p:spPr>
          <a:xfrm>
            <a:off x="8321040" y="384048"/>
            <a:ext cx="548640" cy="457200"/>
          </a:xfrm>
          <a:prstGeom prst="rect">
            <a:avLst/>
          </a:prstGeom>
          <a:noFill/>
          <a:ln/>
        </p:spPr>
        <p:txBody>
          <a:bodyPr wrap="square" rtlCol="0" anchor="ctr"/>
          <a:lstStyle/>
          <a:p>
            <a:pPr marL="0" indent="0" algn="r">
              <a:buNone/>
            </a:pPr>
            <a:r>
              <a:rPr lang="en-US" sz="1200" b="1" dirty="0">
                <a:solidFill>
                  <a:srgbClr val="22D3EE"/>
                </a:solidFill>
                <a:latin typeface="Trebuchet MS" pitchFamily="34" charset="0"/>
                <a:ea typeface="Trebuchet MS" pitchFamily="34" charset="-122"/>
                <a:cs typeface="Trebuchet MS" pitchFamily="34" charset="-120"/>
              </a:rPr>
              <a:t>10</a:t>
            </a:r>
            <a:endParaRPr lang="en-US" sz="1200" dirty="0"/>
          </a:p>
        </p:txBody>
      </p:sp>
      <p:sp>
        <p:nvSpPr>
          <p:cNvPr id="5" name="Shape 3"/>
          <p:cNvSpPr/>
          <p:nvPr/>
        </p:nvSpPr>
        <p:spPr>
          <a:xfrm>
            <a:off x="548640" y="1371600"/>
            <a:ext cx="3931920" cy="1600200"/>
          </a:xfrm>
          <a:prstGeom prst="roundRect">
            <a:avLst>
              <a:gd name="adj" fmla="val 5143"/>
            </a:avLst>
          </a:prstGeom>
          <a:solidFill>
            <a:srgbClr val="13294F"/>
          </a:solidFill>
          <a:ln w="12700">
            <a:solidFill>
              <a:srgbClr val="23457F"/>
            </a:solidFill>
            <a:prstDash val="solid"/>
          </a:ln>
          <a:effectLst>
            <a:outerShdw blurRad="114300" dist="38100" dir="5400000" algn="bl" rotWithShape="0">
              <a:srgbClr val="020912">
                <a:alpha val="45000"/>
              </a:srgbClr>
            </a:outerShdw>
          </a:effectLst>
        </p:spPr>
        <p:txBody>
          <a:bodyPr/>
          <a:lstStyle/>
          <a:p>
            <a:endParaRPr lang="en-DE"/>
          </a:p>
        </p:txBody>
      </p:sp>
      <p:sp>
        <p:nvSpPr>
          <p:cNvPr id="6" name="Shape 4"/>
          <p:cNvSpPr/>
          <p:nvPr/>
        </p:nvSpPr>
        <p:spPr>
          <a:xfrm>
            <a:off x="548640" y="1371600"/>
            <a:ext cx="118872" cy="1600200"/>
          </a:xfrm>
          <a:prstGeom prst="rect">
            <a:avLst/>
          </a:prstGeom>
          <a:solidFill>
            <a:srgbClr val="22D3EE"/>
          </a:solidFill>
          <a:ln/>
        </p:spPr>
        <p:txBody>
          <a:bodyPr/>
          <a:lstStyle/>
          <a:p>
            <a:endParaRPr lang="en-DE"/>
          </a:p>
        </p:txBody>
      </p:sp>
      <p:sp>
        <p:nvSpPr>
          <p:cNvPr id="7" name="Text 5"/>
          <p:cNvSpPr/>
          <p:nvPr/>
        </p:nvSpPr>
        <p:spPr>
          <a:xfrm>
            <a:off x="3383280" y="1463040"/>
            <a:ext cx="960120" cy="640080"/>
          </a:xfrm>
          <a:prstGeom prst="rect">
            <a:avLst/>
          </a:prstGeom>
          <a:noFill/>
          <a:ln/>
        </p:spPr>
        <p:txBody>
          <a:bodyPr wrap="square" rtlCol="0" anchor="t"/>
          <a:lstStyle/>
          <a:p>
            <a:pPr marL="0" indent="0" algn="r">
              <a:buNone/>
            </a:pPr>
            <a:r>
              <a:rPr lang="en-US" sz="3000" b="1" dirty="0">
                <a:solidFill>
                  <a:srgbClr val="1C3A66"/>
                </a:solidFill>
                <a:latin typeface="Trebuchet MS" pitchFamily="34" charset="0"/>
                <a:ea typeface="Trebuchet MS" pitchFamily="34" charset="-122"/>
                <a:cs typeface="Trebuchet MS" pitchFamily="34" charset="-120"/>
              </a:rPr>
              <a:t>01</a:t>
            </a:r>
            <a:endParaRPr lang="en-US" sz="3000" dirty="0"/>
          </a:p>
        </p:txBody>
      </p:sp>
      <p:sp>
        <p:nvSpPr>
          <p:cNvPr id="8" name="Text 6"/>
          <p:cNvSpPr/>
          <p:nvPr/>
        </p:nvSpPr>
        <p:spPr>
          <a:xfrm>
            <a:off x="914400" y="1664208"/>
            <a:ext cx="2651760" cy="502920"/>
          </a:xfrm>
          <a:prstGeom prst="rect">
            <a:avLst/>
          </a:prstGeom>
          <a:noFill/>
          <a:ln/>
        </p:spPr>
        <p:txBody>
          <a:bodyPr wrap="square" rtlCol="0" anchor="ctr"/>
          <a:lstStyle/>
          <a:p>
            <a:pPr marL="0" indent="0" algn="l">
              <a:buNone/>
            </a:pPr>
            <a:r>
              <a:rPr lang="en-US" sz="1900" b="1" dirty="0">
                <a:solidFill>
                  <a:srgbClr val="22D3EE"/>
                </a:solidFill>
                <a:latin typeface="Trebuchet MS" pitchFamily="34" charset="0"/>
                <a:ea typeface="Trebuchet MS" pitchFamily="34" charset="-122"/>
                <a:cs typeface="Trebuchet MS" pitchFamily="34" charset="-120"/>
              </a:rPr>
              <a:t>100BASE-T1L</a:t>
            </a:r>
            <a:endParaRPr lang="en-US" sz="1900" dirty="0"/>
          </a:p>
        </p:txBody>
      </p:sp>
      <p:sp>
        <p:nvSpPr>
          <p:cNvPr id="9" name="Text 7"/>
          <p:cNvSpPr/>
          <p:nvPr/>
        </p:nvSpPr>
        <p:spPr>
          <a:xfrm>
            <a:off x="914400" y="2212848"/>
            <a:ext cx="3291840" cy="594360"/>
          </a:xfrm>
          <a:prstGeom prst="rect">
            <a:avLst/>
          </a:prstGeom>
          <a:noFill/>
          <a:ln/>
        </p:spPr>
        <p:txBody>
          <a:bodyPr wrap="square" rtlCol="0" anchor="t"/>
          <a:lstStyle/>
          <a:p>
            <a:pPr marL="0" indent="0" algn="l">
              <a:buNone/>
            </a:pPr>
            <a:r>
              <a:rPr lang="en-US" sz="1350" dirty="0">
                <a:solidFill>
                  <a:srgbClr val="EAF4FF"/>
                </a:solidFill>
                <a:latin typeface="Calibri" pitchFamily="34" charset="0"/>
                <a:ea typeface="Calibri" pitchFamily="34" charset="-122"/>
                <a:cs typeface="Calibri" pitchFamily="34" charset="-120"/>
              </a:rPr>
              <a:t>10× faster single-pair Ethernet</a:t>
            </a:r>
            <a:endParaRPr lang="en-US" sz="1350" dirty="0"/>
          </a:p>
        </p:txBody>
      </p:sp>
      <p:sp>
        <p:nvSpPr>
          <p:cNvPr id="10" name="Shape 8"/>
          <p:cNvSpPr/>
          <p:nvPr/>
        </p:nvSpPr>
        <p:spPr>
          <a:xfrm>
            <a:off x="4663440" y="1371600"/>
            <a:ext cx="3931920" cy="1600200"/>
          </a:xfrm>
          <a:prstGeom prst="roundRect">
            <a:avLst>
              <a:gd name="adj" fmla="val 5143"/>
            </a:avLst>
          </a:prstGeom>
          <a:solidFill>
            <a:srgbClr val="13294F"/>
          </a:solidFill>
          <a:ln w="12700">
            <a:solidFill>
              <a:srgbClr val="23457F"/>
            </a:solidFill>
            <a:prstDash val="solid"/>
          </a:ln>
          <a:effectLst>
            <a:outerShdw blurRad="114300" dist="38100" dir="5400000" algn="bl" rotWithShape="0">
              <a:srgbClr val="020912">
                <a:alpha val="45000"/>
              </a:srgbClr>
            </a:outerShdw>
          </a:effectLst>
        </p:spPr>
        <p:txBody>
          <a:bodyPr/>
          <a:lstStyle/>
          <a:p>
            <a:endParaRPr lang="en-DE"/>
          </a:p>
        </p:txBody>
      </p:sp>
      <p:sp>
        <p:nvSpPr>
          <p:cNvPr id="11" name="Shape 9"/>
          <p:cNvSpPr/>
          <p:nvPr/>
        </p:nvSpPr>
        <p:spPr>
          <a:xfrm>
            <a:off x="4663440" y="1371600"/>
            <a:ext cx="118872" cy="1600200"/>
          </a:xfrm>
          <a:prstGeom prst="rect">
            <a:avLst/>
          </a:prstGeom>
          <a:solidFill>
            <a:srgbClr val="22D3EE"/>
          </a:solidFill>
          <a:ln/>
        </p:spPr>
        <p:txBody>
          <a:bodyPr/>
          <a:lstStyle/>
          <a:p>
            <a:endParaRPr lang="en-DE"/>
          </a:p>
        </p:txBody>
      </p:sp>
      <p:sp>
        <p:nvSpPr>
          <p:cNvPr id="12" name="Text 10"/>
          <p:cNvSpPr/>
          <p:nvPr/>
        </p:nvSpPr>
        <p:spPr>
          <a:xfrm>
            <a:off x="7498080" y="1463040"/>
            <a:ext cx="960120" cy="640080"/>
          </a:xfrm>
          <a:prstGeom prst="rect">
            <a:avLst/>
          </a:prstGeom>
          <a:noFill/>
          <a:ln/>
        </p:spPr>
        <p:txBody>
          <a:bodyPr wrap="square" rtlCol="0" anchor="t"/>
          <a:lstStyle/>
          <a:p>
            <a:pPr marL="0" indent="0" algn="r">
              <a:buNone/>
            </a:pPr>
            <a:r>
              <a:rPr lang="en-US" sz="3000" b="1" dirty="0">
                <a:solidFill>
                  <a:srgbClr val="1C3A66"/>
                </a:solidFill>
                <a:latin typeface="Trebuchet MS" pitchFamily="34" charset="0"/>
                <a:ea typeface="Trebuchet MS" pitchFamily="34" charset="-122"/>
                <a:cs typeface="Trebuchet MS" pitchFamily="34" charset="-120"/>
              </a:rPr>
              <a:t>02</a:t>
            </a:r>
            <a:endParaRPr lang="en-US" sz="3000" dirty="0"/>
          </a:p>
        </p:txBody>
      </p:sp>
      <p:sp>
        <p:nvSpPr>
          <p:cNvPr id="13" name="Text 11"/>
          <p:cNvSpPr/>
          <p:nvPr/>
        </p:nvSpPr>
        <p:spPr>
          <a:xfrm>
            <a:off x="5029200" y="1664208"/>
            <a:ext cx="2651760" cy="502920"/>
          </a:xfrm>
          <a:prstGeom prst="rect">
            <a:avLst/>
          </a:prstGeom>
          <a:noFill/>
          <a:ln/>
        </p:spPr>
        <p:txBody>
          <a:bodyPr wrap="square" rtlCol="0" anchor="ctr"/>
          <a:lstStyle/>
          <a:p>
            <a:pPr marL="0" indent="0" algn="l">
              <a:buNone/>
            </a:pPr>
            <a:r>
              <a:rPr lang="en-US" sz="1900" b="1" dirty="0">
                <a:solidFill>
                  <a:srgbClr val="22D3EE"/>
                </a:solidFill>
                <a:latin typeface="Trebuchet MS" pitchFamily="34" charset="0"/>
                <a:ea typeface="Trebuchet MS" pitchFamily="34" charset="-122"/>
                <a:cs typeface="Trebuchet MS" pitchFamily="34" charset="-120"/>
              </a:rPr>
              <a:t>OPC-UA TSN</a:t>
            </a:r>
            <a:endParaRPr lang="en-US" sz="1900" dirty="0"/>
          </a:p>
        </p:txBody>
      </p:sp>
      <p:sp>
        <p:nvSpPr>
          <p:cNvPr id="14" name="Text 12"/>
          <p:cNvSpPr/>
          <p:nvPr/>
        </p:nvSpPr>
        <p:spPr>
          <a:xfrm>
            <a:off x="5029200" y="2212848"/>
            <a:ext cx="3291840" cy="594360"/>
          </a:xfrm>
          <a:prstGeom prst="rect">
            <a:avLst/>
          </a:prstGeom>
          <a:noFill/>
          <a:ln/>
        </p:spPr>
        <p:txBody>
          <a:bodyPr wrap="square" rtlCol="0" anchor="t"/>
          <a:lstStyle/>
          <a:p>
            <a:pPr marL="0" indent="0" algn="l">
              <a:buNone/>
            </a:pPr>
            <a:r>
              <a:rPr lang="en-US" sz="1350" dirty="0">
                <a:solidFill>
                  <a:srgbClr val="EAF4FF"/>
                </a:solidFill>
                <a:latin typeface="Calibri" pitchFamily="34" charset="0"/>
                <a:ea typeface="Calibri" pitchFamily="34" charset="-122"/>
                <a:cs typeface="Calibri" pitchFamily="34" charset="-120"/>
              </a:rPr>
              <a:t>Deterministic real-time Ethernet</a:t>
            </a:r>
            <a:endParaRPr lang="en-US" sz="1350" dirty="0"/>
          </a:p>
        </p:txBody>
      </p:sp>
      <p:sp>
        <p:nvSpPr>
          <p:cNvPr id="15" name="Shape 13"/>
          <p:cNvSpPr/>
          <p:nvPr/>
        </p:nvSpPr>
        <p:spPr>
          <a:xfrm>
            <a:off x="548640" y="3200400"/>
            <a:ext cx="3931920" cy="1600200"/>
          </a:xfrm>
          <a:prstGeom prst="roundRect">
            <a:avLst>
              <a:gd name="adj" fmla="val 5143"/>
            </a:avLst>
          </a:prstGeom>
          <a:solidFill>
            <a:srgbClr val="13294F"/>
          </a:solidFill>
          <a:ln w="12700">
            <a:solidFill>
              <a:srgbClr val="23457F"/>
            </a:solidFill>
            <a:prstDash val="solid"/>
          </a:ln>
          <a:effectLst>
            <a:outerShdw blurRad="114300" dist="38100" dir="5400000" algn="bl" rotWithShape="0">
              <a:srgbClr val="020912">
                <a:alpha val="45000"/>
              </a:srgbClr>
            </a:outerShdw>
          </a:effectLst>
        </p:spPr>
        <p:txBody>
          <a:bodyPr/>
          <a:lstStyle/>
          <a:p>
            <a:endParaRPr lang="en-DE"/>
          </a:p>
        </p:txBody>
      </p:sp>
      <p:sp>
        <p:nvSpPr>
          <p:cNvPr id="16" name="Shape 14"/>
          <p:cNvSpPr/>
          <p:nvPr/>
        </p:nvSpPr>
        <p:spPr>
          <a:xfrm>
            <a:off x="548640" y="3200400"/>
            <a:ext cx="118872" cy="1600200"/>
          </a:xfrm>
          <a:prstGeom prst="rect">
            <a:avLst/>
          </a:prstGeom>
          <a:solidFill>
            <a:srgbClr val="22D3EE"/>
          </a:solidFill>
          <a:ln/>
        </p:spPr>
        <p:txBody>
          <a:bodyPr/>
          <a:lstStyle/>
          <a:p>
            <a:endParaRPr lang="en-DE"/>
          </a:p>
        </p:txBody>
      </p:sp>
      <p:sp>
        <p:nvSpPr>
          <p:cNvPr id="17" name="Text 15"/>
          <p:cNvSpPr/>
          <p:nvPr/>
        </p:nvSpPr>
        <p:spPr>
          <a:xfrm>
            <a:off x="3383280" y="3291840"/>
            <a:ext cx="960120" cy="640080"/>
          </a:xfrm>
          <a:prstGeom prst="rect">
            <a:avLst/>
          </a:prstGeom>
          <a:noFill/>
          <a:ln/>
        </p:spPr>
        <p:txBody>
          <a:bodyPr wrap="square" rtlCol="0" anchor="t"/>
          <a:lstStyle/>
          <a:p>
            <a:pPr marL="0" indent="0" algn="r">
              <a:buNone/>
            </a:pPr>
            <a:r>
              <a:rPr lang="en-US" sz="3000" b="1" dirty="0">
                <a:solidFill>
                  <a:srgbClr val="1C3A66"/>
                </a:solidFill>
                <a:latin typeface="Trebuchet MS" pitchFamily="34" charset="0"/>
                <a:ea typeface="Trebuchet MS" pitchFamily="34" charset="-122"/>
                <a:cs typeface="Trebuchet MS" pitchFamily="34" charset="-120"/>
              </a:rPr>
              <a:t>03</a:t>
            </a:r>
            <a:endParaRPr lang="en-US" sz="3000" dirty="0"/>
          </a:p>
        </p:txBody>
      </p:sp>
      <p:sp>
        <p:nvSpPr>
          <p:cNvPr id="18" name="Text 16"/>
          <p:cNvSpPr/>
          <p:nvPr/>
        </p:nvSpPr>
        <p:spPr>
          <a:xfrm>
            <a:off x="914400" y="3493008"/>
            <a:ext cx="2651760" cy="502920"/>
          </a:xfrm>
          <a:prstGeom prst="rect">
            <a:avLst/>
          </a:prstGeom>
          <a:noFill/>
          <a:ln/>
        </p:spPr>
        <p:txBody>
          <a:bodyPr wrap="square" rtlCol="0" anchor="ctr"/>
          <a:lstStyle/>
          <a:p>
            <a:pPr marL="0" indent="0" algn="l">
              <a:buNone/>
            </a:pPr>
            <a:r>
              <a:rPr lang="en-US" sz="1900" b="1" dirty="0">
                <a:solidFill>
                  <a:srgbClr val="22D3EE"/>
                </a:solidFill>
                <a:latin typeface="Trebuchet MS" pitchFamily="34" charset="0"/>
                <a:ea typeface="Trebuchet MS" pitchFamily="34" charset="-122"/>
                <a:cs typeface="Trebuchet MS" pitchFamily="34" charset="-120"/>
              </a:rPr>
              <a:t>5G + Ethernet-APL</a:t>
            </a:r>
            <a:endParaRPr lang="en-US" sz="1900" dirty="0"/>
          </a:p>
        </p:txBody>
      </p:sp>
      <p:sp>
        <p:nvSpPr>
          <p:cNvPr id="19" name="Text 17"/>
          <p:cNvSpPr/>
          <p:nvPr/>
        </p:nvSpPr>
        <p:spPr>
          <a:xfrm>
            <a:off x="914400" y="4041648"/>
            <a:ext cx="3291840" cy="594360"/>
          </a:xfrm>
          <a:prstGeom prst="rect">
            <a:avLst/>
          </a:prstGeom>
          <a:noFill/>
          <a:ln/>
        </p:spPr>
        <p:txBody>
          <a:bodyPr wrap="square" rtlCol="0" anchor="t"/>
          <a:lstStyle/>
          <a:p>
            <a:pPr marL="0" indent="0" algn="l">
              <a:buNone/>
            </a:pPr>
            <a:r>
              <a:rPr lang="en-US" sz="1350" dirty="0">
                <a:solidFill>
                  <a:srgbClr val="EAF4FF"/>
                </a:solidFill>
                <a:latin typeface="Calibri" pitchFamily="34" charset="0"/>
                <a:ea typeface="Calibri" pitchFamily="34" charset="-122"/>
                <a:cs typeface="Calibri" pitchFamily="34" charset="-120"/>
              </a:rPr>
              <a:t>Hybrid wired &amp; wireless networks</a:t>
            </a:r>
            <a:endParaRPr lang="en-US" sz="1350" dirty="0"/>
          </a:p>
        </p:txBody>
      </p:sp>
      <p:sp>
        <p:nvSpPr>
          <p:cNvPr id="20" name="Shape 18"/>
          <p:cNvSpPr/>
          <p:nvPr/>
        </p:nvSpPr>
        <p:spPr>
          <a:xfrm>
            <a:off x="4663440" y="3200400"/>
            <a:ext cx="3931920" cy="1600200"/>
          </a:xfrm>
          <a:prstGeom prst="roundRect">
            <a:avLst>
              <a:gd name="adj" fmla="val 5143"/>
            </a:avLst>
          </a:prstGeom>
          <a:solidFill>
            <a:srgbClr val="13294F"/>
          </a:solidFill>
          <a:ln w="12700">
            <a:solidFill>
              <a:srgbClr val="23457F"/>
            </a:solidFill>
            <a:prstDash val="solid"/>
          </a:ln>
          <a:effectLst>
            <a:outerShdw blurRad="114300" dist="38100" dir="5400000" algn="bl" rotWithShape="0">
              <a:srgbClr val="020912">
                <a:alpha val="45000"/>
              </a:srgbClr>
            </a:outerShdw>
          </a:effectLst>
        </p:spPr>
        <p:txBody>
          <a:bodyPr/>
          <a:lstStyle/>
          <a:p>
            <a:endParaRPr lang="en-DE"/>
          </a:p>
        </p:txBody>
      </p:sp>
      <p:sp>
        <p:nvSpPr>
          <p:cNvPr id="21" name="Shape 19"/>
          <p:cNvSpPr/>
          <p:nvPr/>
        </p:nvSpPr>
        <p:spPr>
          <a:xfrm>
            <a:off x="4663440" y="3200400"/>
            <a:ext cx="118872" cy="1600200"/>
          </a:xfrm>
          <a:prstGeom prst="rect">
            <a:avLst/>
          </a:prstGeom>
          <a:solidFill>
            <a:srgbClr val="22D3EE"/>
          </a:solidFill>
          <a:ln/>
        </p:spPr>
        <p:txBody>
          <a:bodyPr/>
          <a:lstStyle/>
          <a:p>
            <a:endParaRPr lang="en-DE"/>
          </a:p>
        </p:txBody>
      </p:sp>
      <p:sp>
        <p:nvSpPr>
          <p:cNvPr id="22" name="Text 20"/>
          <p:cNvSpPr/>
          <p:nvPr/>
        </p:nvSpPr>
        <p:spPr>
          <a:xfrm>
            <a:off x="7498080" y="3291840"/>
            <a:ext cx="960120" cy="640080"/>
          </a:xfrm>
          <a:prstGeom prst="rect">
            <a:avLst/>
          </a:prstGeom>
          <a:noFill/>
          <a:ln/>
        </p:spPr>
        <p:txBody>
          <a:bodyPr wrap="square" rtlCol="0" anchor="t"/>
          <a:lstStyle/>
          <a:p>
            <a:pPr marL="0" indent="0" algn="r">
              <a:buNone/>
            </a:pPr>
            <a:r>
              <a:rPr lang="en-US" sz="3000" b="1" dirty="0">
                <a:solidFill>
                  <a:srgbClr val="1C3A66"/>
                </a:solidFill>
                <a:latin typeface="Trebuchet MS" pitchFamily="34" charset="0"/>
                <a:ea typeface="Trebuchet MS" pitchFamily="34" charset="-122"/>
                <a:cs typeface="Trebuchet MS" pitchFamily="34" charset="-120"/>
              </a:rPr>
              <a:t>04</a:t>
            </a:r>
            <a:endParaRPr lang="en-US" sz="3000" dirty="0"/>
          </a:p>
        </p:txBody>
      </p:sp>
      <p:sp>
        <p:nvSpPr>
          <p:cNvPr id="23" name="Text 21"/>
          <p:cNvSpPr/>
          <p:nvPr/>
        </p:nvSpPr>
        <p:spPr>
          <a:xfrm>
            <a:off x="5029200" y="3493008"/>
            <a:ext cx="2651760" cy="502920"/>
          </a:xfrm>
          <a:prstGeom prst="rect">
            <a:avLst/>
          </a:prstGeom>
          <a:noFill/>
          <a:ln/>
        </p:spPr>
        <p:txBody>
          <a:bodyPr wrap="square" rtlCol="0" anchor="ctr"/>
          <a:lstStyle/>
          <a:p>
            <a:pPr marL="0" indent="0" algn="l">
              <a:buNone/>
            </a:pPr>
            <a:r>
              <a:rPr lang="en-US" sz="1900" b="1" dirty="0">
                <a:solidFill>
                  <a:srgbClr val="22D3EE"/>
                </a:solidFill>
                <a:latin typeface="Trebuchet MS" pitchFamily="34" charset="0"/>
                <a:ea typeface="Trebuchet MS" pitchFamily="34" charset="-122"/>
                <a:cs typeface="Trebuchet MS" pitchFamily="34" charset="-120"/>
              </a:rPr>
              <a:t>Edge AI</a:t>
            </a:r>
            <a:endParaRPr lang="en-US" sz="1900" dirty="0"/>
          </a:p>
        </p:txBody>
      </p:sp>
      <p:sp>
        <p:nvSpPr>
          <p:cNvPr id="24" name="Text 22"/>
          <p:cNvSpPr/>
          <p:nvPr/>
        </p:nvSpPr>
        <p:spPr>
          <a:xfrm>
            <a:off x="5029200" y="4041648"/>
            <a:ext cx="3291840" cy="594360"/>
          </a:xfrm>
          <a:prstGeom prst="rect">
            <a:avLst/>
          </a:prstGeom>
          <a:noFill/>
          <a:ln/>
        </p:spPr>
        <p:txBody>
          <a:bodyPr wrap="square" rtlCol="0" anchor="t"/>
          <a:lstStyle/>
          <a:p>
            <a:pPr marL="0" indent="0" algn="l">
              <a:buNone/>
            </a:pPr>
            <a:r>
              <a:rPr lang="en-US" sz="1350" dirty="0">
                <a:solidFill>
                  <a:srgbClr val="EAF4FF"/>
                </a:solidFill>
                <a:latin typeface="Calibri" pitchFamily="34" charset="0"/>
                <a:ea typeface="Calibri" pitchFamily="34" charset="-122"/>
                <a:cs typeface="Calibri" pitchFamily="34" charset="-120"/>
              </a:rPr>
              <a:t>Local intelligence at the device</a:t>
            </a:r>
            <a:endParaRPr lang="en-US" sz="1350" dirty="0"/>
          </a:p>
        </p:txBody>
      </p:sp>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832"/>
        </a:solidFill>
        <a:effectLst/>
      </p:bgPr>
    </p:bg>
    <p:spTree>
      <p:nvGrpSpPr>
        <p:cNvPr id="1" name=""/>
        <p:cNvGrpSpPr/>
        <p:nvPr/>
      </p:nvGrpSpPr>
      <p:grpSpPr>
        <a:xfrm>
          <a:off x="0" y="0"/>
          <a:ext cx="0" cy="0"/>
          <a:chOff x="0" y="0"/>
          <a:chExt cx="0" cy="0"/>
        </a:xfrm>
      </p:grpSpPr>
      <p:sp>
        <p:nvSpPr>
          <p:cNvPr id="2" name="Shape 0"/>
          <p:cNvSpPr/>
          <p:nvPr/>
        </p:nvSpPr>
        <p:spPr>
          <a:xfrm>
            <a:off x="502920" y="384048"/>
            <a:ext cx="146304" cy="457200"/>
          </a:xfrm>
          <a:prstGeom prst="rect">
            <a:avLst/>
          </a:prstGeom>
          <a:solidFill>
            <a:srgbClr val="22D3EE"/>
          </a:solidFill>
          <a:ln/>
        </p:spPr>
        <p:txBody>
          <a:bodyPr/>
          <a:lstStyle/>
          <a:p>
            <a:endParaRPr lang="en-DE"/>
          </a:p>
        </p:txBody>
      </p:sp>
      <p:sp>
        <p:nvSpPr>
          <p:cNvPr id="3" name="Text 1"/>
          <p:cNvSpPr/>
          <p:nvPr/>
        </p:nvSpPr>
        <p:spPr>
          <a:xfrm>
            <a:off x="777240" y="310896"/>
            <a:ext cx="7863840" cy="640080"/>
          </a:xfrm>
          <a:prstGeom prst="rect">
            <a:avLst/>
          </a:prstGeom>
          <a:noFill/>
          <a:ln/>
        </p:spPr>
        <p:txBody>
          <a:bodyPr wrap="square" lIns="0" tIns="0" rIns="0" bIns="0" rtlCol="0" anchor="ctr"/>
          <a:lstStyle/>
          <a:p>
            <a:pPr marL="0" indent="0" algn="l">
              <a:buNone/>
            </a:pPr>
            <a:r>
              <a:rPr lang="en-US" sz="2700" b="1" dirty="0">
                <a:solidFill>
                  <a:srgbClr val="EAF4FF"/>
                </a:solidFill>
                <a:latin typeface="Trebuchet MS" pitchFamily="34" charset="0"/>
                <a:ea typeface="Trebuchet MS" pitchFamily="34" charset="-122"/>
                <a:cs typeface="Trebuchet MS" pitchFamily="34" charset="-120"/>
              </a:rPr>
              <a:t>Conclusion</a:t>
            </a:r>
            <a:endParaRPr lang="en-US" sz="2700" dirty="0"/>
          </a:p>
        </p:txBody>
      </p:sp>
      <p:sp>
        <p:nvSpPr>
          <p:cNvPr id="4" name="Text 2"/>
          <p:cNvSpPr/>
          <p:nvPr/>
        </p:nvSpPr>
        <p:spPr>
          <a:xfrm>
            <a:off x="8321040" y="384048"/>
            <a:ext cx="548640" cy="457200"/>
          </a:xfrm>
          <a:prstGeom prst="rect">
            <a:avLst/>
          </a:prstGeom>
          <a:noFill/>
          <a:ln/>
        </p:spPr>
        <p:txBody>
          <a:bodyPr wrap="square" rtlCol="0" anchor="ctr"/>
          <a:lstStyle/>
          <a:p>
            <a:pPr marL="0" indent="0" algn="r">
              <a:buNone/>
            </a:pPr>
            <a:r>
              <a:rPr lang="en-US" sz="1200" b="1" dirty="0">
                <a:solidFill>
                  <a:srgbClr val="22D3EE"/>
                </a:solidFill>
                <a:latin typeface="Trebuchet MS" pitchFamily="34" charset="0"/>
                <a:ea typeface="Trebuchet MS" pitchFamily="34" charset="-122"/>
                <a:cs typeface="Trebuchet MS" pitchFamily="34" charset="-120"/>
              </a:rPr>
              <a:t>11</a:t>
            </a:r>
            <a:endParaRPr lang="en-US" sz="1200" dirty="0"/>
          </a:p>
        </p:txBody>
      </p:sp>
      <p:sp>
        <p:nvSpPr>
          <p:cNvPr id="5" name="Shape 3"/>
          <p:cNvSpPr/>
          <p:nvPr/>
        </p:nvSpPr>
        <p:spPr>
          <a:xfrm>
            <a:off x="640080" y="1417320"/>
            <a:ext cx="7863840" cy="960120"/>
          </a:xfrm>
          <a:prstGeom prst="roundRect">
            <a:avLst>
              <a:gd name="adj" fmla="val 9524"/>
            </a:avLst>
          </a:prstGeom>
          <a:solidFill>
            <a:srgbClr val="13294F"/>
          </a:solidFill>
          <a:ln w="12700">
            <a:solidFill>
              <a:srgbClr val="23457F"/>
            </a:solidFill>
            <a:prstDash val="solid"/>
          </a:ln>
          <a:effectLst>
            <a:outerShdw blurRad="114300" dist="38100" dir="5400000" algn="bl" rotWithShape="0">
              <a:srgbClr val="020912">
                <a:alpha val="45000"/>
              </a:srgbClr>
            </a:outerShdw>
          </a:effectLst>
        </p:spPr>
        <p:txBody>
          <a:bodyPr/>
          <a:lstStyle/>
          <a:p>
            <a:endParaRPr lang="en-DE"/>
          </a:p>
        </p:txBody>
      </p:sp>
      <p:sp>
        <p:nvSpPr>
          <p:cNvPr id="6" name="Shape 4"/>
          <p:cNvSpPr/>
          <p:nvPr/>
        </p:nvSpPr>
        <p:spPr>
          <a:xfrm>
            <a:off x="868680" y="1600200"/>
            <a:ext cx="594360" cy="594360"/>
          </a:xfrm>
          <a:prstGeom prst="ellipse">
            <a:avLst/>
          </a:prstGeom>
          <a:solidFill>
            <a:srgbClr val="22D3EE"/>
          </a:solidFill>
          <a:ln/>
          <a:effectLst>
            <a:outerShdw blurRad="152400" dist="50800" dir="16200000" algn="bl" rotWithShape="0">
              <a:srgbClr val="22D3EE">
                <a:alpha val="45000"/>
              </a:srgbClr>
            </a:outerShdw>
          </a:effectLst>
        </p:spPr>
        <p:txBody>
          <a:bodyPr/>
          <a:lstStyle/>
          <a:p>
            <a:endParaRPr lang="en-DE"/>
          </a:p>
        </p:txBody>
      </p:sp>
      <p:sp>
        <p:nvSpPr>
          <p:cNvPr id="7" name="Text 5"/>
          <p:cNvSpPr/>
          <p:nvPr/>
        </p:nvSpPr>
        <p:spPr>
          <a:xfrm>
            <a:off x="868680" y="1600200"/>
            <a:ext cx="594360" cy="594360"/>
          </a:xfrm>
          <a:prstGeom prst="rect">
            <a:avLst/>
          </a:prstGeom>
          <a:noFill/>
          <a:ln/>
        </p:spPr>
        <p:txBody>
          <a:bodyPr wrap="square" rtlCol="0" anchor="ctr"/>
          <a:lstStyle/>
          <a:p>
            <a:pPr marL="0" indent="0" algn="ctr">
              <a:buNone/>
            </a:pPr>
            <a:r>
              <a:rPr lang="en-US" sz="2600" b="1" dirty="0">
                <a:solidFill>
                  <a:srgbClr val="07122A"/>
                </a:solidFill>
                <a:latin typeface="Trebuchet MS" pitchFamily="34" charset="0"/>
                <a:ea typeface="Trebuchet MS" pitchFamily="34" charset="-122"/>
                <a:cs typeface="Trebuchet MS" pitchFamily="34" charset="-120"/>
              </a:rPr>
              <a:t>1</a:t>
            </a:r>
            <a:endParaRPr lang="en-US" sz="2600" dirty="0"/>
          </a:p>
        </p:txBody>
      </p:sp>
      <p:sp>
        <p:nvSpPr>
          <p:cNvPr id="8" name="Text 6"/>
          <p:cNvSpPr/>
          <p:nvPr/>
        </p:nvSpPr>
        <p:spPr>
          <a:xfrm>
            <a:off x="1691640" y="1417320"/>
            <a:ext cx="6675120" cy="960120"/>
          </a:xfrm>
          <a:prstGeom prst="rect">
            <a:avLst/>
          </a:prstGeom>
          <a:noFill/>
          <a:ln/>
        </p:spPr>
        <p:txBody>
          <a:bodyPr wrap="square" rtlCol="0" anchor="ctr"/>
          <a:lstStyle/>
          <a:p>
            <a:pPr marL="0" indent="0" algn="l">
              <a:buNone/>
            </a:pPr>
            <a:r>
              <a:rPr lang="en-US" sz="1700" b="1" dirty="0">
                <a:solidFill>
                  <a:srgbClr val="EAF4FF"/>
                </a:solidFill>
                <a:latin typeface="Calibri" pitchFamily="34" charset="0"/>
                <a:ea typeface="Calibri" pitchFamily="34" charset="-122"/>
                <a:cs typeface="Calibri" pitchFamily="34" charset="-120"/>
              </a:rPr>
              <a:t>Ethernet-APL brings Ethernet directly into hazardous areas.</a:t>
            </a:r>
            <a:endParaRPr lang="en-US" sz="1700" dirty="0"/>
          </a:p>
        </p:txBody>
      </p:sp>
      <p:sp>
        <p:nvSpPr>
          <p:cNvPr id="9" name="Shape 7"/>
          <p:cNvSpPr/>
          <p:nvPr/>
        </p:nvSpPr>
        <p:spPr>
          <a:xfrm>
            <a:off x="640080" y="2560320"/>
            <a:ext cx="7863840" cy="960120"/>
          </a:xfrm>
          <a:prstGeom prst="roundRect">
            <a:avLst>
              <a:gd name="adj" fmla="val 9524"/>
            </a:avLst>
          </a:prstGeom>
          <a:solidFill>
            <a:srgbClr val="13294F"/>
          </a:solidFill>
          <a:ln w="12700">
            <a:solidFill>
              <a:srgbClr val="23457F"/>
            </a:solidFill>
            <a:prstDash val="solid"/>
          </a:ln>
          <a:effectLst>
            <a:outerShdw blurRad="114300" dist="38100" dir="5400000" algn="bl" rotWithShape="0">
              <a:srgbClr val="020912">
                <a:alpha val="45000"/>
              </a:srgbClr>
            </a:outerShdw>
          </a:effectLst>
        </p:spPr>
        <p:txBody>
          <a:bodyPr/>
          <a:lstStyle/>
          <a:p>
            <a:endParaRPr lang="en-DE"/>
          </a:p>
        </p:txBody>
      </p:sp>
      <p:sp>
        <p:nvSpPr>
          <p:cNvPr id="10" name="Shape 8"/>
          <p:cNvSpPr/>
          <p:nvPr/>
        </p:nvSpPr>
        <p:spPr>
          <a:xfrm>
            <a:off x="868680" y="2743200"/>
            <a:ext cx="594360" cy="594360"/>
          </a:xfrm>
          <a:prstGeom prst="ellipse">
            <a:avLst/>
          </a:prstGeom>
          <a:solidFill>
            <a:srgbClr val="22D3EE"/>
          </a:solidFill>
          <a:ln/>
          <a:effectLst>
            <a:outerShdw blurRad="152400" dist="50800" dir="16200000" algn="bl" rotWithShape="0">
              <a:srgbClr val="22D3EE">
                <a:alpha val="45000"/>
              </a:srgbClr>
            </a:outerShdw>
          </a:effectLst>
        </p:spPr>
        <p:txBody>
          <a:bodyPr/>
          <a:lstStyle/>
          <a:p>
            <a:endParaRPr lang="en-DE"/>
          </a:p>
        </p:txBody>
      </p:sp>
      <p:sp>
        <p:nvSpPr>
          <p:cNvPr id="11" name="Text 9"/>
          <p:cNvSpPr/>
          <p:nvPr/>
        </p:nvSpPr>
        <p:spPr>
          <a:xfrm>
            <a:off x="868680" y="2743200"/>
            <a:ext cx="594360" cy="594360"/>
          </a:xfrm>
          <a:prstGeom prst="rect">
            <a:avLst/>
          </a:prstGeom>
          <a:noFill/>
          <a:ln/>
        </p:spPr>
        <p:txBody>
          <a:bodyPr wrap="square" rtlCol="0" anchor="ctr"/>
          <a:lstStyle/>
          <a:p>
            <a:pPr marL="0" indent="0" algn="ctr">
              <a:buNone/>
            </a:pPr>
            <a:r>
              <a:rPr lang="en-US" sz="2600" b="1" dirty="0">
                <a:solidFill>
                  <a:srgbClr val="07122A"/>
                </a:solidFill>
                <a:latin typeface="Trebuchet MS" pitchFamily="34" charset="0"/>
                <a:ea typeface="Trebuchet MS" pitchFamily="34" charset="-122"/>
                <a:cs typeface="Trebuchet MS" pitchFamily="34" charset="-120"/>
              </a:rPr>
              <a:t>2</a:t>
            </a:r>
            <a:endParaRPr lang="en-US" sz="2600" dirty="0"/>
          </a:p>
        </p:txBody>
      </p:sp>
      <p:sp>
        <p:nvSpPr>
          <p:cNvPr id="12" name="Text 10"/>
          <p:cNvSpPr/>
          <p:nvPr/>
        </p:nvSpPr>
        <p:spPr>
          <a:xfrm>
            <a:off x="1691640" y="2560320"/>
            <a:ext cx="6675120" cy="960120"/>
          </a:xfrm>
          <a:prstGeom prst="rect">
            <a:avLst/>
          </a:prstGeom>
          <a:noFill/>
          <a:ln/>
        </p:spPr>
        <p:txBody>
          <a:bodyPr wrap="square" rtlCol="0" anchor="ctr"/>
          <a:lstStyle/>
          <a:p>
            <a:pPr marL="0" indent="0" algn="l">
              <a:buNone/>
            </a:pPr>
            <a:r>
              <a:rPr lang="en-US" sz="1700" b="1" dirty="0">
                <a:solidFill>
                  <a:srgbClr val="EAF4FF"/>
                </a:solidFill>
                <a:latin typeface="Calibri" pitchFamily="34" charset="0"/>
                <a:ea typeface="Calibri" pitchFamily="34" charset="-122"/>
                <a:cs typeface="Calibri" pitchFamily="34" charset="-120"/>
              </a:rPr>
              <a:t>Delivers 10 Mbps over 1000 m using one cable pair.</a:t>
            </a:r>
            <a:endParaRPr lang="en-US" sz="1700" dirty="0"/>
          </a:p>
        </p:txBody>
      </p:sp>
      <p:sp>
        <p:nvSpPr>
          <p:cNvPr id="13" name="Shape 11"/>
          <p:cNvSpPr/>
          <p:nvPr/>
        </p:nvSpPr>
        <p:spPr>
          <a:xfrm>
            <a:off x="640080" y="3703320"/>
            <a:ext cx="7863840" cy="960120"/>
          </a:xfrm>
          <a:prstGeom prst="roundRect">
            <a:avLst>
              <a:gd name="adj" fmla="val 9524"/>
            </a:avLst>
          </a:prstGeom>
          <a:solidFill>
            <a:srgbClr val="13294F"/>
          </a:solidFill>
          <a:ln w="12700">
            <a:solidFill>
              <a:srgbClr val="23457F"/>
            </a:solidFill>
            <a:prstDash val="solid"/>
          </a:ln>
          <a:effectLst>
            <a:outerShdw blurRad="114300" dist="38100" dir="5400000" algn="bl" rotWithShape="0">
              <a:srgbClr val="020912">
                <a:alpha val="45000"/>
              </a:srgbClr>
            </a:outerShdw>
          </a:effectLst>
        </p:spPr>
        <p:txBody>
          <a:bodyPr/>
          <a:lstStyle/>
          <a:p>
            <a:endParaRPr lang="en-DE"/>
          </a:p>
        </p:txBody>
      </p:sp>
      <p:sp>
        <p:nvSpPr>
          <p:cNvPr id="14" name="Shape 12"/>
          <p:cNvSpPr/>
          <p:nvPr/>
        </p:nvSpPr>
        <p:spPr>
          <a:xfrm>
            <a:off x="868680" y="3886200"/>
            <a:ext cx="594360" cy="594360"/>
          </a:xfrm>
          <a:prstGeom prst="ellipse">
            <a:avLst/>
          </a:prstGeom>
          <a:solidFill>
            <a:srgbClr val="22D3EE"/>
          </a:solidFill>
          <a:ln/>
          <a:effectLst>
            <a:outerShdw blurRad="152400" dist="50800" dir="16200000" algn="bl" rotWithShape="0">
              <a:srgbClr val="22D3EE">
                <a:alpha val="45000"/>
              </a:srgbClr>
            </a:outerShdw>
          </a:effectLst>
        </p:spPr>
        <p:txBody>
          <a:bodyPr/>
          <a:lstStyle/>
          <a:p>
            <a:endParaRPr lang="en-DE"/>
          </a:p>
        </p:txBody>
      </p:sp>
      <p:sp>
        <p:nvSpPr>
          <p:cNvPr id="15" name="Text 13"/>
          <p:cNvSpPr/>
          <p:nvPr/>
        </p:nvSpPr>
        <p:spPr>
          <a:xfrm>
            <a:off x="868680" y="3886200"/>
            <a:ext cx="594360" cy="594360"/>
          </a:xfrm>
          <a:prstGeom prst="rect">
            <a:avLst/>
          </a:prstGeom>
          <a:noFill/>
          <a:ln/>
        </p:spPr>
        <p:txBody>
          <a:bodyPr wrap="square" rtlCol="0" anchor="ctr"/>
          <a:lstStyle/>
          <a:p>
            <a:pPr marL="0" indent="0" algn="ctr">
              <a:buNone/>
            </a:pPr>
            <a:r>
              <a:rPr lang="en-US" sz="2600" b="1" dirty="0">
                <a:solidFill>
                  <a:srgbClr val="07122A"/>
                </a:solidFill>
                <a:latin typeface="Trebuchet MS" pitchFamily="34" charset="0"/>
                <a:ea typeface="Trebuchet MS" pitchFamily="34" charset="-122"/>
                <a:cs typeface="Trebuchet MS" pitchFamily="34" charset="-120"/>
              </a:rPr>
              <a:t>3</a:t>
            </a:r>
            <a:endParaRPr lang="en-US" sz="2600" dirty="0"/>
          </a:p>
        </p:txBody>
      </p:sp>
      <p:sp>
        <p:nvSpPr>
          <p:cNvPr id="16" name="Text 14"/>
          <p:cNvSpPr/>
          <p:nvPr/>
        </p:nvSpPr>
        <p:spPr>
          <a:xfrm>
            <a:off x="1691640" y="3703320"/>
            <a:ext cx="6675120" cy="960120"/>
          </a:xfrm>
          <a:prstGeom prst="rect">
            <a:avLst/>
          </a:prstGeom>
          <a:noFill/>
          <a:ln/>
        </p:spPr>
        <p:txBody>
          <a:bodyPr wrap="square" rtlCol="0" anchor="ctr"/>
          <a:lstStyle/>
          <a:p>
            <a:pPr marL="0" indent="0" algn="l">
              <a:buNone/>
            </a:pPr>
            <a:r>
              <a:rPr lang="en-US" sz="1700" b="1" dirty="0">
                <a:solidFill>
                  <a:srgbClr val="EAF4FF"/>
                </a:solidFill>
                <a:latin typeface="Calibri" pitchFamily="34" charset="0"/>
                <a:ea typeface="Calibri" pitchFamily="34" charset="-122"/>
                <a:cs typeface="Calibri" pitchFamily="34" charset="-120"/>
              </a:rPr>
              <a:t>A foundation technology for Industry 4.0 and IIoT.</a:t>
            </a:r>
            <a:endParaRPr lang="en-US" sz="1700" dirty="0"/>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832"/>
        </a:solidFill>
        <a:effectLst/>
      </p:bgPr>
    </p:bg>
    <p:spTree>
      <p:nvGrpSpPr>
        <p:cNvPr id="1" name=""/>
        <p:cNvGrpSpPr/>
        <p:nvPr/>
      </p:nvGrpSpPr>
      <p:grpSpPr>
        <a:xfrm>
          <a:off x="0" y="0"/>
          <a:ext cx="0" cy="0"/>
          <a:chOff x="0" y="0"/>
          <a:chExt cx="0" cy="0"/>
        </a:xfrm>
      </p:grpSpPr>
      <p:pic>
        <p:nvPicPr>
          <p:cNvPr id="2" name="Image 0" descr="/agent/turn1/workspace/images/image-acdf539055d48a14eee53c0c1e1a6f8e.jpg"/>
          <p:cNvPicPr>
            <a:picLocks noChangeAspect="1"/>
          </p:cNvPicPr>
          <p:nvPr/>
        </p:nvPicPr>
        <p:blipFill>
          <a:blip r:embed="rId3"/>
          <a:srcRect t="7813" b="7813"/>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7122A">
              <a:alpha val="72000"/>
            </a:srgbClr>
          </a:solidFill>
          <a:ln/>
        </p:spPr>
        <p:txBody>
          <a:bodyPr/>
          <a:lstStyle/>
          <a:p>
            <a:endParaRPr lang="en-DE"/>
          </a:p>
        </p:txBody>
      </p:sp>
      <p:sp>
        <p:nvSpPr>
          <p:cNvPr id="4" name="Shape 1"/>
          <p:cNvSpPr/>
          <p:nvPr/>
        </p:nvSpPr>
        <p:spPr>
          <a:xfrm>
            <a:off x="0" y="0"/>
            <a:ext cx="4754880" cy="5143500"/>
          </a:xfrm>
          <a:prstGeom prst="rect">
            <a:avLst/>
          </a:prstGeom>
          <a:solidFill>
            <a:srgbClr val="07122A">
              <a:alpha val="92000"/>
            </a:srgbClr>
          </a:solidFill>
          <a:ln/>
        </p:spPr>
        <p:txBody>
          <a:bodyPr/>
          <a:lstStyle/>
          <a:p>
            <a:endParaRPr lang="en-DE"/>
          </a:p>
        </p:txBody>
      </p:sp>
      <p:sp>
        <p:nvSpPr>
          <p:cNvPr id="5" name="Text 2"/>
          <p:cNvSpPr/>
          <p:nvPr/>
        </p:nvSpPr>
        <p:spPr>
          <a:xfrm>
            <a:off x="548640" y="640080"/>
            <a:ext cx="4754880" cy="731520"/>
          </a:xfrm>
          <a:prstGeom prst="rect">
            <a:avLst/>
          </a:prstGeom>
          <a:noFill/>
          <a:ln/>
        </p:spPr>
        <p:txBody>
          <a:bodyPr wrap="square" rtlCol="0" anchor="ctr"/>
          <a:lstStyle/>
          <a:p>
            <a:pPr marL="0" indent="0" algn="l">
              <a:buNone/>
            </a:pPr>
            <a:r>
              <a:rPr lang="en-US" sz="4000" b="1" dirty="0">
                <a:solidFill>
                  <a:srgbClr val="EAF4FF"/>
                </a:solidFill>
                <a:latin typeface="Trebuchet MS" pitchFamily="34" charset="0"/>
                <a:ea typeface="Trebuchet MS" pitchFamily="34" charset="-122"/>
                <a:cs typeface="Trebuchet MS" pitchFamily="34" charset="-120"/>
              </a:rPr>
              <a:t>Thank You</a:t>
            </a:r>
            <a:endParaRPr lang="en-US" sz="4000" dirty="0"/>
          </a:p>
        </p:txBody>
      </p:sp>
      <p:sp>
        <p:nvSpPr>
          <p:cNvPr id="6" name="Text 3"/>
          <p:cNvSpPr/>
          <p:nvPr/>
        </p:nvSpPr>
        <p:spPr>
          <a:xfrm>
            <a:off x="566928" y="1417320"/>
            <a:ext cx="4572000" cy="548640"/>
          </a:xfrm>
          <a:prstGeom prst="rect">
            <a:avLst/>
          </a:prstGeom>
          <a:noFill/>
          <a:ln/>
        </p:spPr>
        <p:txBody>
          <a:bodyPr wrap="square" rtlCol="0" anchor="ctr"/>
          <a:lstStyle/>
          <a:p>
            <a:pPr marL="0" indent="0" algn="l">
              <a:buNone/>
            </a:pPr>
            <a:r>
              <a:rPr lang="en-US" sz="2400" b="1" dirty="0">
                <a:solidFill>
                  <a:srgbClr val="22D3EE"/>
                </a:solidFill>
                <a:latin typeface="Trebuchet MS" pitchFamily="34" charset="0"/>
                <a:ea typeface="Trebuchet MS" pitchFamily="34" charset="-122"/>
                <a:cs typeface="Trebuchet MS" pitchFamily="34" charset="-120"/>
              </a:rPr>
              <a:t>Questions?</a:t>
            </a:r>
            <a:endParaRPr lang="en-US" sz="2400" dirty="0"/>
          </a:p>
        </p:txBody>
      </p:sp>
      <p:sp>
        <p:nvSpPr>
          <p:cNvPr id="7" name="Text 4"/>
          <p:cNvSpPr/>
          <p:nvPr/>
        </p:nvSpPr>
        <p:spPr>
          <a:xfrm>
            <a:off x="566928" y="2057400"/>
            <a:ext cx="4572000" cy="320040"/>
          </a:xfrm>
          <a:prstGeom prst="rect">
            <a:avLst/>
          </a:prstGeom>
          <a:noFill/>
          <a:ln/>
        </p:spPr>
        <p:txBody>
          <a:bodyPr wrap="square" rtlCol="0" anchor="ctr"/>
          <a:lstStyle/>
          <a:p>
            <a:pPr marL="0" indent="0" algn="l">
              <a:buNone/>
            </a:pPr>
            <a:r>
              <a:rPr lang="en-US" sz="1200" i="1" dirty="0">
                <a:solidFill>
                  <a:srgbClr val="DDEBFF"/>
                </a:solidFill>
                <a:latin typeface="Calibri" pitchFamily="34" charset="0"/>
                <a:ea typeface="Calibri" pitchFamily="34" charset="-122"/>
                <a:cs typeface="Calibri" pitchFamily="34" charset="-120"/>
              </a:rPr>
              <a:t>Anticipated examiner questions</a:t>
            </a:r>
            <a:endParaRPr lang="en-US" sz="1200" dirty="0"/>
          </a:p>
        </p:txBody>
      </p:sp>
      <p:sp>
        <p:nvSpPr>
          <p:cNvPr id="8" name="Shape 5"/>
          <p:cNvSpPr/>
          <p:nvPr/>
        </p:nvSpPr>
        <p:spPr>
          <a:xfrm>
            <a:off x="548640" y="2468880"/>
            <a:ext cx="3977640" cy="713232"/>
          </a:xfrm>
          <a:prstGeom prst="roundRect">
            <a:avLst>
              <a:gd name="adj" fmla="val 10256"/>
            </a:avLst>
          </a:prstGeom>
          <a:solidFill>
            <a:srgbClr val="0F2042">
              <a:alpha val="88000"/>
            </a:srgbClr>
          </a:solidFill>
          <a:ln w="12700">
            <a:solidFill>
              <a:srgbClr val="22D3EE"/>
            </a:solidFill>
            <a:prstDash val="solid"/>
          </a:ln>
        </p:spPr>
        <p:txBody>
          <a:bodyPr/>
          <a:lstStyle/>
          <a:p>
            <a:endParaRPr lang="en-DE"/>
          </a:p>
        </p:txBody>
      </p:sp>
      <p:sp>
        <p:nvSpPr>
          <p:cNvPr id="9" name="Text 6"/>
          <p:cNvSpPr/>
          <p:nvPr/>
        </p:nvSpPr>
        <p:spPr>
          <a:xfrm>
            <a:off x="658368" y="2468880"/>
            <a:ext cx="548640" cy="713232"/>
          </a:xfrm>
          <a:prstGeom prst="rect">
            <a:avLst/>
          </a:prstGeom>
          <a:noFill/>
          <a:ln/>
        </p:spPr>
        <p:txBody>
          <a:bodyPr wrap="square" rtlCol="0" anchor="ctr"/>
          <a:lstStyle/>
          <a:p>
            <a:pPr marL="0" indent="0" algn="l">
              <a:buNone/>
            </a:pPr>
            <a:r>
              <a:rPr lang="en-US" sz="1400" b="1" dirty="0">
                <a:solidFill>
                  <a:srgbClr val="22D3EE"/>
                </a:solidFill>
                <a:latin typeface="Trebuchet MS" pitchFamily="34" charset="0"/>
                <a:ea typeface="Trebuchet MS" pitchFamily="34" charset="-122"/>
                <a:cs typeface="Trebuchet MS" pitchFamily="34" charset="-120"/>
              </a:rPr>
              <a:t>Q1</a:t>
            </a:r>
            <a:endParaRPr lang="en-US" sz="1400" dirty="0"/>
          </a:p>
        </p:txBody>
      </p:sp>
      <p:sp>
        <p:nvSpPr>
          <p:cNvPr id="10" name="Text 7"/>
          <p:cNvSpPr/>
          <p:nvPr/>
        </p:nvSpPr>
        <p:spPr>
          <a:xfrm>
            <a:off x="1234440" y="2487168"/>
            <a:ext cx="3200400" cy="676656"/>
          </a:xfrm>
          <a:prstGeom prst="rect">
            <a:avLst/>
          </a:prstGeom>
          <a:noFill/>
          <a:ln/>
        </p:spPr>
        <p:txBody>
          <a:bodyPr wrap="square" rtlCol="0" anchor="ctr"/>
          <a:lstStyle/>
          <a:p>
            <a:pPr marL="0" indent="0" algn="l">
              <a:buNone/>
            </a:pPr>
            <a:r>
              <a:rPr lang="en-US" sz="1150" dirty="0">
                <a:solidFill>
                  <a:srgbClr val="EAF4FF"/>
                </a:solidFill>
                <a:latin typeface="Calibri" pitchFamily="34" charset="0"/>
                <a:ea typeface="Calibri" pitchFamily="34" charset="-122"/>
                <a:cs typeface="Calibri" pitchFamily="34" charset="-120"/>
              </a:rPr>
              <a:t>Why not simply use Wi-Fi or 5G?</a:t>
            </a:r>
            <a:endParaRPr lang="en-US" sz="1150" dirty="0"/>
          </a:p>
        </p:txBody>
      </p:sp>
      <p:sp>
        <p:nvSpPr>
          <p:cNvPr id="11" name="Shape 8"/>
          <p:cNvSpPr/>
          <p:nvPr/>
        </p:nvSpPr>
        <p:spPr>
          <a:xfrm>
            <a:off x="4663440" y="2468880"/>
            <a:ext cx="3977640" cy="713232"/>
          </a:xfrm>
          <a:prstGeom prst="roundRect">
            <a:avLst>
              <a:gd name="adj" fmla="val 10256"/>
            </a:avLst>
          </a:prstGeom>
          <a:solidFill>
            <a:srgbClr val="0F2042">
              <a:alpha val="88000"/>
            </a:srgbClr>
          </a:solidFill>
          <a:ln w="12700">
            <a:solidFill>
              <a:srgbClr val="22D3EE"/>
            </a:solidFill>
            <a:prstDash val="solid"/>
          </a:ln>
        </p:spPr>
        <p:txBody>
          <a:bodyPr/>
          <a:lstStyle/>
          <a:p>
            <a:endParaRPr lang="en-DE"/>
          </a:p>
        </p:txBody>
      </p:sp>
      <p:sp>
        <p:nvSpPr>
          <p:cNvPr id="12" name="Text 9"/>
          <p:cNvSpPr/>
          <p:nvPr/>
        </p:nvSpPr>
        <p:spPr>
          <a:xfrm>
            <a:off x="4773168" y="2468880"/>
            <a:ext cx="548640" cy="713232"/>
          </a:xfrm>
          <a:prstGeom prst="rect">
            <a:avLst/>
          </a:prstGeom>
          <a:noFill/>
          <a:ln/>
        </p:spPr>
        <p:txBody>
          <a:bodyPr wrap="square" rtlCol="0" anchor="ctr"/>
          <a:lstStyle/>
          <a:p>
            <a:pPr marL="0" indent="0" algn="l">
              <a:buNone/>
            </a:pPr>
            <a:r>
              <a:rPr lang="en-US" sz="1400" b="1" dirty="0">
                <a:solidFill>
                  <a:srgbClr val="22D3EE"/>
                </a:solidFill>
                <a:latin typeface="Trebuchet MS" pitchFamily="34" charset="0"/>
                <a:ea typeface="Trebuchet MS" pitchFamily="34" charset="-122"/>
                <a:cs typeface="Trebuchet MS" pitchFamily="34" charset="-120"/>
              </a:rPr>
              <a:t>Q2</a:t>
            </a:r>
            <a:endParaRPr lang="en-US" sz="1400" dirty="0"/>
          </a:p>
        </p:txBody>
      </p:sp>
      <p:sp>
        <p:nvSpPr>
          <p:cNvPr id="13" name="Text 10"/>
          <p:cNvSpPr/>
          <p:nvPr/>
        </p:nvSpPr>
        <p:spPr>
          <a:xfrm>
            <a:off x="5349240" y="2487168"/>
            <a:ext cx="3200400" cy="676656"/>
          </a:xfrm>
          <a:prstGeom prst="rect">
            <a:avLst/>
          </a:prstGeom>
          <a:noFill/>
          <a:ln/>
        </p:spPr>
        <p:txBody>
          <a:bodyPr wrap="square" rtlCol="0" anchor="ctr"/>
          <a:lstStyle/>
          <a:p>
            <a:pPr marL="0" indent="0" algn="l">
              <a:buNone/>
            </a:pPr>
            <a:r>
              <a:rPr lang="en-US" sz="1150" dirty="0">
                <a:solidFill>
                  <a:srgbClr val="EAF4FF"/>
                </a:solidFill>
                <a:latin typeface="Calibri" pitchFamily="34" charset="0"/>
                <a:ea typeface="Calibri" pitchFamily="34" charset="-122"/>
                <a:cs typeface="Calibri" pitchFamily="34" charset="-120"/>
              </a:rPr>
              <a:t>Why is intrinsic safety necessary?</a:t>
            </a:r>
            <a:endParaRPr lang="en-US" sz="1150" dirty="0"/>
          </a:p>
        </p:txBody>
      </p:sp>
      <p:sp>
        <p:nvSpPr>
          <p:cNvPr id="14" name="Shape 11"/>
          <p:cNvSpPr/>
          <p:nvPr/>
        </p:nvSpPr>
        <p:spPr>
          <a:xfrm>
            <a:off x="548640" y="3300984"/>
            <a:ext cx="3977640" cy="713232"/>
          </a:xfrm>
          <a:prstGeom prst="roundRect">
            <a:avLst>
              <a:gd name="adj" fmla="val 10256"/>
            </a:avLst>
          </a:prstGeom>
          <a:solidFill>
            <a:srgbClr val="0F2042">
              <a:alpha val="88000"/>
            </a:srgbClr>
          </a:solidFill>
          <a:ln w="12700">
            <a:solidFill>
              <a:srgbClr val="22D3EE"/>
            </a:solidFill>
            <a:prstDash val="solid"/>
          </a:ln>
        </p:spPr>
        <p:txBody>
          <a:bodyPr/>
          <a:lstStyle/>
          <a:p>
            <a:endParaRPr lang="en-DE"/>
          </a:p>
        </p:txBody>
      </p:sp>
      <p:sp>
        <p:nvSpPr>
          <p:cNvPr id="15" name="Text 12"/>
          <p:cNvSpPr/>
          <p:nvPr/>
        </p:nvSpPr>
        <p:spPr>
          <a:xfrm>
            <a:off x="658368" y="3300984"/>
            <a:ext cx="548640" cy="713232"/>
          </a:xfrm>
          <a:prstGeom prst="rect">
            <a:avLst/>
          </a:prstGeom>
          <a:noFill/>
          <a:ln/>
        </p:spPr>
        <p:txBody>
          <a:bodyPr wrap="square" rtlCol="0" anchor="ctr"/>
          <a:lstStyle/>
          <a:p>
            <a:pPr marL="0" indent="0" algn="l">
              <a:buNone/>
            </a:pPr>
            <a:r>
              <a:rPr lang="en-US" sz="1400" b="1" dirty="0">
                <a:solidFill>
                  <a:srgbClr val="22D3EE"/>
                </a:solidFill>
                <a:latin typeface="Trebuchet MS" pitchFamily="34" charset="0"/>
                <a:ea typeface="Trebuchet MS" pitchFamily="34" charset="-122"/>
                <a:cs typeface="Trebuchet MS" pitchFamily="34" charset="-120"/>
              </a:rPr>
              <a:t>Q3</a:t>
            </a:r>
            <a:endParaRPr lang="en-US" sz="1400" dirty="0"/>
          </a:p>
        </p:txBody>
      </p:sp>
      <p:sp>
        <p:nvSpPr>
          <p:cNvPr id="16" name="Text 13"/>
          <p:cNvSpPr/>
          <p:nvPr/>
        </p:nvSpPr>
        <p:spPr>
          <a:xfrm>
            <a:off x="1234440" y="3319272"/>
            <a:ext cx="3200400" cy="676656"/>
          </a:xfrm>
          <a:prstGeom prst="rect">
            <a:avLst/>
          </a:prstGeom>
          <a:noFill/>
          <a:ln/>
        </p:spPr>
        <p:txBody>
          <a:bodyPr wrap="square" rtlCol="0" anchor="ctr"/>
          <a:lstStyle/>
          <a:p>
            <a:pPr marL="0" indent="0" algn="l">
              <a:buNone/>
            </a:pPr>
            <a:r>
              <a:rPr lang="en-US" sz="1150" dirty="0">
                <a:solidFill>
                  <a:srgbClr val="EAF4FF"/>
                </a:solidFill>
                <a:latin typeface="Calibri" pitchFamily="34" charset="0"/>
                <a:ea typeface="Calibri" pitchFamily="34" charset="-122"/>
                <a:cs typeface="Calibri" pitchFamily="34" charset="-120"/>
              </a:rPr>
              <a:t>How does it differ from standard Ethernet?</a:t>
            </a:r>
            <a:endParaRPr lang="en-US" sz="1150" dirty="0"/>
          </a:p>
        </p:txBody>
      </p:sp>
      <p:sp>
        <p:nvSpPr>
          <p:cNvPr id="17" name="Shape 14"/>
          <p:cNvSpPr/>
          <p:nvPr/>
        </p:nvSpPr>
        <p:spPr>
          <a:xfrm>
            <a:off x="4663440" y="3300984"/>
            <a:ext cx="3977640" cy="713232"/>
          </a:xfrm>
          <a:prstGeom prst="roundRect">
            <a:avLst>
              <a:gd name="adj" fmla="val 10256"/>
            </a:avLst>
          </a:prstGeom>
          <a:solidFill>
            <a:srgbClr val="0F2042">
              <a:alpha val="88000"/>
            </a:srgbClr>
          </a:solidFill>
          <a:ln w="12700">
            <a:solidFill>
              <a:srgbClr val="22D3EE"/>
            </a:solidFill>
            <a:prstDash val="solid"/>
          </a:ln>
        </p:spPr>
        <p:txBody>
          <a:bodyPr/>
          <a:lstStyle/>
          <a:p>
            <a:endParaRPr lang="en-DE"/>
          </a:p>
        </p:txBody>
      </p:sp>
      <p:sp>
        <p:nvSpPr>
          <p:cNvPr id="18" name="Text 15"/>
          <p:cNvSpPr/>
          <p:nvPr/>
        </p:nvSpPr>
        <p:spPr>
          <a:xfrm>
            <a:off x="4773168" y="3300984"/>
            <a:ext cx="548640" cy="713232"/>
          </a:xfrm>
          <a:prstGeom prst="rect">
            <a:avLst/>
          </a:prstGeom>
          <a:noFill/>
          <a:ln/>
        </p:spPr>
        <p:txBody>
          <a:bodyPr wrap="square" rtlCol="0" anchor="ctr"/>
          <a:lstStyle/>
          <a:p>
            <a:pPr marL="0" indent="0" algn="l">
              <a:buNone/>
            </a:pPr>
            <a:r>
              <a:rPr lang="en-US" sz="1400" b="1" dirty="0">
                <a:solidFill>
                  <a:srgbClr val="22D3EE"/>
                </a:solidFill>
                <a:latin typeface="Trebuchet MS" pitchFamily="34" charset="0"/>
                <a:ea typeface="Trebuchet MS" pitchFamily="34" charset="-122"/>
                <a:cs typeface="Trebuchet MS" pitchFamily="34" charset="-120"/>
              </a:rPr>
              <a:t>Q4</a:t>
            </a:r>
            <a:endParaRPr lang="en-US" sz="1400" dirty="0"/>
          </a:p>
        </p:txBody>
      </p:sp>
      <p:sp>
        <p:nvSpPr>
          <p:cNvPr id="19" name="Text 16"/>
          <p:cNvSpPr/>
          <p:nvPr/>
        </p:nvSpPr>
        <p:spPr>
          <a:xfrm>
            <a:off x="5349240" y="3319272"/>
            <a:ext cx="3200400" cy="676656"/>
          </a:xfrm>
          <a:prstGeom prst="rect">
            <a:avLst/>
          </a:prstGeom>
          <a:noFill/>
          <a:ln/>
        </p:spPr>
        <p:txBody>
          <a:bodyPr wrap="square" rtlCol="0" anchor="ctr"/>
          <a:lstStyle/>
          <a:p>
            <a:pPr marL="0" indent="0" algn="l">
              <a:buNone/>
            </a:pPr>
            <a:r>
              <a:rPr lang="en-US" sz="1150" dirty="0">
                <a:solidFill>
                  <a:srgbClr val="EAF4FF"/>
                </a:solidFill>
                <a:latin typeface="Calibri" pitchFamily="34" charset="0"/>
                <a:ea typeface="Calibri" pitchFamily="34" charset="-122"/>
                <a:cs typeface="Calibri" pitchFamily="34" charset="-120"/>
              </a:rPr>
              <a:t>Why is 10 Mbps sufficient?</a:t>
            </a:r>
            <a:endParaRPr lang="en-US" sz="1150" dirty="0"/>
          </a:p>
        </p:txBody>
      </p:sp>
      <p:sp>
        <p:nvSpPr>
          <p:cNvPr id="20" name="Shape 17"/>
          <p:cNvSpPr/>
          <p:nvPr/>
        </p:nvSpPr>
        <p:spPr>
          <a:xfrm>
            <a:off x="548640" y="4133088"/>
            <a:ext cx="3977640" cy="713232"/>
          </a:xfrm>
          <a:prstGeom prst="roundRect">
            <a:avLst>
              <a:gd name="adj" fmla="val 10256"/>
            </a:avLst>
          </a:prstGeom>
          <a:solidFill>
            <a:srgbClr val="0F2042">
              <a:alpha val="88000"/>
            </a:srgbClr>
          </a:solidFill>
          <a:ln w="12700">
            <a:solidFill>
              <a:srgbClr val="22D3EE"/>
            </a:solidFill>
            <a:prstDash val="solid"/>
          </a:ln>
        </p:spPr>
        <p:txBody>
          <a:bodyPr/>
          <a:lstStyle/>
          <a:p>
            <a:endParaRPr lang="en-DE"/>
          </a:p>
        </p:txBody>
      </p:sp>
      <p:sp>
        <p:nvSpPr>
          <p:cNvPr id="21" name="Text 18"/>
          <p:cNvSpPr/>
          <p:nvPr/>
        </p:nvSpPr>
        <p:spPr>
          <a:xfrm>
            <a:off x="658368" y="4133088"/>
            <a:ext cx="548640" cy="713232"/>
          </a:xfrm>
          <a:prstGeom prst="rect">
            <a:avLst/>
          </a:prstGeom>
          <a:noFill/>
          <a:ln/>
        </p:spPr>
        <p:txBody>
          <a:bodyPr wrap="square" rtlCol="0" anchor="ctr"/>
          <a:lstStyle/>
          <a:p>
            <a:pPr marL="0" indent="0" algn="l">
              <a:buNone/>
            </a:pPr>
            <a:r>
              <a:rPr lang="en-US" sz="1400" b="1" dirty="0">
                <a:solidFill>
                  <a:srgbClr val="22D3EE"/>
                </a:solidFill>
                <a:latin typeface="Trebuchet MS" pitchFamily="34" charset="0"/>
                <a:ea typeface="Trebuchet MS" pitchFamily="34" charset="-122"/>
                <a:cs typeface="Trebuchet MS" pitchFamily="34" charset="-120"/>
              </a:rPr>
              <a:t>Q5</a:t>
            </a:r>
            <a:endParaRPr lang="en-US" sz="1400" dirty="0"/>
          </a:p>
        </p:txBody>
      </p:sp>
      <p:sp>
        <p:nvSpPr>
          <p:cNvPr id="22" name="Text 19"/>
          <p:cNvSpPr/>
          <p:nvPr/>
        </p:nvSpPr>
        <p:spPr>
          <a:xfrm>
            <a:off x="1234440" y="4151376"/>
            <a:ext cx="3200400" cy="676656"/>
          </a:xfrm>
          <a:prstGeom prst="rect">
            <a:avLst/>
          </a:prstGeom>
          <a:noFill/>
          <a:ln/>
        </p:spPr>
        <p:txBody>
          <a:bodyPr wrap="square" rtlCol="0" anchor="ctr"/>
          <a:lstStyle/>
          <a:p>
            <a:pPr marL="0" indent="0" algn="l">
              <a:buNone/>
            </a:pPr>
            <a:r>
              <a:rPr lang="en-US" sz="1150" dirty="0">
                <a:solidFill>
                  <a:srgbClr val="EAF4FF"/>
                </a:solidFill>
                <a:latin typeface="Calibri" pitchFamily="34" charset="0"/>
                <a:ea typeface="Calibri" pitchFamily="34" charset="-122"/>
                <a:cs typeface="Calibri" pitchFamily="34" charset="-120"/>
              </a:rPr>
              <a:t>What role does OPC-UA play?</a:t>
            </a:r>
            <a:endParaRPr lang="en-US" sz="1150" dirty="0"/>
          </a:p>
        </p:txBody>
      </p:sp>
      <p:sp>
        <p:nvSpPr>
          <p:cNvPr id="23" name="Shape 20"/>
          <p:cNvSpPr/>
          <p:nvPr/>
        </p:nvSpPr>
        <p:spPr>
          <a:xfrm>
            <a:off x="4663440" y="4133088"/>
            <a:ext cx="3977640" cy="713232"/>
          </a:xfrm>
          <a:prstGeom prst="roundRect">
            <a:avLst>
              <a:gd name="adj" fmla="val 10256"/>
            </a:avLst>
          </a:prstGeom>
          <a:solidFill>
            <a:srgbClr val="0F2042">
              <a:alpha val="88000"/>
            </a:srgbClr>
          </a:solidFill>
          <a:ln w="12700">
            <a:solidFill>
              <a:srgbClr val="22D3EE"/>
            </a:solidFill>
            <a:prstDash val="solid"/>
          </a:ln>
        </p:spPr>
        <p:txBody>
          <a:bodyPr/>
          <a:lstStyle/>
          <a:p>
            <a:endParaRPr lang="en-DE"/>
          </a:p>
        </p:txBody>
      </p:sp>
      <p:sp>
        <p:nvSpPr>
          <p:cNvPr id="24" name="Text 21"/>
          <p:cNvSpPr/>
          <p:nvPr/>
        </p:nvSpPr>
        <p:spPr>
          <a:xfrm>
            <a:off x="4773168" y="4133088"/>
            <a:ext cx="548640" cy="713232"/>
          </a:xfrm>
          <a:prstGeom prst="rect">
            <a:avLst/>
          </a:prstGeom>
          <a:noFill/>
          <a:ln/>
        </p:spPr>
        <p:txBody>
          <a:bodyPr wrap="square" rtlCol="0" anchor="ctr"/>
          <a:lstStyle/>
          <a:p>
            <a:pPr marL="0" indent="0" algn="l">
              <a:buNone/>
            </a:pPr>
            <a:r>
              <a:rPr lang="en-US" sz="1400" b="1" dirty="0">
                <a:solidFill>
                  <a:srgbClr val="22D3EE"/>
                </a:solidFill>
                <a:latin typeface="Trebuchet MS" pitchFamily="34" charset="0"/>
                <a:ea typeface="Trebuchet MS" pitchFamily="34" charset="-122"/>
                <a:cs typeface="Trebuchet MS" pitchFamily="34" charset="-120"/>
              </a:rPr>
              <a:t>Q6</a:t>
            </a:r>
            <a:endParaRPr lang="en-US" sz="1400" dirty="0"/>
          </a:p>
        </p:txBody>
      </p:sp>
      <p:sp>
        <p:nvSpPr>
          <p:cNvPr id="25" name="Text 22"/>
          <p:cNvSpPr/>
          <p:nvPr/>
        </p:nvSpPr>
        <p:spPr>
          <a:xfrm>
            <a:off x="5349240" y="4151376"/>
            <a:ext cx="3200400" cy="676656"/>
          </a:xfrm>
          <a:prstGeom prst="rect">
            <a:avLst/>
          </a:prstGeom>
          <a:noFill/>
          <a:ln/>
        </p:spPr>
        <p:txBody>
          <a:bodyPr wrap="square" rtlCol="0" anchor="ctr"/>
          <a:lstStyle/>
          <a:p>
            <a:pPr marL="0" indent="0" algn="l">
              <a:buNone/>
            </a:pPr>
            <a:r>
              <a:rPr lang="en-US" sz="1150" dirty="0">
                <a:solidFill>
                  <a:srgbClr val="EAF4FF"/>
                </a:solidFill>
                <a:latin typeface="Calibri" pitchFamily="34" charset="0"/>
                <a:ea typeface="Calibri" pitchFamily="34" charset="-122"/>
                <a:cs typeface="Calibri" pitchFamily="34" charset="-120"/>
              </a:rPr>
              <a:t>Can it fully replace PROFIBUS PA?</a:t>
            </a:r>
            <a:endParaRPr lang="en-US" sz="1150" dirty="0"/>
          </a:p>
        </p:txBody>
      </p:sp>
    </p:spTree>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1740</Words>
  <Application>Microsoft Office PowerPoint</Application>
  <PresentationFormat>On-screen Show (16:9)</PresentationFormat>
  <Paragraphs>212</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Engr. D. Chimezie</dc:creator>
  <cp:lastModifiedBy>Engr. D. Chimezie</cp:lastModifiedBy>
  <cp:revision>4</cp:revision>
  <dcterms:created xsi:type="dcterms:W3CDTF">2026-06-23T13:40:31Z</dcterms:created>
  <dcterms:modified xsi:type="dcterms:W3CDTF">2026-06-23T14:37:39Z</dcterms:modified>
</cp:coreProperties>
</file>